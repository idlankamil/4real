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Poppins Bold" charset="1" panose="00000800000000000000"/>
      <p:regular r:id="rId44"/>
    </p:embeddedFont>
    <p:embeddedFont>
      <p:font typeface="Poppins Italics" charset="1" panose="00000500000000000000"/>
      <p:regular r:id="rId45"/>
    </p:embeddedFont>
    <p:embeddedFont>
      <p:font typeface="Poppins" charset="1" panose="00000500000000000000"/>
      <p:regular r:id="rId46"/>
    </p:embeddedFont>
    <p:embeddedFont>
      <p:font typeface="Poppins Medium" charset="1" panose="00000600000000000000"/>
      <p:regular r:id="rId47"/>
    </p:embeddedFont>
    <p:embeddedFont>
      <p:font typeface="Poppins Semi-Bold" charset="1" panose="00000700000000000000"/>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1.bin" Type="http://schemas.openxmlformats.org/officeDocument/2006/relationships/oleObjec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https://zenodo.org/records/3250095" TargetMode="External" Type="http://schemas.openxmlformats.org/officeDocument/2006/relationships/hyperlink"/></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embeddings/oleObject2.bin" Type="http://schemas.openxmlformats.org/officeDocument/2006/relationships/oleObjec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529840" y="-1620315"/>
            <a:ext cx="3759973" cy="375997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0423006" y="3751320"/>
            <a:ext cx="9842936" cy="984293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81FE"/>
            </a:solidFill>
          </p:spPr>
        </p:sp>
        <p:sp>
          <p:nvSpPr>
            <p:cNvPr name="TextBox 7" id="7"/>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15823764" y="511377"/>
            <a:ext cx="2194857" cy="219485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10" id="10"/>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6089669" y="7682862"/>
            <a:ext cx="1979851" cy="197985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13" id="13"/>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sp>
        <p:nvSpPr>
          <p:cNvPr name="AutoShape 14" id="14"/>
          <p:cNvSpPr/>
          <p:nvPr/>
        </p:nvSpPr>
        <p:spPr>
          <a:xfrm flipV="true">
            <a:off x="7090154" y="7811945"/>
            <a:ext cx="1102683" cy="636634"/>
          </a:xfrm>
          <a:prstGeom prst="line">
            <a:avLst/>
          </a:prstGeom>
          <a:ln cap="flat" w="38100">
            <a:solidFill>
              <a:srgbClr val="FFFFFF"/>
            </a:solidFill>
            <a:prstDash val="solid"/>
            <a:headEnd type="none" len="sm" w="sm"/>
            <a:tailEnd type="none" len="sm" w="sm"/>
          </a:ln>
        </p:spPr>
      </p:sp>
      <p:sp>
        <p:nvSpPr>
          <p:cNvPr name="AutoShape 15" id="15"/>
          <p:cNvSpPr/>
          <p:nvPr/>
        </p:nvSpPr>
        <p:spPr>
          <a:xfrm flipV="true">
            <a:off x="7242554" y="7962078"/>
            <a:ext cx="1106608" cy="638901"/>
          </a:xfrm>
          <a:prstGeom prst="line">
            <a:avLst/>
          </a:prstGeom>
          <a:ln cap="flat" w="38100">
            <a:solidFill>
              <a:srgbClr val="FFFFFF"/>
            </a:solidFill>
            <a:prstDash val="solid"/>
            <a:headEnd type="none" len="sm" w="sm"/>
            <a:tailEnd type="none" len="sm" w="sm"/>
          </a:ln>
        </p:spPr>
      </p:sp>
      <p:sp>
        <p:nvSpPr>
          <p:cNvPr name="AutoShape 16" id="16"/>
          <p:cNvSpPr/>
          <p:nvPr/>
        </p:nvSpPr>
        <p:spPr>
          <a:xfrm flipV="true">
            <a:off x="7394954" y="8133425"/>
            <a:ext cx="1073791" cy="619954"/>
          </a:xfrm>
          <a:prstGeom prst="line">
            <a:avLst/>
          </a:prstGeom>
          <a:ln cap="flat" w="38100">
            <a:solidFill>
              <a:srgbClr val="FFFFFF"/>
            </a:solidFill>
            <a:prstDash val="solid"/>
            <a:headEnd type="none" len="sm" w="sm"/>
            <a:tailEnd type="none" len="sm" w="sm"/>
          </a:ln>
        </p:spPr>
      </p:sp>
      <p:sp>
        <p:nvSpPr>
          <p:cNvPr name="Freeform 17" id="17"/>
          <p:cNvSpPr/>
          <p:nvPr/>
        </p:nvSpPr>
        <p:spPr>
          <a:xfrm flipH="false" flipV="false" rot="0">
            <a:off x="9984040" y="8956625"/>
            <a:ext cx="1833191" cy="1833191"/>
          </a:xfrm>
          <a:custGeom>
            <a:avLst/>
            <a:gdLst/>
            <a:ahLst/>
            <a:cxnLst/>
            <a:rect r="r" b="b" t="t" l="l"/>
            <a:pathLst>
              <a:path h="1833191" w="1833191">
                <a:moveTo>
                  <a:pt x="0" y="0"/>
                </a:moveTo>
                <a:lnTo>
                  <a:pt x="1833190" y="0"/>
                </a:lnTo>
                <a:lnTo>
                  <a:pt x="1833190" y="1833191"/>
                </a:lnTo>
                <a:lnTo>
                  <a:pt x="0" y="18331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17477631" y="5086179"/>
            <a:ext cx="607381" cy="531458"/>
            <a:chOff x="0" y="0"/>
            <a:chExt cx="812800" cy="711200"/>
          </a:xfrm>
        </p:grpSpPr>
        <p:sp>
          <p:nvSpPr>
            <p:cNvPr name="Freeform 19" id="1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20" id="20"/>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21" id="21"/>
          <p:cNvGrpSpPr/>
          <p:nvPr/>
        </p:nvGrpSpPr>
        <p:grpSpPr>
          <a:xfrm rot="0">
            <a:off x="17477631" y="5749119"/>
            <a:ext cx="607381" cy="531458"/>
            <a:chOff x="0" y="0"/>
            <a:chExt cx="812800" cy="711200"/>
          </a:xfrm>
        </p:grpSpPr>
        <p:sp>
          <p:nvSpPr>
            <p:cNvPr name="Freeform 22" id="2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23" id="2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24" id="24"/>
          <p:cNvGrpSpPr/>
          <p:nvPr/>
        </p:nvGrpSpPr>
        <p:grpSpPr>
          <a:xfrm rot="0">
            <a:off x="17477631" y="6412059"/>
            <a:ext cx="607381" cy="531458"/>
            <a:chOff x="0" y="0"/>
            <a:chExt cx="812800" cy="711200"/>
          </a:xfrm>
        </p:grpSpPr>
        <p:sp>
          <p:nvSpPr>
            <p:cNvPr name="Freeform 25" id="2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26" id="2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27" id="27"/>
          <p:cNvGrpSpPr/>
          <p:nvPr/>
        </p:nvGrpSpPr>
        <p:grpSpPr>
          <a:xfrm rot="0">
            <a:off x="17477631" y="7074998"/>
            <a:ext cx="607381" cy="531458"/>
            <a:chOff x="0" y="0"/>
            <a:chExt cx="812800" cy="711200"/>
          </a:xfrm>
        </p:grpSpPr>
        <p:sp>
          <p:nvSpPr>
            <p:cNvPr name="Freeform 28" id="2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29" id="29"/>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30" id="30"/>
          <p:cNvGrpSpPr/>
          <p:nvPr/>
        </p:nvGrpSpPr>
        <p:grpSpPr>
          <a:xfrm rot="0">
            <a:off x="1407949" y="3987508"/>
            <a:ext cx="203751" cy="3119505"/>
            <a:chOff x="0" y="0"/>
            <a:chExt cx="53663" cy="821598"/>
          </a:xfrm>
        </p:grpSpPr>
        <p:sp>
          <p:nvSpPr>
            <p:cNvPr name="Freeform 31" id="31"/>
            <p:cNvSpPr/>
            <p:nvPr/>
          </p:nvSpPr>
          <p:spPr>
            <a:xfrm flipH="false" flipV="false" rot="0">
              <a:off x="0" y="0"/>
              <a:ext cx="53663" cy="821598"/>
            </a:xfrm>
            <a:custGeom>
              <a:avLst/>
              <a:gdLst/>
              <a:ahLst/>
              <a:cxnLst/>
              <a:rect r="r" b="b" t="t" l="l"/>
              <a:pathLst>
                <a:path h="821598" w="53663">
                  <a:moveTo>
                    <a:pt x="0" y="0"/>
                  </a:moveTo>
                  <a:lnTo>
                    <a:pt x="53663" y="0"/>
                  </a:lnTo>
                  <a:lnTo>
                    <a:pt x="53663" y="821598"/>
                  </a:lnTo>
                  <a:lnTo>
                    <a:pt x="0" y="821598"/>
                  </a:lnTo>
                  <a:close/>
                </a:path>
              </a:pathLst>
            </a:custGeom>
            <a:solidFill>
              <a:srgbClr val="7281FE"/>
            </a:solidFill>
          </p:spPr>
        </p:sp>
        <p:sp>
          <p:nvSpPr>
            <p:cNvPr name="TextBox 32" id="32"/>
            <p:cNvSpPr txBox="true"/>
            <p:nvPr/>
          </p:nvSpPr>
          <p:spPr>
            <a:xfrm>
              <a:off x="0" y="-66675"/>
              <a:ext cx="53663" cy="888273"/>
            </a:xfrm>
            <a:prstGeom prst="rect">
              <a:avLst/>
            </a:prstGeom>
          </p:spPr>
          <p:txBody>
            <a:bodyPr anchor="ctr" rtlCol="false" tIns="50800" lIns="50800" bIns="50800" rIns="50800"/>
            <a:lstStyle/>
            <a:p>
              <a:pPr algn="ctr">
                <a:lnSpc>
                  <a:spcPts val="3360"/>
                </a:lnSpc>
              </a:pPr>
            </a:p>
          </p:txBody>
        </p:sp>
      </p:grpSp>
      <p:sp>
        <p:nvSpPr>
          <p:cNvPr name="TextBox 33" id="33"/>
          <p:cNvSpPr txBox="true"/>
          <p:nvPr/>
        </p:nvSpPr>
        <p:spPr>
          <a:xfrm rot="0">
            <a:off x="1939517" y="4734527"/>
            <a:ext cx="4361213" cy="1692141"/>
          </a:xfrm>
          <a:prstGeom prst="rect">
            <a:avLst/>
          </a:prstGeom>
        </p:spPr>
        <p:txBody>
          <a:bodyPr anchor="t" rtlCol="false" tIns="0" lIns="0" bIns="0" rIns="0">
            <a:spAutoFit/>
          </a:bodyPr>
          <a:lstStyle/>
          <a:p>
            <a:pPr algn="l" marL="0" indent="0" lvl="0">
              <a:lnSpc>
                <a:spcPts val="12018"/>
              </a:lnSpc>
              <a:spcBef>
                <a:spcPct val="0"/>
              </a:spcBef>
            </a:pPr>
            <a:r>
              <a:rPr lang="en-US" b="true" sz="11555" spc="-670">
                <a:solidFill>
                  <a:srgbClr val="000000"/>
                </a:solidFill>
                <a:latin typeface="Poppins Bold"/>
                <a:ea typeface="Poppins Bold"/>
                <a:cs typeface="Poppins Bold"/>
                <a:sym typeface="Poppins Bold"/>
              </a:rPr>
              <a:t>4REAL</a:t>
            </a:r>
          </a:p>
        </p:txBody>
      </p:sp>
      <p:sp>
        <p:nvSpPr>
          <p:cNvPr name="TextBox 34" id="34"/>
          <p:cNvSpPr txBox="true"/>
          <p:nvPr/>
        </p:nvSpPr>
        <p:spPr>
          <a:xfrm rot="0">
            <a:off x="1939517" y="6682198"/>
            <a:ext cx="6656660" cy="424815"/>
          </a:xfrm>
          <a:prstGeom prst="rect">
            <a:avLst/>
          </a:prstGeom>
        </p:spPr>
        <p:txBody>
          <a:bodyPr anchor="t" rtlCol="false" tIns="0" lIns="0" bIns="0" rIns="0">
            <a:spAutoFit/>
          </a:bodyPr>
          <a:lstStyle/>
          <a:p>
            <a:pPr algn="l" marL="0" indent="0" lvl="0">
              <a:lnSpc>
                <a:spcPts val="3359"/>
              </a:lnSpc>
              <a:spcBef>
                <a:spcPct val="0"/>
              </a:spcBef>
            </a:pPr>
            <a:r>
              <a:rPr lang="en-US" sz="2400" i="true">
                <a:solidFill>
                  <a:srgbClr val="000000"/>
                </a:solidFill>
                <a:latin typeface="Poppins Italics"/>
                <a:ea typeface="Poppins Italics"/>
                <a:cs typeface="Poppins Italics"/>
                <a:sym typeface="Poppins Italics"/>
              </a:rPr>
              <a:t>Group Project</a:t>
            </a:r>
          </a:p>
        </p:txBody>
      </p:sp>
      <p:sp>
        <p:nvSpPr>
          <p:cNvPr name="TextBox 35" id="35"/>
          <p:cNvSpPr txBox="true"/>
          <p:nvPr/>
        </p:nvSpPr>
        <p:spPr>
          <a:xfrm rot="0">
            <a:off x="1939517" y="3892258"/>
            <a:ext cx="7584891" cy="592456"/>
          </a:xfrm>
          <a:prstGeom prst="rect">
            <a:avLst/>
          </a:prstGeom>
        </p:spPr>
        <p:txBody>
          <a:bodyPr anchor="t" rtlCol="false" tIns="0" lIns="0" bIns="0" rIns="0">
            <a:spAutoFit/>
          </a:bodyPr>
          <a:lstStyle/>
          <a:p>
            <a:pPr algn="l" marL="0" indent="0" lvl="0">
              <a:lnSpc>
                <a:spcPts val="4619"/>
              </a:lnSpc>
              <a:spcBef>
                <a:spcPct val="0"/>
              </a:spcBef>
            </a:pPr>
            <a:r>
              <a:rPr lang="en-US" sz="3299">
                <a:solidFill>
                  <a:srgbClr val="000000"/>
                </a:solidFill>
                <a:latin typeface="Poppins"/>
                <a:ea typeface="Poppins"/>
                <a:cs typeface="Poppins"/>
                <a:sym typeface="Poppins"/>
              </a:rPr>
              <a:t>BAXI3413 Natural Language Process</a:t>
            </a:r>
          </a:p>
        </p:txBody>
      </p:sp>
      <p:sp>
        <p:nvSpPr>
          <p:cNvPr name="TextBox 36" id="36"/>
          <p:cNvSpPr txBox="true"/>
          <p:nvPr/>
        </p:nvSpPr>
        <p:spPr>
          <a:xfrm rot="0">
            <a:off x="11817230" y="6453168"/>
            <a:ext cx="2195335" cy="368300"/>
          </a:xfrm>
          <a:prstGeom prst="rect">
            <a:avLst/>
          </a:prstGeom>
        </p:spPr>
        <p:txBody>
          <a:bodyPr anchor="t" rtlCol="false" tIns="0" lIns="0" bIns="0" rIns="0">
            <a:spAutoFit/>
          </a:bodyPr>
          <a:lstStyle/>
          <a:p>
            <a:pPr algn="l">
              <a:lnSpc>
                <a:spcPts val="2800"/>
              </a:lnSpc>
            </a:pPr>
            <a:r>
              <a:rPr lang="en-US" sz="2000">
                <a:solidFill>
                  <a:srgbClr val="FFFFFF"/>
                </a:solidFill>
                <a:latin typeface="Poppins"/>
                <a:ea typeface="Poppins"/>
                <a:cs typeface="Poppins"/>
                <a:sym typeface="Poppins"/>
              </a:rPr>
              <a:t>P</a:t>
            </a:r>
            <a:r>
              <a:rPr lang="en-US" sz="2000">
                <a:solidFill>
                  <a:srgbClr val="FFFFFF"/>
                </a:solidFill>
                <a:latin typeface="Poppins"/>
                <a:ea typeface="Poppins"/>
                <a:cs typeface="Poppins"/>
                <a:sym typeface="Poppins"/>
              </a:rPr>
              <a:t>resented By:</a:t>
            </a:r>
          </a:p>
        </p:txBody>
      </p:sp>
      <p:sp>
        <p:nvSpPr>
          <p:cNvPr name="TextBox 37" id="37"/>
          <p:cNvSpPr txBox="true"/>
          <p:nvPr/>
        </p:nvSpPr>
        <p:spPr>
          <a:xfrm rot="0">
            <a:off x="11817230" y="6921464"/>
            <a:ext cx="5442070" cy="2482850"/>
          </a:xfrm>
          <a:prstGeom prst="rect">
            <a:avLst/>
          </a:prstGeom>
        </p:spPr>
        <p:txBody>
          <a:bodyPr anchor="t" rtlCol="false" tIns="0" lIns="0" bIns="0" rIns="0">
            <a:spAutoFit/>
          </a:bodyPr>
          <a:lstStyle/>
          <a:p>
            <a:pPr algn="l" marL="431801" indent="-215900" lvl="1">
              <a:lnSpc>
                <a:spcPts val="2800"/>
              </a:lnSpc>
              <a:buAutoNum type="arabicPeriod" startAt="1"/>
            </a:pPr>
            <a:r>
              <a:rPr lang="en-US" b="true" sz="2000">
                <a:solidFill>
                  <a:srgbClr val="FFFFFF"/>
                </a:solidFill>
                <a:latin typeface="Poppins Bold"/>
                <a:ea typeface="Poppins Bold"/>
                <a:cs typeface="Poppins Bold"/>
                <a:sym typeface="Poppins Bold"/>
              </a:rPr>
              <a:t> IMAN MUZAKKIR BIN AHMAD ZAKI (B032310689)</a:t>
            </a:r>
          </a:p>
          <a:p>
            <a:pPr algn="l" marL="431801" indent="-215900" lvl="1">
              <a:lnSpc>
                <a:spcPts val="2800"/>
              </a:lnSpc>
              <a:buAutoNum type="arabicPeriod" startAt="1"/>
            </a:pPr>
            <a:r>
              <a:rPr lang="en-US" b="true" sz="2000">
                <a:solidFill>
                  <a:srgbClr val="FFFFFF"/>
                </a:solidFill>
                <a:latin typeface="Poppins Bold"/>
                <a:ea typeface="Poppins Bold"/>
                <a:cs typeface="Poppins Bold"/>
                <a:sym typeface="Poppins Bold"/>
              </a:rPr>
              <a:t> MUHAMMAD IDLAN AZHAD BIN KAMIL RIADZ (B032310389)</a:t>
            </a:r>
          </a:p>
          <a:p>
            <a:pPr algn="l" marL="431801" indent="-215900" lvl="1">
              <a:lnSpc>
                <a:spcPts val="2800"/>
              </a:lnSpc>
              <a:buAutoNum type="arabicPeriod" startAt="1"/>
            </a:pPr>
            <a:r>
              <a:rPr lang="en-US" b="true" sz="2000">
                <a:solidFill>
                  <a:srgbClr val="FFFFFF"/>
                </a:solidFill>
                <a:latin typeface="Poppins Bold"/>
                <a:ea typeface="Poppins Bold"/>
                <a:cs typeface="Poppins Bold"/>
                <a:sym typeface="Poppins Bold"/>
              </a:rPr>
              <a:t> AMMAR ZAIM BIN SAZILI (B032310346)</a:t>
            </a:r>
          </a:p>
          <a:p>
            <a:pPr algn="l" marL="431801" indent="-215900" lvl="1">
              <a:lnSpc>
                <a:spcPts val="2800"/>
              </a:lnSpc>
              <a:buAutoNum type="arabicPeriod" startAt="1"/>
            </a:pPr>
            <a:r>
              <a:rPr lang="en-US" b="true" sz="2000">
                <a:solidFill>
                  <a:srgbClr val="FFFFFF"/>
                </a:solidFill>
                <a:latin typeface="Poppins Bold"/>
                <a:ea typeface="Poppins Bold"/>
                <a:cs typeface="Poppins Bold"/>
                <a:sym typeface="Poppins Bold"/>
              </a:rPr>
              <a:t> MUHAMMAD HAFIZUDDIN BIN KAMARUL HATTA (B032310676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454159" y="3411639"/>
            <a:ext cx="203751" cy="1863440"/>
            <a:chOff x="0" y="0"/>
            <a:chExt cx="53663" cy="490783"/>
          </a:xfrm>
        </p:grpSpPr>
        <p:sp>
          <p:nvSpPr>
            <p:cNvPr name="Freeform 3" id="3"/>
            <p:cNvSpPr/>
            <p:nvPr/>
          </p:nvSpPr>
          <p:spPr>
            <a:xfrm flipH="false" flipV="false" rot="0">
              <a:off x="0" y="0"/>
              <a:ext cx="53663" cy="490783"/>
            </a:xfrm>
            <a:custGeom>
              <a:avLst/>
              <a:gdLst/>
              <a:ahLst/>
              <a:cxnLst/>
              <a:rect r="r" b="b" t="t" l="l"/>
              <a:pathLst>
                <a:path h="490783" w="53663">
                  <a:moveTo>
                    <a:pt x="0" y="0"/>
                  </a:moveTo>
                  <a:lnTo>
                    <a:pt x="53663" y="0"/>
                  </a:lnTo>
                  <a:lnTo>
                    <a:pt x="53663" y="490783"/>
                  </a:lnTo>
                  <a:lnTo>
                    <a:pt x="0" y="490783"/>
                  </a:lnTo>
                  <a:close/>
                </a:path>
              </a:pathLst>
            </a:custGeom>
            <a:solidFill>
              <a:srgbClr val="7281FE"/>
            </a:solidFill>
          </p:spPr>
        </p:sp>
        <p:sp>
          <p:nvSpPr>
            <p:cNvPr name="TextBox 4" id="4"/>
            <p:cNvSpPr txBox="true"/>
            <p:nvPr/>
          </p:nvSpPr>
          <p:spPr>
            <a:xfrm>
              <a:off x="0" y="-66675"/>
              <a:ext cx="53663" cy="557458"/>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5553419" y="6719816"/>
            <a:ext cx="6713220" cy="7505700"/>
            <a:chOff x="0" y="0"/>
            <a:chExt cx="1768091" cy="1976810"/>
          </a:xfrm>
        </p:grpSpPr>
        <p:sp>
          <p:nvSpPr>
            <p:cNvPr name="Freeform 6" id="6"/>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7" id="7"/>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15190404" y="7275504"/>
            <a:ext cx="6950011" cy="69500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10" id="10"/>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7694080"/>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8400859"/>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806613" y="9107638"/>
            <a:ext cx="647546" cy="566602"/>
            <a:chOff x="0" y="0"/>
            <a:chExt cx="812800" cy="711200"/>
          </a:xfrm>
        </p:grpSpPr>
        <p:sp>
          <p:nvSpPr>
            <p:cNvPr name="Freeform 18" id="1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9" id="19"/>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sp>
        <p:nvSpPr>
          <p:cNvPr name="Freeform 20" id="20"/>
          <p:cNvSpPr/>
          <p:nvPr/>
        </p:nvSpPr>
        <p:spPr>
          <a:xfrm flipH="false" flipV="false" rot="0">
            <a:off x="8626978" y="6937611"/>
            <a:ext cx="2433673" cy="2433673"/>
          </a:xfrm>
          <a:custGeom>
            <a:avLst/>
            <a:gdLst/>
            <a:ahLst/>
            <a:cxnLst/>
            <a:rect r="r" b="b" t="t" l="l"/>
            <a:pathLst>
              <a:path h="2433673" w="2433673">
                <a:moveTo>
                  <a:pt x="0" y="0"/>
                </a:moveTo>
                <a:lnTo>
                  <a:pt x="2433673" y="0"/>
                </a:lnTo>
                <a:lnTo>
                  <a:pt x="2433673" y="2433674"/>
                </a:lnTo>
                <a:lnTo>
                  <a:pt x="0" y="24336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1864802" y="3262646"/>
            <a:ext cx="7279198" cy="2087132"/>
          </a:xfrm>
          <a:prstGeom prst="rect">
            <a:avLst/>
          </a:prstGeom>
        </p:spPr>
        <p:txBody>
          <a:bodyPr anchor="t" rtlCol="false" tIns="0" lIns="0" bIns="0" rIns="0">
            <a:spAutoFit/>
          </a:bodyPr>
          <a:lstStyle/>
          <a:p>
            <a:pPr algn="l" marL="0" indent="0" lvl="0">
              <a:lnSpc>
                <a:spcPts val="7859"/>
              </a:lnSpc>
              <a:spcBef>
                <a:spcPct val="0"/>
              </a:spcBef>
            </a:pPr>
            <a:r>
              <a:rPr lang="en-US" b="true" sz="7556" spc="-438">
                <a:solidFill>
                  <a:srgbClr val="000000"/>
                </a:solidFill>
                <a:latin typeface="Poppins Bold"/>
                <a:ea typeface="Poppins Bold"/>
                <a:cs typeface="Poppins Bold"/>
                <a:sym typeface="Poppins Bold"/>
              </a:rPr>
              <a:t>INTRODUCTION/BACKGROUND</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2838155"/>
            <a:ext cx="203751" cy="836307"/>
            <a:chOff x="0" y="0"/>
            <a:chExt cx="53663" cy="220262"/>
          </a:xfrm>
        </p:grpSpPr>
        <p:sp>
          <p:nvSpPr>
            <p:cNvPr name="Freeform 9" id="9"/>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0" id="10"/>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632753" y="4288248"/>
            <a:ext cx="17022494" cy="3198691"/>
            <a:chOff x="0" y="0"/>
            <a:chExt cx="6631238" cy="1246074"/>
          </a:xfrm>
        </p:grpSpPr>
        <p:sp>
          <p:nvSpPr>
            <p:cNvPr name="Freeform 12" id="12"/>
            <p:cNvSpPr/>
            <p:nvPr/>
          </p:nvSpPr>
          <p:spPr>
            <a:xfrm flipH="false" flipV="false" rot="0">
              <a:off x="0" y="0"/>
              <a:ext cx="6631238" cy="1246074"/>
            </a:xfrm>
            <a:custGeom>
              <a:avLst/>
              <a:gdLst/>
              <a:ahLst/>
              <a:cxnLst/>
              <a:rect r="r" b="b" t="t" l="l"/>
              <a:pathLst>
                <a:path h="1246074" w="6631238">
                  <a:moveTo>
                    <a:pt x="8641" y="0"/>
                  </a:moveTo>
                  <a:lnTo>
                    <a:pt x="6622597" y="0"/>
                  </a:lnTo>
                  <a:cubicBezTo>
                    <a:pt x="6624889" y="0"/>
                    <a:pt x="6627086" y="910"/>
                    <a:pt x="6628707" y="2531"/>
                  </a:cubicBezTo>
                  <a:cubicBezTo>
                    <a:pt x="6630327" y="4152"/>
                    <a:pt x="6631238" y="6349"/>
                    <a:pt x="6631238" y="8641"/>
                  </a:cubicBezTo>
                  <a:lnTo>
                    <a:pt x="6631238" y="1237432"/>
                  </a:lnTo>
                  <a:cubicBezTo>
                    <a:pt x="6631238" y="1239724"/>
                    <a:pt x="6630327" y="1241922"/>
                    <a:pt x="6628707" y="1243543"/>
                  </a:cubicBezTo>
                  <a:cubicBezTo>
                    <a:pt x="6627086" y="1245163"/>
                    <a:pt x="6624889" y="1246074"/>
                    <a:pt x="6622597" y="1246074"/>
                  </a:cubicBezTo>
                  <a:lnTo>
                    <a:pt x="8641" y="1246074"/>
                  </a:lnTo>
                  <a:cubicBezTo>
                    <a:pt x="6349" y="1246074"/>
                    <a:pt x="4152" y="1245163"/>
                    <a:pt x="2531" y="1243543"/>
                  </a:cubicBezTo>
                  <a:cubicBezTo>
                    <a:pt x="910" y="1241922"/>
                    <a:pt x="0" y="1239724"/>
                    <a:pt x="0" y="1237432"/>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13" id="13"/>
            <p:cNvSpPr txBox="true"/>
            <p:nvPr/>
          </p:nvSpPr>
          <p:spPr>
            <a:xfrm>
              <a:off x="0" y="-66675"/>
              <a:ext cx="6631238" cy="1312749"/>
            </a:xfrm>
            <a:prstGeom prst="rect">
              <a:avLst/>
            </a:prstGeom>
          </p:spPr>
          <p:txBody>
            <a:bodyPr anchor="ctr" rtlCol="false" tIns="50800" lIns="50800" bIns="50800" rIns="50800"/>
            <a:lstStyle/>
            <a:p>
              <a:pPr algn="ctr">
                <a:lnSpc>
                  <a:spcPts val="3359"/>
                </a:lnSpc>
              </a:pPr>
            </a:p>
          </p:txBody>
        </p:sp>
      </p:grpSp>
      <p:sp>
        <p:nvSpPr>
          <p:cNvPr name="TextBox 14" id="14"/>
          <p:cNvSpPr txBox="true"/>
          <p:nvPr/>
        </p:nvSpPr>
        <p:spPr>
          <a:xfrm rot="0">
            <a:off x="1047305" y="2828636"/>
            <a:ext cx="14742913" cy="883920"/>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WHA</a:t>
            </a:r>
            <a:r>
              <a:rPr lang="en-US" b="true" sz="6000" spc="-348" strike="noStrike" u="none">
                <a:solidFill>
                  <a:srgbClr val="000000"/>
                </a:solidFill>
                <a:latin typeface="Poppins Bold"/>
                <a:ea typeface="Poppins Bold"/>
                <a:cs typeface="Poppins Bold"/>
                <a:sym typeface="Poppins Bold"/>
              </a:rPr>
              <a:t>T</a:t>
            </a:r>
            <a:r>
              <a:rPr lang="en-US" b="true" sz="6000" spc="-348" strike="noStrike" u="none">
                <a:solidFill>
                  <a:srgbClr val="000000"/>
                </a:solidFill>
                <a:latin typeface="Poppins Bold"/>
                <a:ea typeface="Poppins Bold"/>
                <a:cs typeface="Poppins Bold"/>
                <a:sym typeface="Poppins Bold"/>
              </a:rPr>
              <a:t> IS PLAGIA</a:t>
            </a:r>
            <a:r>
              <a:rPr lang="en-US" b="true" sz="6000" spc="-348" strike="noStrike" u="none">
                <a:solidFill>
                  <a:srgbClr val="000000"/>
                </a:solidFill>
                <a:latin typeface="Poppins Bold"/>
                <a:ea typeface="Poppins Bold"/>
                <a:cs typeface="Poppins Bold"/>
                <a:sym typeface="Poppins Bold"/>
              </a:rPr>
              <a:t>R</a:t>
            </a:r>
            <a:r>
              <a:rPr lang="en-US" b="true" sz="6000" spc="-348" strike="noStrike" u="none">
                <a:solidFill>
                  <a:srgbClr val="000000"/>
                </a:solidFill>
                <a:latin typeface="Poppins Bold"/>
                <a:ea typeface="Poppins Bold"/>
                <a:cs typeface="Poppins Bold"/>
                <a:sym typeface="Poppins Bold"/>
              </a:rPr>
              <a:t>ISM?</a:t>
            </a:r>
          </a:p>
        </p:txBody>
      </p:sp>
      <p:sp>
        <p:nvSpPr>
          <p:cNvPr name="TextBox 15" id="15"/>
          <p:cNvSpPr txBox="true"/>
          <p:nvPr/>
        </p:nvSpPr>
        <p:spPr>
          <a:xfrm rot="0">
            <a:off x="836504" y="4458791"/>
            <a:ext cx="16478508" cy="2832101"/>
          </a:xfrm>
          <a:prstGeom prst="rect">
            <a:avLst/>
          </a:prstGeom>
        </p:spPr>
        <p:txBody>
          <a:bodyPr anchor="t" rtlCol="false" tIns="0" lIns="0" bIns="0" rIns="0">
            <a:spAutoFit/>
          </a:bodyPr>
          <a:lstStyle/>
          <a:p>
            <a:pPr algn="just" marL="0" indent="0" lvl="0">
              <a:lnSpc>
                <a:spcPts val="5599"/>
              </a:lnSpc>
              <a:spcBef>
                <a:spcPct val="0"/>
              </a:spcBef>
            </a:pPr>
            <a:r>
              <a:rPr lang="en-US" sz="3999" spc="-223">
                <a:solidFill>
                  <a:srgbClr val="000000"/>
                </a:solidFill>
                <a:latin typeface="Poppins"/>
                <a:ea typeface="Poppins"/>
                <a:cs typeface="Poppins"/>
                <a:sym typeface="Poppins"/>
              </a:rPr>
              <a:t>Plagiarism is the act of using someone else's work, ideas, or words without proper acknowledgment. In today's digital age, plagiarism has become a significant concern in both </a:t>
            </a:r>
            <a:r>
              <a:rPr lang="en-US" b="true" sz="3999" spc="-223">
                <a:solidFill>
                  <a:srgbClr val="000000"/>
                </a:solidFill>
                <a:latin typeface="Poppins Medium"/>
                <a:ea typeface="Poppins Medium"/>
                <a:cs typeface="Poppins Medium"/>
                <a:sym typeface="Poppins Medium"/>
              </a:rPr>
              <a:t>academic and professional settings</a:t>
            </a:r>
            <a:r>
              <a:rPr lang="en-US" sz="3999" spc="-223">
                <a:solidFill>
                  <a:srgbClr val="000000"/>
                </a:solidFill>
                <a:latin typeface="Poppins"/>
                <a:ea typeface="Poppins"/>
                <a:cs typeface="Poppins"/>
                <a:sym typeface="Poppins"/>
              </a:rPr>
              <a:t>.</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746875"/>
            <a:ext cx="17022494" cy="874401"/>
            <a:chOff x="0" y="0"/>
            <a:chExt cx="22696658" cy="1165868"/>
          </a:xfrm>
        </p:grpSpPr>
        <p:grpSp>
          <p:nvGrpSpPr>
            <p:cNvPr name="Group 9" id="9"/>
            <p:cNvGrpSpPr/>
            <p:nvPr/>
          </p:nvGrpSpPr>
          <p:grpSpPr>
            <a:xfrm rot="0">
              <a:off x="0" y="0"/>
              <a:ext cx="326716" cy="1115076"/>
              <a:chOff x="0" y="0"/>
              <a:chExt cx="64536" cy="220262"/>
            </a:xfrm>
          </p:grpSpPr>
          <p:sp>
            <p:nvSpPr>
              <p:cNvPr name="Freeform 10" id="10"/>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11" id="11"/>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12" id="12"/>
            <p:cNvSpPr txBox="true"/>
            <p:nvPr/>
          </p:nvSpPr>
          <p:spPr>
            <a:xfrm rot="0">
              <a:off x="1043541" y="80230"/>
              <a:ext cx="21653117"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WHA</a:t>
              </a:r>
              <a:r>
                <a:rPr lang="en-US" b="true" sz="5499" spc="-318" strike="noStrike" u="none">
                  <a:solidFill>
                    <a:srgbClr val="000000"/>
                  </a:solidFill>
                  <a:latin typeface="Poppins Bold"/>
                  <a:ea typeface="Poppins Bold"/>
                  <a:cs typeface="Poppins Bold"/>
                  <a:sym typeface="Poppins Bold"/>
                </a:rPr>
                <a:t>T</a:t>
              </a:r>
              <a:r>
                <a:rPr lang="en-US" b="true" sz="5499" spc="-318" strike="noStrike" u="none">
                  <a:solidFill>
                    <a:srgbClr val="000000"/>
                  </a:solidFill>
                  <a:latin typeface="Poppins Bold"/>
                  <a:ea typeface="Poppins Bold"/>
                  <a:cs typeface="Poppins Bold"/>
                  <a:sym typeface="Poppins Bold"/>
                </a:rPr>
                <a:t> IS PLAGIA</a:t>
              </a:r>
              <a:r>
                <a:rPr lang="en-US" b="true" sz="5499" spc="-318" strike="noStrike" u="none">
                  <a:solidFill>
                    <a:srgbClr val="000000"/>
                  </a:solidFill>
                  <a:latin typeface="Poppins Bold"/>
                  <a:ea typeface="Poppins Bold"/>
                  <a:cs typeface="Poppins Bold"/>
                  <a:sym typeface="Poppins Bold"/>
                </a:rPr>
                <a:t>R</a:t>
              </a:r>
              <a:r>
                <a:rPr lang="en-US" b="true" sz="5499" spc="-318" strike="noStrike" u="none">
                  <a:solidFill>
                    <a:srgbClr val="000000"/>
                  </a:solidFill>
                  <a:latin typeface="Poppins Bold"/>
                  <a:ea typeface="Poppins Bold"/>
                  <a:cs typeface="Poppins Bold"/>
                  <a:sym typeface="Poppins Bold"/>
                </a:rPr>
                <a:t>ISM DETE</a:t>
              </a:r>
              <a:r>
                <a:rPr lang="en-US" b="true" sz="5499" spc="-318" strike="noStrike" u="none">
                  <a:solidFill>
                    <a:srgbClr val="000000"/>
                  </a:solidFill>
                  <a:latin typeface="Poppins Bold"/>
                  <a:ea typeface="Poppins Bold"/>
                  <a:cs typeface="Poppins Bold"/>
                  <a:sym typeface="Poppins Bold"/>
                </a:rPr>
                <a:t>CTION IMPORTANT</a:t>
              </a:r>
              <a:r>
                <a:rPr lang="en-US" b="true" sz="5499" spc="-318" strike="noStrike" u="none">
                  <a:solidFill>
                    <a:srgbClr val="000000"/>
                  </a:solidFill>
                  <a:latin typeface="Poppins Bold"/>
                  <a:ea typeface="Poppins Bold"/>
                  <a:cs typeface="Poppins Bold"/>
                  <a:sym typeface="Poppins Bold"/>
                </a:rPr>
                <a:t>?</a:t>
              </a:r>
            </a:p>
          </p:txBody>
        </p:sp>
      </p:grpSp>
      <p:grpSp>
        <p:nvGrpSpPr>
          <p:cNvPr name="Group 13" id="13"/>
          <p:cNvGrpSpPr/>
          <p:nvPr/>
        </p:nvGrpSpPr>
        <p:grpSpPr>
          <a:xfrm rot="0">
            <a:off x="9686155" y="2246087"/>
            <a:ext cx="7969092" cy="7530245"/>
            <a:chOff x="0" y="0"/>
            <a:chExt cx="1783395" cy="1685186"/>
          </a:xfrm>
        </p:grpSpPr>
        <p:sp>
          <p:nvSpPr>
            <p:cNvPr name="Freeform 14" id="14"/>
            <p:cNvSpPr/>
            <p:nvPr/>
          </p:nvSpPr>
          <p:spPr>
            <a:xfrm flipH="false" flipV="false" rot="0">
              <a:off x="0" y="0"/>
              <a:ext cx="1783395" cy="1685186"/>
            </a:xfrm>
            <a:custGeom>
              <a:avLst/>
              <a:gdLst/>
              <a:ahLst/>
              <a:cxnLst/>
              <a:rect r="r" b="b" t="t" l="l"/>
              <a:pathLst>
                <a:path h="1685186" w="1783395">
                  <a:moveTo>
                    <a:pt x="49546" y="0"/>
                  </a:moveTo>
                  <a:lnTo>
                    <a:pt x="1733849" y="0"/>
                  </a:lnTo>
                  <a:cubicBezTo>
                    <a:pt x="1746990" y="0"/>
                    <a:pt x="1759592" y="5220"/>
                    <a:pt x="1768884" y="14512"/>
                  </a:cubicBezTo>
                  <a:cubicBezTo>
                    <a:pt x="1778175" y="23803"/>
                    <a:pt x="1783395" y="36406"/>
                    <a:pt x="1783395" y="49546"/>
                  </a:cubicBezTo>
                  <a:lnTo>
                    <a:pt x="1783395" y="1635640"/>
                  </a:lnTo>
                  <a:cubicBezTo>
                    <a:pt x="1783395" y="1648780"/>
                    <a:pt x="1778175" y="1661383"/>
                    <a:pt x="1768884" y="1670674"/>
                  </a:cubicBezTo>
                  <a:cubicBezTo>
                    <a:pt x="1759592" y="1679966"/>
                    <a:pt x="1746990" y="1685186"/>
                    <a:pt x="1733849" y="1685186"/>
                  </a:cubicBezTo>
                  <a:lnTo>
                    <a:pt x="49546" y="1685186"/>
                  </a:lnTo>
                  <a:cubicBezTo>
                    <a:pt x="22183" y="1685186"/>
                    <a:pt x="0" y="1663004"/>
                    <a:pt x="0" y="1635640"/>
                  </a:cubicBezTo>
                  <a:lnTo>
                    <a:pt x="0" y="49546"/>
                  </a:lnTo>
                  <a:cubicBezTo>
                    <a:pt x="0" y="36406"/>
                    <a:pt x="5220" y="23803"/>
                    <a:pt x="14512" y="14512"/>
                  </a:cubicBezTo>
                  <a:cubicBezTo>
                    <a:pt x="23803" y="5220"/>
                    <a:pt x="36406" y="0"/>
                    <a:pt x="49546" y="0"/>
                  </a:cubicBezTo>
                  <a:close/>
                </a:path>
              </a:pathLst>
            </a:custGeom>
            <a:solidFill>
              <a:srgbClr val="FEB389"/>
            </a:solidFill>
          </p:spPr>
        </p:sp>
        <p:sp>
          <p:nvSpPr>
            <p:cNvPr name="TextBox 15" id="15"/>
            <p:cNvSpPr txBox="true"/>
            <p:nvPr/>
          </p:nvSpPr>
          <p:spPr>
            <a:xfrm>
              <a:off x="0" y="-66675"/>
              <a:ext cx="1783395" cy="1751861"/>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10035245" y="2662703"/>
            <a:ext cx="7224055" cy="6685632"/>
          </a:xfrm>
          <a:prstGeom prst="rect">
            <a:avLst/>
          </a:prstGeom>
        </p:spPr>
        <p:txBody>
          <a:bodyPr anchor="t" rtlCol="false" tIns="0" lIns="0" bIns="0" rIns="0">
            <a:spAutoFit/>
          </a:bodyPr>
          <a:lstStyle/>
          <a:p>
            <a:pPr algn="l">
              <a:lnSpc>
                <a:spcPts val="5300"/>
              </a:lnSpc>
            </a:pPr>
            <a:r>
              <a:rPr lang="en-US" sz="3786" spc="-212" b="true">
                <a:solidFill>
                  <a:srgbClr val="000000"/>
                </a:solidFill>
                <a:latin typeface="Poppins Bold"/>
                <a:ea typeface="Poppins Bold"/>
                <a:cs typeface="Poppins Bold"/>
                <a:sym typeface="Poppins Bold"/>
              </a:rPr>
              <a:t>In Academic Settings:</a:t>
            </a:r>
          </a:p>
          <a:p>
            <a:pPr algn="l" marL="817430" indent="-408715" lvl="1">
              <a:lnSpc>
                <a:spcPts val="5300"/>
              </a:lnSpc>
              <a:buFont typeface="Arial"/>
              <a:buChar char="•"/>
            </a:pPr>
            <a:r>
              <a:rPr lang="en-US" sz="3786" spc="-212">
                <a:solidFill>
                  <a:srgbClr val="000000"/>
                </a:solidFill>
                <a:latin typeface="Poppins"/>
                <a:ea typeface="Poppins"/>
                <a:cs typeface="Poppins"/>
                <a:sym typeface="Poppins"/>
              </a:rPr>
              <a:t>Students submit assignments that may contain copied content from online sources</a:t>
            </a:r>
          </a:p>
          <a:p>
            <a:pPr algn="l" marL="817430" indent="-408715" lvl="1">
              <a:lnSpc>
                <a:spcPts val="5300"/>
              </a:lnSpc>
              <a:buFont typeface="Arial"/>
              <a:buChar char="•"/>
            </a:pPr>
            <a:r>
              <a:rPr lang="en-US" sz="3786" spc="-212">
                <a:solidFill>
                  <a:srgbClr val="000000"/>
                </a:solidFill>
                <a:latin typeface="Poppins"/>
                <a:ea typeface="Poppins"/>
                <a:cs typeface="Poppins"/>
                <a:sym typeface="Poppins"/>
              </a:rPr>
              <a:t>Teachers need reliable tools to verify the originality of student work</a:t>
            </a:r>
          </a:p>
          <a:p>
            <a:pPr algn="l" marL="817430" indent="-408715" lvl="1">
              <a:lnSpc>
                <a:spcPts val="5300"/>
              </a:lnSpc>
              <a:buFont typeface="Arial"/>
              <a:buChar char="•"/>
            </a:pPr>
            <a:r>
              <a:rPr lang="en-US" sz="3786" spc="-212">
                <a:solidFill>
                  <a:srgbClr val="000000"/>
                </a:solidFill>
                <a:latin typeface="Poppins"/>
                <a:ea typeface="Poppins"/>
                <a:cs typeface="Poppins"/>
                <a:sym typeface="Poppins"/>
              </a:rPr>
              <a:t>Universities must maintain academic integrity standards</a:t>
            </a:r>
          </a:p>
        </p:txBody>
      </p:sp>
      <p:grpSp>
        <p:nvGrpSpPr>
          <p:cNvPr name="Group 17" id="17"/>
          <p:cNvGrpSpPr/>
          <p:nvPr/>
        </p:nvGrpSpPr>
        <p:grpSpPr>
          <a:xfrm rot="0">
            <a:off x="632753" y="2246087"/>
            <a:ext cx="8511247" cy="7530245"/>
            <a:chOff x="0" y="0"/>
            <a:chExt cx="11348329" cy="10040327"/>
          </a:xfrm>
        </p:grpSpPr>
        <p:grpSp>
          <p:nvGrpSpPr>
            <p:cNvPr name="Group 18" id="18"/>
            <p:cNvGrpSpPr/>
            <p:nvPr/>
          </p:nvGrpSpPr>
          <p:grpSpPr>
            <a:xfrm rot="0">
              <a:off x="0" y="0"/>
              <a:ext cx="11348329" cy="10040327"/>
              <a:chOff x="0" y="0"/>
              <a:chExt cx="1904724" cy="1685186"/>
            </a:xfrm>
          </p:grpSpPr>
          <p:sp>
            <p:nvSpPr>
              <p:cNvPr name="Freeform 19" id="19"/>
              <p:cNvSpPr/>
              <p:nvPr/>
            </p:nvSpPr>
            <p:spPr>
              <a:xfrm flipH="false" flipV="false" rot="0">
                <a:off x="0" y="0"/>
                <a:ext cx="1904723" cy="1685186"/>
              </a:xfrm>
              <a:custGeom>
                <a:avLst/>
                <a:gdLst/>
                <a:ahLst/>
                <a:cxnLst/>
                <a:rect r="r" b="b" t="t" l="l"/>
                <a:pathLst>
                  <a:path h="1685186" w="1904723">
                    <a:moveTo>
                      <a:pt x="46390" y="0"/>
                    </a:moveTo>
                    <a:lnTo>
                      <a:pt x="1858333" y="0"/>
                    </a:lnTo>
                    <a:cubicBezTo>
                      <a:pt x="1870637" y="0"/>
                      <a:pt x="1882436" y="4888"/>
                      <a:pt x="1891136" y="13587"/>
                    </a:cubicBezTo>
                    <a:cubicBezTo>
                      <a:pt x="1899836" y="22287"/>
                      <a:pt x="1904723" y="34087"/>
                      <a:pt x="1904723" y="46390"/>
                    </a:cubicBezTo>
                    <a:lnTo>
                      <a:pt x="1904723" y="1638796"/>
                    </a:lnTo>
                    <a:cubicBezTo>
                      <a:pt x="1904723" y="1651099"/>
                      <a:pt x="1899836" y="1662899"/>
                      <a:pt x="1891136" y="1671599"/>
                    </a:cubicBezTo>
                    <a:cubicBezTo>
                      <a:pt x="1882436" y="1680299"/>
                      <a:pt x="1870637" y="1685186"/>
                      <a:pt x="1858333" y="1685186"/>
                    </a:cubicBezTo>
                    <a:lnTo>
                      <a:pt x="46390" y="1685186"/>
                    </a:lnTo>
                    <a:cubicBezTo>
                      <a:pt x="20770" y="1685186"/>
                      <a:pt x="0" y="1664416"/>
                      <a:pt x="0" y="1638796"/>
                    </a:cubicBezTo>
                    <a:lnTo>
                      <a:pt x="0" y="46390"/>
                    </a:lnTo>
                    <a:cubicBezTo>
                      <a:pt x="0" y="34087"/>
                      <a:pt x="4888" y="22287"/>
                      <a:pt x="13587" y="13587"/>
                    </a:cubicBezTo>
                    <a:cubicBezTo>
                      <a:pt x="22287" y="4888"/>
                      <a:pt x="34087" y="0"/>
                      <a:pt x="46390" y="0"/>
                    </a:cubicBezTo>
                    <a:close/>
                  </a:path>
                </a:pathLst>
              </a:custGeom>
              <a:solidFill>
                <a:srgbClr val="7281FE"/>
              </a:solidFill>
            </p:spPr>
          </p:sp>
          <p:sp>
            <p:nvSpPr>
              <p:cNvPr name="TextBox 20" id="20"/>
              <p:cNvSpPr txBox="true"/>
              <p:nvPr/>
            </p:nvSpPr>
            <p:spPr>
              <a:xfrm>
                <a:off x="0" y="-66675"/>
                <a:ext cx="1904724" cy="1751861"/>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0">
              <a:off x="515098" y="744299"/>
              <a:ext cx="10318132" cy="8437429"/>
            </a:xfrm>
            <a:prstGeom prst="rect">
              <a:avLst/>
            </a:prstGeom>
          </p:spPr>
          <p:txBody>
            <a:bodyPr anchor="t" rtlCol="false" tIns="0" lIns="0" bIns="0" rIns="0">
              <a:spAutoFit/>
            </a:bodyPr>
            <a:lstStyle/>
            <a:p>
              <a:pPr algn="l">
                <a:lnSpc>
                  <a:spcPts val="5583"/>
                </a:lnSpc>
              </a:pPr>
              <a:r>
                <a:rPr lang="en-US" sz="3988" spc="-223" b="true">
                  <a:solidFill>
                    <a:srgbClr val="000000"/>
                  </a:solidFill>
                  <a:latin typeface="Poppins Bold"/>
                  <a:ea typeface="Poppins Bold"/>
                  <a:cs typeface="Poppins Bold"/>
                  <a:sym typeface="Poppins Bold"/>
                </a:rPr>
                <a:t>In Professional Settings:</a:t>
              </a:r>
            </a:p>
            <a:p>
              <a:pPr algn="l" marL="861078" indent="-430539" lvl="1">
                <a:lnSpc>
                  <a:spcPts val="5583"/>
                </a:lnSpc>
                <a:buFont typeface="Arial"/>
                <a:buChar char="•"/>
              </a:pPr>
              <a:r>
                <a:rPr lang="en-US" sz="3988" spc="-223">
                  <a:solidFill>
                    <a:srgbClr val="000000"/>
                  </a:solidFill>
                  <a:latin typeface="Poppins"/>
                  <a:ea typeface="Poppins"/>
                  <a:cs typeface="Poppins"/>
                  <a:sym typeface="Poppins"/>
                </a:rPr>
                <a:t>Companies need to protect their intellectual property and original content</a:t>
              </a:r>
            </a:p>
            <a:p>
              <a:pPr algn="l" marL="861078" indent="-430539" lvl="1">
                <a:lnSpc>
                  <a:spcPts val="5583"/>
                </a:lnSpc>
                <a:buFont typeface="Arial"/>
                <a:buChar char="•"/>
              </a:pPr>
              <a:r>
                <a:rPr lang="en-US" sz="3988" spc="-223">
                  <a:solidFill>
                    <a:srgbClr val="000000"/>
                  </a:solidFill>
                  <a:latin typeface="Poppins"/>
                  <a:ea typeface="Poppins"/>
                  <a:cs typeface="Poppins"/>
                  <a:sym typeface="Poppins"/>
                </a:rPr>
                <a:t>Content creators must verify that submitted work is original</a:t>
              </a:r>
            </a:p>
            <a:p>
              <a:pPr algn="l" marL="861078" indent="-430539" lvl="1">
                <a:lnSpc>
                  <a:spcPts val="5583"/>
                </a:lnSpc>
                <a:buFont typeface="Arial"/>
                <a:buChar char="•"/>
              </a:pPr>
              <a:r>
                <a:rPr lang="en-US" sz="3988" spc="-223">
                  <a:solidFill>
                    <a:srgbClr val="000000"/>
                  </a:solidFill>
                  <a:latin typeface="Poppins"/>
                  <a:ea typeface="Poppins"/>
                  <a:cs typeface="Poppins"/>
                  <a:sym typeface="Poppins"/>
                </a:rPr>
                <a:t>Organizations require efficient plagiarism detection for document verification</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746875"/>
            <a:ext cx="17022494" cy="874401"/>
            <a:chOff x="0" y="0"/>
            <a:chExt cx="22696658" cy="1165868"/>
          </a:xfrm>
        </p:grpSpPr>
        <p:grpSp>
          <p:nvGrpSpPr>
            <p:cNvPr name="Group 9" id="9"/>
            <p:cNvGrpSpPr/>
            <p:nvPr/>
          </p:nvGrpSpPr>
          <p:grpSpPr>
            <a:xfrm rot="0">
              <a:off x="0" y="0"/>
              <a:ext cx="326716" cy="1115076"/>
              <a:chOff x="0" y="0"/>
              <a:chExt cx="64536" cy="220262"/>
            </a:xfrm>
          </p:grpSpPr>
          <p:sp>
            <p:nvSpPr>
              <p:cNvPr name="Freeform 10" id="10"/>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11" id="11"/>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12" id="12"/>
            <p:cNvSpPr txBox="true"/>
            <p:nvPr/>
          </p:nvSpPr>
          <p:spPr>
            <a:xfrm rot="0">
              <a:off x="1043541" y="80230"/>
              <a:ext cx="21653117"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THE PROBLEM</a:t>
              </a:r>
            </a:p>
          </p:txBody>
        </p:sp>
      </p:grpSp>
      <p:grpSp>
        <p:nvGrpSpPr>
          <p:cNvPr name="Group 13" id="13"/>
          <p:cNvGrpSpPr/>
          <p:nvPr/>
        </p:nvGrpSpPr>
        <p:grpSpPr>
          <a:xfrm rot="0">
            <a:off x="632753" y="1944809"/>
            <a:ext cx="5367118" cy="7831523"/>
            <a:chOff x="0" y="0"/>
            <a:chExt cx="1201102" cy="1752609"/>
          </a:xfrm>
        </p:grpSpPr>
        <p:sp>
          <p:nvSpPr>
            <p:cNvPr name="Freeform 14" id="14"/>
            <p:cNvSpPr/>
            <p:nvPr/>
          </p:nvSpPr>
          <p:spPr>
            <a:xfrm flipH="false" flipV="false" rot="0">
              <a:off x="0" y="0"/>
              <a:ext cx="1201102" cy="1752609"/>
            </a:xfrm>
            <a:custGeom>
              <a:avLst/>
              <a:gdLst/>
              <a:ahLst/>
              <a:cxnLst/>
              <a:rect r="r" b="b" t="t" l="l"/>
              <a:pathLst>
                <a:path h="1752609" w="1201102">
                  <a:moveTo>
                    <a:pt x="73566" y="0"/>
                  </a:moveTo>
                  <a:lnTo>
                    <a:pt x="1127536" y="0"/>
                  </a:lnTo>
                  <a:cubicBezTo>
                    <a:pt x="1168165" y="0"/>
                    <a:pt x="1201102" y="32937"/>
                    <a:pt x="1201102" y="73566"/>
                  </a:cubicBezTo>
                  <a:lnTo>
                    <a:pt x="1201102" y="1679043"/>
                  </a:lnTo>
                  <a:cubicBezTo>
                    <a:pt x="1201102" y="1719672"/>
                    <a:pt x="1168165" y="1752609"/>
                    <a:pt x="1127536" y="1752609"/>
                  </a:cubicBezTo>
                  <a:lnTo>
                    <a:pt x="73566" y="1752609"/>
                  </a:lnTo>
                  <a:cubicBezTo>
                    <a:pt x="32937" y="1752609"/>
                    <a:pt x="0" y="1719672"/>
                    <a:pt x="0" y="1679043"/>
                  </a:cubicBezTo>
                  <a:lnTo>
                    <a:pt x="0" y="73566"/>
                  </a:lnTo>
                  <a:cubicBezTo>
                    <a:pt x="0" y="32937"/>
                    <a:pt x="32937" y="0"/>
                    <a:pt x="73566" y="0"/>
                  </a:cubicBezTo>
                  <a:close/>
                </a:path>
              </a:pathLst>
            </a:custGeom>
            <a:solidFill>
              <a:srgbClr val="7281FE"/>
            </a:solidFill>
          </p:spPr>
        </p:sp>
        <p:sp>
          <p:nvSpPr>
            <p:cNvPr name="TextBox 15" id="15"/>
            <p:cNvSpPr txBox="true"/>
            <p:nvPr/>
          </p:nvSpPr>
          <p:spPr>
            <a:xfrm>
              <a:off x="0" y="-66675"/>
              <a:ext cx="1201102" cy="1819284"/>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908376" y="2160362"/>
            <a:ext cx="4872108" cy="7198711"/>
          </a:xfrm>
          <a:prstGeom prst="rect">
            <a:avLst/>
          </a:prstGeom>
        </p:spPr>
        <p:txBody>
          <a:bodyPr anchor="t" rtlCol="false" tIns="0" lIns="0" bIns="0" rIns="0">
            <a:spAutoFit/>
          </a:bodyPr>
          <a:lstStyle/>
          <a:p>
            <a:pPr algn="l">
              <a:lnSpc>
                <a:spcPts val="4460"/>
              </a:lnSpc>
            </a:pPr>
            <a:r>
              <a:rPr lang="en-US" sz="3186" spc="-178" b="true">
                <a:solidFill>
                  <a:srgbClr val="000000"/>
                </a:solidFill>
                <a:latin typeface="Poppins Bold"/>
                <a:ea typeface="Poppins Bold"/>
                <a:cs typeface="Poppins Bold"/>
                <a:sym typeface="Poppins Bold"/>
              </a:rPr>
              <a:t>Cannot Detect Paraphrasing</a:t>
            </a:r>
          </a:p>
          <a:p>
            <a:pPr algn="l" marL="687893" indent="-343947" lvl="1">
              <a:lnSpc>
                <a:spcPts val="4460"/>
              </a:lnSpc>
              <a:buFont typeface="Arial"/>
              <a:buChar char="•"/>
            </a:pPr>
            <a:r>
              <a:rPr lang="en-US" sz="3186" spc="-178">
                <a:solidFill>
                  <a:srgbClr val="000000"/>
                </a:solidFill>
                <a:latin typeface="Poppins"/>
                <a:ea typeface="Poppins"/>
                <a:cs typeface="Poppins"/>
                <a:sym typeface="Poppins"/>
              </a:rPr>
              <a:t>Existing tools only catch exact word matches</a:t>
            </a:r>
          </a:p>
          <a:p>
            <a:pPr algn="l" marL="687893" indent="-343947" lvl="1">
              <a:lnSpc>
                <a:spcPts val="4460"/>
              </a:lnSpc>
              <a:buFont typeface="Arial"/>
              <a:buChar char="•"/>
            </a:pPr>
            <a:r>
              <a:rPr lang="en-US" sz="3186" spc="-178">
                <a:solidFill>
                  <a:srgbClr val="000000"/>
                </a:solidFill>
                <a:latin typeface="Poppins"/>
                <a:ea typeface="Poppins"/>
                <a:cs typeface="Poppins"/>
                <a:sym typeface="Poppins"/>
              </a:rPr>
              <a:t>They fail to detect when content is rephrased with different words but same meaning</a:t>
            </a:r>
          </a:p>
          <a:p>
            <a:pPr algn="l" marL="644714" indent="-322357" lvl="1">
              <a:lnSpc>
                <a:spcPts val="4180"/>
              </a:lnSpc>
              <a:buFont typeface="Arial"/>
              <a:buChar char="•"/>
            </a:pPr>
            <a:r>
              <a:rPr lang="en-US" sz="2986" spc="-167">
                <a:solidFill>
                  <a:srgbClr val="000000"/>
                </a:solidFill>
                <a:latin typeface="Poppins"/>
                <a:ea typeface="Poppins"/>
                <a:cs typeface="Poppins"/>
                <a:sym typeface="Poppins"/>
              </a:rPr>
              <a:t>This allows sophisticated plagiarism to go undetected</a:t>
            </a:r>
          </a:p>
        </p:txBody>
      </p:sp>
      <p:grpSp>
        <p:nvGrpSpPr>
          <p:cNvPr name="Group 17" id="17"/>
          <p:cNvGrpSpPr/>
          <p:nvPr/>
        </p:nvGrpSpPr>
        <p:grpSpPr>
          <a:xfrm rot="0">
            <a:off x="6461406" y="1944809"/>
            <a:ext cx="5367118" cy="7831523"/>
            <a:chOff x="0" y="0"/>
            <a:chExt cx="1201102" cy="1752609"/>
          </a:xfrm>
        </p:grpSpPr>
        <p:sp>
          <p:nvSpPr>
            <p:cNvPr name="Freeform 18" id="18"/>
            <p:cNvSpPr/>
            <p:nvPr/>
          </p:nvSpPr>
          <p:spPr>
            <a:xfrm flipH="false" flipV="false" rot="0">
              <a:off x="0" y="0"/>
              <a:ext cx="1201102" cy="1752609"/>
            </a:xfrm>
            <a:custGeom>
              <a:avLst/>
              <a:gdLst/>
              <a:ahLst/>
              <a:cxnLst/>
              <a:rect r="r" b="b" t="t" l="l"/>
              <a:pathLst>
                <a:path h="1752609" w="1201102">
                  <a:moveTo>
                    <a:pt x="73566" y="0"/>
                  </a:moveTo>
                  <a:lnTo>
                    <a:pt x="1127536" y="0"/>
                  </a:lnTo>
                  <a:cubicBezTo>
                    <a:pt x="1168165" y="0"/>
                    <a:pt x="1201102" y="32937"/>
                    <a:pt x="1201102" y="73566"/>
                  </a:cubicBezTo>
                  <a:lnTo>
                    <a:pt x="1201102" y="1679043"/>
                  </a:lnTo>
                  <a:cubicBezTo>
                    <a:pt x="1201102" y="1719672"/>
                    <a:pt x="1168165" y="1752609"/>
                    <a:pt x="1127536" y="1752609"/>
                  </a:cubicBezTo>
                  <a:lnTo>
                    <a:pt x="73566" y="1752609"/>
                  </a:lnTo>
                  <a:cubicBezTo>
                    <a:pt x="32937" y="1752609"/>
                    <a:pt x="0" y="1719672"/>
                    <a:pt x="0" y="1679043"/>
                  </a:cubicBezTo>
                  <a:lnTo>
                    <a:pt x="0" y="73566"/>
                  </a:lnTo>
                  <a:cubicBezTo>
                    <a:pt x="0" y="32937"/>
                    <a:pt x="32937" y="0"/>
                    <a:pt x="73566" y="0"/>
                  </a:cubicBezTo>
                  <a:close/>
                </a:path>
              </a:pathLst>
            </a:custGeom>
            <a:solidFill>
              <a:srgbClr val="FEB389"/>
            </a:solidFill>
          </p:spPr>
        </p:sp>
        <p:sp>
          <p:nvSpPr>
            <p:cNvPr name="TextBox 19" id="19"/>
            <p:cNvSpPr txBox="true"/>
            <p:nvPr/>
          </p:nvSpPr>
          <p:spPr>
            <a:xfrm>
              <a:off x="0" y="-66675"/>
              <a:ext cx="1201102" cy="1819284"/>
            </a:xfrm>
            <a:prstGeom prst="rect">
              <a:avLst/>
            </a:prstGeom>
          </p:spPr>
          <p:txBody>
            <a:bodyPr anchor="ctr" rtlCol="false" tIns="50800" lIns="50800" bIns="50800" rIns="50800"/>
            <a:lstStyle/>
            <a:p>
              <a:pPr algn="ctr">
                <a:lnSpc>
                  <a:spcPts val="2800"/>
                </a:lnSpc>
              </a:pPr>
            </a:p>
          </p:txBody>
        </p:sp>
      </p:grpSp>
      <p:grpSp>
        <p:nvGrpSpPr>
          <p:cNvPr name="Group 20" id="20"/>
          <p:cNvGrpSpPr/>
          <p:nvPr/>
        </p:nvGrpSpPr>
        <p:grpSpPr>
          <a:xfrm rot="0">
            <a:off x="12288129" y="1944809"/>
            <a:ext cx="5367118" cy="7831523"/>
            <a:chOff x="0" y="0"/>
            <a:chExt cx="1201102" cy="1752609"/>
          </a:xfrm>
        </p:grpSpPr>
        <p:sp>
          <p:nvSpPr>
            <p:cNvPr name="Freeform 21" id="21"/>
            <p:cNvSpPr/>
            <p:nvPr/>
          </p:nvSpPr>
          <p:spPr>
            <a:xfrm flipH="false" flipV="false" rot="0">
              <a:off x="0" y="0"/>
              <a:ext cx="1201102" cy="1752609"/>
            </a:xfrm>
            <a:custGeom>
              <a:avLst/>
              <a:gdLst/>
              <a:ahLst/>
              <a:cxnLst/>
              <a:rect r="r" b="b" t="t" l="l"/>
              <a:pathLst>
                <a:path h="1752609" w="1201102">
                  <a:moveTo>
                    <a:pt x="73566" y="0"/>
                  </a:moveTo>
                  <a:lnTo>
                    <a:pt x="1127536" y="0"/>
                  </a:lnTo>
                  <a:cubicBezTo>
                    <a:pt x="1168165" y="0"/>
                    <a:pt x="1201102" y="32937"/>
                    <a:pt x="1201102" y="73566"/>
                  </a:cubicBezTo>
                  <a:lnTo>
                    <a:pt x="1201102" y="1679043"/>
                  </a:lnTo>
                  <a:cubicBezTo>
                    <a:pt x="1201102" y="1719672"/>
                    <a:pt x="1168165" y="1752609"/>
                    <a:pt x="1127536" y="1752609"/>
                  </a:cubicBezTo>
                  <a:lnTo>
                    <a:pt x="73566" y="1752609"/>
                  </a:lnTo>
                  <a:cubicBezTo>
                    <a:pt x="32937" y="1752609"/>
                    <a:pt x="0" y="1719672"/>
                    <a:pt x="0" y="1679043"/>
                  </a:cubicBezTo>
                  <a:lnTo>
                    <a:pt x="0" y="73566"/>
                  </a:lnTo>
                  <a:cubicBezTo>
                    <a:pt x="0" y="32937"/>
                    <a:pt x="32937" y="0"/>
                    <a:pt x="73566" y="0"/>
                  </a:cubicBezTo>
                  <a:close/>
                </a:path>
              </a:pathLst>
            </a:custGeom>
            <a:solidFill>
              <a:srgbClr val="FFA9DC"/>
            </a:solidFill>
          </p:spPr>
        </p:sp>
        <p:sp>
          <p:nvSpPr>
            <p:cNvPr name="TextBox 22" id="22"/>
            <p:cNvSpPr txBox="true"/>
            <p:nvPr/>
          </p:nvSpPr>
          <p:spPr>
            <a:xfrm>
              <a:off x="0" y="-66675"/>
              <a:ext cx="1201102" cy="1819284"/>
            </a:xfrm>
            <a:prstGeom prst="rect">
              <a:avLst/>
            </a:prstGeom>
          </p:spPr>
          <p:txBody>
            <a:bodyPr anchor="ctr" rtlCol="false" tIns="50800" lIns="50800" bIns="50800" rIns="50800"/>
            <a:lstStyle/>
            <a:p>
              <a:pPr algn="ctr">
                <a:lnSpc>
                  <a:spcPts val="2800"/>
                </a:lnSpc>
              </a:pPr>
            </a:p>
          </p:txBody>
        </p:sp>
      </p:grpSp>
      <p:sp>
        <p:nvSpPr>
          <p:cNvPr name="TextBox 23" id="23"/>
          <p:cNvSpPr txBox="true"/>
          <p:nvPr/>
        </p:nvSpPr>
        <p:spPr>
          <a:xfrm rot="0">
            <a:off x="6708912" y="3286422"/>
            <a:ext cx="4872108" cy="5062571"/>
          </a:xfrm>
          <a:prstGeom prst="rect">
            <a:avLst/>
          </a:prstGeom>
        </p:spPr>
        <p:txBody>
          <a:bodyPr anchor="t" rtlCol="false" tIns="0" lIns="0" bIns="0" rIns="0">
            <a:spAutoFit/>
          </a:bodyPr>
          <a:lstStyle/>
          <a:p>
            <a:pPr algn="l">
              <a:lnSpc>
                <a:spcPts val="4460"/>
              </a:lnSpc>
            </a:pPr>
            <a:r>
              <a:rPr lang="en-US" sz="3186" spc="-178" b="true">
                <a:solidFill>
                  <a:srgbClr val="000000"/>
                </a:solidFill>
                <a:latin typeface="Poppins Bold"/>
                <a:ea typeface="Poppins Bold"/>
                <a:cs typeface="Poppins Bold"/>
                <a:sym typeface="Poppins Bold"/>
              </a:rPr>
              <a:t>Slow Processing</a:t>
            </a:r>
          </a:p>
          <a:p>
            <a:pPr algn="l" marL="687893" indent="-343947" lvl="1">
              <a:lnSpc>
                <a:spcPts val="4460"/>
              </a:lnSpc>
              <a:buFont typeface="Arial"/>
              <a:buChar char="•"/>
            </a:pPr>
            <a:r>
              <a:rPr lang="en-US" sz="3186" spc="-178">
                <a:solidFill>
                  <a:srgbClr val="000000"/>
                </a:solidFill>
                <a:latin typeface="Poppins"/>
                <a:ea typeface="Poppins"/>
                <a:cs typeface="Poppins"/>
                <a:sym typeface="Poppins"/>
              </a:rPr>
              <a:t>Many tools require lengthy processing times</a:t>
            </a:r>
          </a:p>
          <a:p>
            <a:pPr algn="l" marL="687893" indent="-343947" lvl="1">
              <a:lnSpc>
                <a:spcPts val="4460"/>
              </a:lnSpc>
              <a:buFont typeface="Arial"/>
              <a:buChar char="•"/>
            </a:pPr>
            <a:r>
              <a:rPr lang="en-US" sz="3186" spc="-178">
                <a:solidFill>
                  <a:srgbClr val="000000"/>
                </a:solidFill>
                <a:latin typeface="Poppins"/>
                <a:ea typeface="Poppins"/>
                <a:cs typeface="Poppins"/>
                <a:sym typeface="Poppins"/>
              </a:rPr>
              <a:t>Large documents take minute</a:t>
            </a:r>
            <a:r>
              <a:rPr lang="en-US" sz="3186" spc="-178">
                <a:solidFill>
                  <a:srgbClr val="000000"/>
                </a:solidFill>
                <a:latin typeface="Poppins"/>
                <a:ea typeface="Poppins"/>
                <a:cs typeface="Poppins"/>
                <a:sym typeface="Poppins"/>
              </a:rPr>
              <a:t>s to analyze</a:t>
            </a:r>
          </a:p>
          <a:p>
            <a:pPr algn="l" marL="687893" indent="-343947" lvl="1">
              <a:lnSpc>
                <a:spcPts val="4460"/>
              </a:lnSpc>
              <a:buFont typeface="Arial"/>
              <a:buChar char="•"/>
            </a:pPr>
            <a:r>
              <a:rPr lang="en-US" sz="3186" spc="-178">
                <a:solidFill>
                  <a:srgbClr val="000000"/>
                </a:solidFill>
                <a:latin typeface="Poppins"/>
                <a:ea typeface="Poppins"/>
                <a:cs typeface="Poppins"/>
                <a:sym typeface="Poppins"/>
              </a:rPr>
              <a:t>Users experience delays that reduce efficiency</a:t>
            </a:r>
          </a:p>
        </p:txBody>
      </p:sp>
      <p:sp>
        <p:nvSpPr>
          <p:cNvPr name="TextBox 24" id="24"/>
          <p:cNvSpPr txBox="true"/>
          <p:nvPr/>
        </p:nvSpPr>
        <p:spPr>
          <a:xfrm rot="0">
            <a:off x="12535634" y="3207533"/>
            <a:ext cx="4872108" cy="5624546"/>
          </a:xfrm>
          <a:prstGeom prst="rect">
            <a:avLst/>
          </a:prstGeom>
        </p:spPr>
        <p:txBody>
          <a:bodyPr anchor="t" rtlCol="false" tIns="0" lIns="0" bIns="0" rIns="0">
            <a:spAutoFit/>
          </a:bodyPr>
          <a:lstStyle/>
          <a:p>
            <a:pPr algn="l">
              <a:lnSpc>
                <a:spcPts val="4460"/>
              </a:lnSpc>
            </a:pPr>
            <a:r>
              <a:rPr lang="en-US" sz="3186" spc="-178" b="true">
                <a:solidFill>
                  <a:srgbClr val="000000"/>
                </a:solidFill>
                <a:latin typeface="Poppins Bold"/>
                <a:ea typeface="Poppins Bold"/>
                <a:cs typeface="Poppins Bold"/>
                <a:sym typeface="Poppins Bold"/>
              </a:rPr>
              <a:t>Limited Accuracy</a:t>
            </a:r>
          </a:p>
          <a:p>
            <a:pPr algn="l" marL="687893" indent="-343947" lvl="1">
              <a:lnSpc>
                <a:spcPts val="4460"/>
              </a:lnSpc>
              <a:buFont typeface="Arial"/>
              <a:buChar char="•"/>
            </a:pPr>
            <a:r>
              <a:rPr lang="en-US" sz="3186" spc="-178">
                <a:solidFill>
                  <a:srgbClr val="000000"/>
                </a:solidFill>
                <a:latin typeface="Poppins"/>
                <a:ea typeface="Poppins"/>
                <a:cs typeface="Poppins"/>
                <a:sym typeface="Poppins"/>
              </a:rPr>
              <a:t>Word-matching alone misses semantic similarities</a:t>
            </a:r>
          </a:p>
          <a:p>
            <a:pPr algn="l" marL="687893" indent="-343947" lvl="1">
              <a:lnSpc>
                <a:spcPts val="4460"/>
              </a:lnSpc>
              <a:buFont typeface="Arial"/>
              <a:buChar char="•"/>
            </a:pPr>
            <a:r>
              <a:rPr lang="en-US" sz="3186" spc="-178">
                <a:solidFill>
                  <a:srgbClr val="000000"/>
                </a:solidFill>
                <a:latin typeface="Poppins"/>
                <a:ea typeface="Poppins"/>
                <a:cs typeface="Poppins"/>
                <a:sym typeface="Poppins"/>
              </a:rPr>
              <a:t>C</a:t>
            </a:r>
            <a:r>
              <a:rPr lang="en-US" sz="3186" spc="-178">
                <a:solidFill>
                  <a:srgbClr val="000000"/>
                </a:solidFill>
                <a:latin typeface="Poppins"/>
                <a:ea typeface="Poppins"/>
                <a:cs typeface="Poppins"/>
                <a:sym typeface="Poppins"/>
              </a:rPr>
              <a:t>annot understand context and meaning of text</a:t>
            </a:r>
          </a:p>
          <a:p>
            <a:pPr algn="l" marL="687893" indent="-343947" lvl="1">
              <a:lnSpc>
                <a:spcPts val="4460"/>
              </a:lnSpc>
              <a:buFont typeface="Arial"/>
              <a:buChar char="•"/>
            </a:pPr>
            <a:r>
              <a:rPr lang="en-US" sz="3186" spc="-178">
                <a:solidFill>
                  <a:srgbClr val="000000"/>
                </a:solidFill>
                <a:latin typeface="Poppins"/>
                <a:ea typeface="Poppins"/>
                <a:cs typeface="Poppins"/>
                <a:sym typeface="Poppins"/>
              </a:rPr>
              <a:t>Results in</a:t>
            </a:r>
            <a:r>
              <a:rPr lang="en-US" sz="3186" spc="-178">
                <a:solidFill>
                  <a:srgbClr val="000000"/>
                </a:solidFill>
                <a:latin typeface="Poppins"/>
                <a:ea typeface="Poppins"/>
                <a:cs typeface="Poppins"/>
                <a:sym typeface="Poppins"/>
              </a:rPr>
              <a:t> false positives and false negatives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632753" y="1127009"/>
            <a:ext cx="203751" cy="947538"/>
            <a:chOff x="0" y="0"/>
            <a:chExt cx="53663" cy="249557"/>
          </a:xfrm>
        </p:grpSpPr>
        <p:sp>
          <p:nvSpPr>
            <p:cNvPr name="Freeform 3" id="3"/>
            <p:cNvSpPr/>
            <p:nvPr/>
          </p:nvSpPr>
          <p:spPr>
            <a:xfrm flipH="false" flipV="false" rot="0">
              <a:off x="0" y="0"/>
              <a:ext cx="53663" cy="249557"/>
            </a:xfrm>
            <a:custGeom>
              <a:avLst/>
              <a:gdLst/>
              <a:ahLst/>
              <a:cxnLst/>
              <a:rect r="r" b="b" t="t" l="l"/>
              <a:pathLst>
                <a:path h="249557" w="53663">
                  <a:moveTo>
                    <a:pt x="0" y="0"/>
                  </a:moveTo>
                  <a:lnTo>
                    <a:pt x="53663" y="0"/>
                  </a:lnTo>
                  <a:lnTo>
                    <a:pt x="53663" y="249557"/>
                  </a:lnTo>
                  <a:lnTo>
                    <a:pt x="0" y="249557"/>
                  </a:lnTo>
                  <a:close/>
                </a:path>
              </a:pathLst>
            </a:custGeom>
            <a:solidFill>
              <a:srgbClr val="7281FE"/>
            </a:solidFill>
          </p:spPr>
        </p:sp>
        <p:sp>
          <p:nvSpPr>
            <p:cNvPr name="TextBox 4" id="4"/>
            <p:cNvSpPr txBox="true"/>
            <p:nvPr/>
          </p:nvSpPr>
          <p:spPr>
            <a:xfrm>
              <a:off x="0" y="-66675"/>
              <a:ext cx="53663" cy="316232"/>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5553419" y="6719816"/>
            <a:ext cx="6713220" cy="7505700"/>
            <a:chOff x="0" y="0"/>
            <a:chExt cx="1768091" cy="1976810"/>
          </a:xfrm>
        </p:grpSpPr>
        <p:sp>
          <p:nvSpPr>
            <p:cNvPr name="Freeform 6" id="6"/>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7" id="7"/>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15190404" y="7275504"/>
            <a:ext cx="6950011" cy="69500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10" id="10"/>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7694080"/>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8400859"/>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806613" y="9107638"/>
            <a:ext cx="647546" cy="566602"/>
            <a:chOff x="0" y="0"/>
            <a:chExt cx="812800" cy="711200"/>
          </a:xfrm>
        </p:grpSpPr>
        <p:sp>
          <p:nvSpPr>
            <p:cNvPr name="Freeform 18" id="1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9" id="19"/>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sp>
        <p:nvSpPr>
          <p:cNvPr name="TextBox 20" id="20"/>
          <p:cNvSpPr txBox="true"/>
          <p:nvPr/>
        </p:nvSpPr>
        <p:spPr>
          <a:xfrm rot="0">
            <a:off x="1043396" y="1076325"/>
            <a:ext cx="7279198" cy="1096532"/>
          </a:xfrm>
          <a:prstGeom prst="rect">
            <a:avLst/>
          </a:prstGeom>
        </p:spPr>
        <p:txBody>
          <a:bodyPr anchor="t" rtlCol="false" tIns="0" lIns="0" bIns="0" rIns="0">
            <a:spAutoFit/>
          </a:bodyPr>
          <a:lstStyle/>
          <a:p>
            <a:pPr algn="l" marL="0" indent="0" lvl="0">
              <a:lnSpc>
                <a:spcPts val="7859"/>
              </a:lnSpc>
              <a:spcBef>
                <a:spcPct val="0"/>
              </a:spcBef>
            </a:pPr>
            <a:r>
              <a:rPr lang="en-US" b="true" sz="7556" spc="-438">
                <a:solidFill>
                  <a:srgbClr val="000000"/>
                </a:solidFill>
                <a:latin typeface="Poppins Bold"/>
                <a:ea typeface="Poppins Bold"/>
                <a:cs typeface="Poppins Bold"/>
                <a:sym typeface="Poppins Bold"/>
              </a:rPr>
              <a:t>OUR SOLUTION</a:t>
            </a:r>
          </a:p>
        </p:txBody>
      </p:sp>
      <p:grpSp>
        <p:nvGrpSpPr>
          <p:cNvPr name="Group 21" id="21"/>
          <p:cNvGrpSpPr/>
          <p:nvPr/>
        </p:nvGrpSpPr>
        <p:grpSpPr>
          <a:xfrm rot="0">
            <a:off x="632753" y="2838155"/>
            <a:ext cx="203751" cy="836307"/>
            <a:chOff x="0" y="0"/>
            <a:chExt cx="53663" cy="220262"/>
          </a:xfrm>
        </p:grpSpPr>
        <p:sp>
          <p:nvSpPr>
            <p:cNvPr name="Freeform 22" id="22"/>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23" id="23"/>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grpSp>
        <p:nvGrpSpPr>
          <p:cNvPr name="Group 24" id="24"/>
          <p:cNvGrpSpPr/>
          <p:nvPr/>
        </p:nvGrpSpPr>
        <p:grpSpPr>
          <a:xfrm rot="0">
            <a:off x="632753" y="4288248"/>
            <a:ext cx="17022494" cy="3198691"/>
            <a:chOff x="0" y="0"/>
            <a:chExt cx="6631238" cy="1246074"/>
          </a:xfrm>
        </p:grpSpPr>
        <p:sp>
          <p:nvSpPr>
            <p:cNvPr name="Freeform 25" id="25"/>
            <p:cNvSpPr/>
            <p:nvPr/>
          </p:nvSpPr>
          <p:spPr>
            <a:xfrm flipH="false" flipV="false" rot="0">
              <a:off x="0" y="0"/>
              <a:ext cx="6631238" cy="1246074"/>
            </a:xfrm>
            <a:custGeom>
              <a:avLst/>
              <a:gdLst/>
              <a:ahLst/>
              <a:cxnLst/>
              <a:rect r="r" b="b" t="t" l="l"/>
              <a:pathLst>
                <a:path h="1246074" w="6631238">
                  <a:moveTo>
                    <a:pt x="8641" y="0"/>
                  </a:moveTo>
                  <a:lnTo>
                    <a:pt x="6622597" y="0"/>
                  </a:lnTo>
                  <a:cubicBezTo>
                    <a:pt x="6624889" y="0"/>
                    <a:pt x="6627086" y="910"/>
                    <a:pt x="6628707" y="2531"/>
                  </a:cubicBezTo>
                  <a:cubicBezTo>
                    <a:pt x="6630327" y="4152"/>
                    <a:pt x="6631238" y="6349"/>
                    <a:pt x="6631238" y="8641"/>
                  </a:cubicBezTo>
                  <a:lnTo>
                    <a:pt x="6631238" y="1237432"/>
                  </a:lnTo>
                  <a:cubicBezTo>
                    <a:pt x="6631238" y="1239724"/>
                    <a:pt x="6630327" y="1241922"/>
                    <a:pt x="6628707" y="1243543"/>
                  </a:cubicBezTo>
                  <a:cubicBezTo>
                    <a:pt x="6627086" y="1245163"/>
                    <a:pt x="6624889" y="1246074"/>
                    <a:pt x="6622597" y="1246074"/>
                  </a:cubicBezTo>
                  <a:lnTo>
                    <a:pt x="8641" y="1246074"/>
                  </a:lnTo>
                  <a:cubicBezTo>
                    <a:pt x="6349" y="1246074"/>
                    <a:pt x="4152" y="1245163"/>
                    <a:pt x="2531" y="1243543"/>
                  </a:cubicBezTo>
                  <a:cubicBezTo>
                    <a:pt x="910" y="1241922"/>
                    <a:pt x="0" y="1239724"/>
                    <a:pt x="0" y="1237432"/>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26" id="26"/>
            <p:cNvSpPr txBox="true"/>
            <p:nvPr/>
          </p:nvSpPr>
          <p:spPr>
            <a:xfrm>
              <a:off x="0" y="-66675"/>
              <a:ext cx="6631238" cy="1312749"/>
            </a:xfrm>
            <a:prstGeom prst="rect">
              <a:avLst/>
            </a:prstGeom>
          </p:spPr>
          <p:txBody>
            <a:bodyPr anchor="ctr" rtlCol="false" tIns="50800" lIns="50800" bIns="50800" rIns="50800"/>
            <a:lstStyle/>
            <a:p>
              <a:pPr algn="ctr">
                <a:lnSpc>
                  <a:spcPts val="3359"/>
                </a:lnSpc>
              </a:pPr>
            </a:p>
          </p:txBody>
        </p:sp>
      </p:grpSp>
      <p:sp>
        <p:nvSpPr>
          <p:cNvPr name="TextBox 27" id="27"/>
          <p:cNvSpPr txBox="true"/>
          <p:nvPr/>
        </p:nvSpPr>
        <p:spPr>
          <a:xfrm rot="0">
            <a:off x="1047305" y="2828636"/>
            <a:ext cx="16211995" cy="883920"/>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4REAL - ADVANCED AI PLAGIARISM DETECTION</a:t>
            </a:r>
          </a:p>
        </p:txBody>
      </p:sp>
      <p:sp>
        <p:nvSpPr>
          <p:cNvPr name="TextBox 28" id="28"/>
          <p:cNvSpPr txBox="true"/>
          <p:nvPr/>
        </p:nvSpPr>
        <p:spPr>
          <a:xfrm rot="0">
            <a:off x="836504" y="4458791"/>
            <a:ext cx="16478508" cy="2832101"/>
          </a:xfrm>
          <a:prstGeom prst="rect">
            <a:avLst/>
          </a:prstGeom>
        </p:spPr>
        <p:txBody>
          <a:bodyPr anchor="t" rtlCol="false" tIns="0" lIns="0" bIns="0" rIns="0">
            <a:spAutoFit/>
          </a:bodyPr>
          <a:lstStyle/>
          <a:p>
            <a:pPr algn="just" marL="0" indent="0" lvl="0">
              <a:lnSpc>
                <a:spcPts val="5599"/>
              </a:lnSpc>
              <a:spcBef>
                <a:spcPct val="0"/>
              </a:spcBef>
            </a:pPr>
            <a:r>
              <a:rPr lang="en-US" sz="3999" spc="-223">
                <a:solidFill>
                  <a:srgbClr val="000000"/>
                </a:solidFill>
                <a:latin typeface="Poppins"/>
                <a:ea typeface="Poppins"/>
                <a:cs typeface="Poppins"/>
                <a:sym typeface="Poppins"/>
              </a:rPr>
              <a:t>An intelligent AI-powered plagiarism detection system that combines cutting-edge NLP techniques to accurately identify document similarities, including both ex</a:t>
            </a:r>
            <a:r>
              <a:rPr lang="en-US" sz="3999" spc="-223">
                <a:solidFill>
                  <a:srgbClr val="000000"/>
                </a:solidFill>
                <a:latin typeface="Poppins"/>
                <a:ea typeface="Poppins"/>
                <a:cs typeface="Poppins"/>
                <a:sym typeface="Poppins"/>
              </a:rPr>
              <a:t>ac</a:t>
            </a:r>
            <a:r>
              <a:rPr lang="en-US" sz="3999" spc="-223">
                <a:solidFill>
                  <a:srgbClr val="000000"/>
                </a:solidFill>
                <a:latin typeface="Poppins"/>
                <a:ea typeface="Poppins"/>
                <a:cs typeface="Poppins"/>
                <a:sym typeface="Poppins"/>
              </a:rPr>
              <a:t>t copy</a:t>
            </a:r>
            <a:r>
              <a:rPr lang="en-US" sz="3999" spc="-223">
                <a:solidFill>
                  <a:srgbClr val="000000"/>
                </a:solidFill>
                <a:latin typeface="Poppins"/>
                <a:ea typeface="Poppins"/>
                <a:cs typeface="Poppins"/>
                <a:sym typeface="Poppins"/>
              </a:rPr>
              <a:t>i</a:t>
            </a:r>
            <a:r>
              <a:rPr lang="en-US" sz="3999" spc="-223">
                <a:solidFill>
                  <a:srgbClr val="000000"/>
                </a:solidFill>
                <a:latin typeface="Poppins"/>
                <a:ea typeface="Poppins"/>
                <a:cs typeface="Poppins"/>
                <a:sym typeface="Poppins"/>
              </a:rPr>
              <a:t>ng</a:t>
            </a:r>
            <a:r>
              <a:rPr lang="en-US" sz="3999" spc="-223">
                <a:solidFill>
                  <a:srgbClr val="000000"/>
                </a:solidFill>
                <a:latin typeface="Poppins"/>
                <a:ea typeface="Poppins"/>
                <a:cs typeface="Poppins"/>
                <a:sym typeface="Poppins"/>
              </a:rPr>
              <a:t> and </a:t>
            </a:r>
            <a:r>
              <a:rPr lang="en-US" sz="3999" spc="-223">
                <a:solidFill>
                  <a:srgbClr val="000000"/>
                </a:solidFill>
                <a:latin typeface="Poppins"/>
                <a:ea typeface="Poppins"/>
                <a:cs typeface="Poppins"/>
                <a:sym typeface="Poppins"/>
              </a:rPr>
              <a:t>s</a:t>
            </a:r>
            <a:r>
              <a:rPr lang="en-US" sz="3999" spc="-223">
                <a:solidFill>
                  <a:srgbClr val="000000"/>
                </a:solidFill>
                <a:latin typeface="Poppins"/>
                <a:ea typeface="Poppins"/>
                <a:cs typeface="Poppins"/>
                <a:sym typeface="Poppins"/>
              </a:rPr>
              <a:t>o</a:t>
            </a:r>
            <a:r>
              <a:rPr lang="en-US" sz="3999" spc="-223">
                <a:solidFill>
                  <a:srgbClr val="000000"/>
                </a:solidFill>
                <a:latin typeface="Poppins"/>
                <a:ea typeface="Poppins"/>
                <a:cs typeface="Poppins"/>
                <a:sym typeface="Poppins"/>
              </a:rPr>
              <a:t>phi</a:t>
            </a:r>
            <a:r>
              <a:rPr lang="en-US" sz="3999" spc="-223">
                <a:solidFill>
                  <a:srgbClr val="000000"/>
                </a:solidFill>
                <a:latin typeface="Poppins"/>
                <a:ea typeface="Poppins"/>
                <a:cs typeface="Poppins"/>
                <a:sym typeface="Poppins"/>
              </a:rPr>
              <a:t>s</a:t>
            </a:r>
            <a:r>
              <a:rPr lang="en-US" sz="3999" spc="-223">
                <a:solidFill>
                  <a:srgbClr val="000000"/>
                </a:solidFill>
                <a:latin typeface="Poppins"/>
                <a:ea typeface="Poppins"/>
                <a:cs typeface="Poppins"/>
                <a:sym typeface="Poppins"/>
              </a:rPr>
              <a:t>t</a:t>
            </a:r>
            <a:r>
              <a:rPr lang="en-US" sz="3999" spc="-223">
                <a:solidFill>
                  <a:srgbClr val="000000"/>
                </a:solidFill>
                <a:latin typeface="Poppins"/>
                <a:ea typeface="Poppins"/>
                <a:cs typeface="Poppins"/>
                <a:sym typeface="Poppins"/>
              </a:rPr>
              <a:t>i</a:t>
            </a:r>
            <a:r>
              <a:rPr lang="en-US" sz="3999" spc="-223">
                <a:solidFill>
                  <a:srgbClr val="000000"/>
                </a:solidFill>
                <a:latin typeface="Poppins"/>
                <a:ea typeface="Poppins"/>
                <a:cs typeface="Poppins"/>
                <a:sym typeface="Poppins"/>
              </a:rPr>
              <a:t>c</a:t>
            </a:r>
            <a:r>
              <a:rPr lang="en-US" sz="3999" spc="-223">
                <a:solidFill>
                  <a:srgbClr val="000000"/>
                </a:solidFill>
                <a:latin typeface="Poppins"/>
                <a:ea typeface="Poppins"/>
                <a:cs typeface="Poppins"/>
                <a:sym typeface="Poppins"/>
              </a:rPr>
              <a:t>a</a:t>
            </a:r>
            <a:r>
              <a:rPr lang="en-US" sz="3999" spc="-223">
                <a:solidFill>
                  <a:srgbClr val="000000"/>
                </a:solidFill>
                <a:latin typeface="Poppins"/>
                <a:ea typeface="Poppins"/>
                <a:cs typeface="Poppins"/>
                <a:sym typeface="Poppins"/>
              </a:rPr>
              <a:t>ted</a:t>
            </a:r>
            <a:r>
              <a:rPr lang="en-US" sz="3999" spc="-223">
                <a:solidFill>
                  <a:srgbClr val="000000"/>
                </a:solidFill>
                <a:latin typeface="Poppins"/>
                <a:ea typeface="Poppins"/>
                <a:cs typeface="Poppins"/>
                <a:sym typeface="Poppins"/>
              </a:rPr>
              <a:t> </a:t>
            </a:r>
            <a:r>
              <a:rPr lang="en-US" sz="3999" spc="-223">
                <a:solidFill>
                  <a:srgbClr val="000000"/>
                </a:solidFill>
                <a:latin typeface="Poppins"/>
                <a:ea typeface="Poppins"/>
                <a:cs typeface="Poppins"/>
                <a:sym typeface="Poppins"/>
              </a:rPr>
              <a:t>paraphra</a:t>
            </a:r>
            <a:r>
              <a:rPr lang="en-US" sz="3999" spc="-223">
                <a:solidFill>
                  <a:srgbClr val="000000"/>
                </a:solidFill>
                <a:latin typeface="Poppins"/>
                <a:ea typeface="Poppins"/>
                <a:cs typeface="Poppins"/>
                <a:sym typeface="Poppins"/>
              </a:rPr>
              <a:t>sing</a:t>
            </a:r>
            <a:r>
              <a:rPr lang="en-US" sz="3999" spc="-223">
                <a:solidFill>
                  <a:srgbClr val="000000"/>
                </a:solidFill>
                <a:latin typeface="Poppins"/>
                <a:ea typeface="Poppins"/>
                <a:cs typeface="Poppins"/>
                <a:sym typeface="Poppins"/>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660870" y="746875"/>
            <a:ext cx="8483130" cy="4396625"/>
            <a:chOff x="0" y="0"/>
            <a:chExt cx="1898431" cy="983916"/>
          </a:xfrm>
        </p:grpSpPr>
        <p:sp>
          <p:nvSpPr>
            <p:cNvPr name="Freeform 3" id="3"/>
            <p:cNvSpPr/>
            <p:nvPr/>
          </p:nvSpPr>
          <p:spPr>
            <a:xfrm flipH="false" flipV="false" rot="0">
              <a:off x="0" y="0"/>
              <a:ext cx="1898431" cy="983916"/>
            </a:xfrm>
            <a:custGeom>
              <a:avLst/>
              <a:gdLst/>
              <a:ahLst/>
              <a:cxnLst/>
              <a:rect r="r" b="b" t="t" l="l"/>
              <a:pathLst>
                <a:path h="983916" w="1898431">
                  <a:moveTo>
                    <a:pt x="46544" y="0"/>
                  </a:moveTo>
                  <a:lnTo>
                    <a:pt x="1851887" y="0"/>
                  </a:lnTo>
                  <a:cubicBezTo>
                    <a:pt x="1864232" y="0"/>
                    <a:pt x="1876070" y="4904"/>
                    <a:pt x="1884799" y="13632"/>
                  </a:cubicBezTo>
                  <a:cubicBezTo>
                    <a:pt x="1893527" y="22361"/>
                    <a:pt x="1898431" y="34200"/>
                    <a:pt x="1898431" y="46544"/>
                  </a:cubicBezTo>
                  <a:lnTo>
                    <a:pt x="1898431" y="937373"/>
                  </a:lnTo>
                  <a:cubicBezTo>
                    <a:pt x="1898431" y="949717"/>
                    <a:pt x="1893527" y="961555"/>
                    <a:pt x="1884799" y="970284"/>
                  </a:cubicBezTo>
                  <a:cubicBezTo>
                    <a:pt x="1876070" y="979013"/>
                    <a:pt x="1864232" y="983916"/>
                    <a:pt x="1851887" y="983916"/>
                  </a:cubicBezTo>
                  <a:lnTo>
                    <a:pt x="46544" y="983916"/>
                  </a:lnTo>
                  <a:cubicBezTo>
                    <a:pt x="34200" y="983916"/>
                    <a:pt x="22361" y="979013"/>
                    <a:pt x="13632" y="970284"/>
                  </a:cubicBezTo>
                  <a:cubicBezTo>
                    <a:pt x="4904" y="961555"/>
                    <a:pt x="0" y="949717"/>
                    <a:pt x="0" y="937373"/>
                  </a:cubicBezTo>
                  <a:lnTo>
                    <a:pt x="0" y="46544"/>
                  </a:lnTo>
                  <a:cubicBezTo>
                    <a:pt x="0" y="34200"/>
                    <a:pt x="4904" y="22361"/>
                    <a:pt x="13632" y="13632"/>
                  </a:cubicBezTo>
                  <a:cubicBezTo>
                    <a:pt x="22361" y="4904"/>
                    <a:pt x="34200" y="0"/>
                    <a:pt x="46544" y="0"/>
                  </a:cubicBezTo>
                  <a:close/>
                </a:path>
              </a:pathLst>
            </a:custGeom>
            <a:solidFill>
              <a:srgbClr val="7281FE"/>
            </a:solidFill>
          </p:spPr>
        </p:sp>
        <p:sp>
          <p:nvSpPr>
            <p:cNvPr name="TextBox 4" id="4"/>
            <p:cNvSpPr txBox="true"/>
            <p:nvPr/>
          </p:nvSpPr>
          <p:spPr>
            <a:xfrm>
              <a:off x="0" y="-66675"/>
              <a:ext cx="1898431" cy="1050591"/>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true" rot="-1124325">
            <a:off x="7894407" y="-95747"/>
            <a:ext cx="12137678" cy="12316831"/>
          </a:xfrm>
          <a:custGeom>
            <a:avLst/>
            <a:gdLst/>
            <a:ahLst/>
            <a:cxnLst/>
            <a:rect r="r" b="b" t="t" l="l"/>
            <a:pathLst>
              <a:path h="12316831" w="12137678">
                <a:moveTo>
                  <a:pt x="0" y="12316831"/>
                </a:moveTo>
                <a:lnTo>
                  <a:pt x="12137678" y="12316831"/>
                </a:lnTo>
                <a:lnTo>
                  <a:pt x="12137678" y="0"/>
                </a:lnTo>
                <a:lnTo>
                  <a:pt x="0" y="0"/>
                </a:lnTo>
                <a:lnTo>
                  <a:pt x="0" y="1231683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2919406"/>
            <a:ext cx="4864215" cy="48642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sp>
        <p:nvSpPr>
          <p:cNvPr name="TextBox 9" id="9"/>
          <p:cNvSpPr txBox="true"/>
          <p:nvPr/>
        </p:nvSpPr>
        <p:spPr>
          <a:xfrm rot="0">
            <a:off x="1028700" y="835900"/>
            <a:ext cx="7836936" cy="4115786"/>
          </a:xfrm>
          <a:prstGeom prst="rect">
            <a:avLst/>
          </a:prstGeom>
        </p:spPr>
        <p:txBody>
          <a:bodyPr anchor="t" rtlCol="false" tIns="0" lIns="0" bIns="0" rIns="0">
            <a:spAutoFit/>
          </a:bodyPr>
          <a:lstStyle/>
          <a:p>
            <a:pPr algn="just">
              <a:lnSpc>
                <a:spcPts val="3620"/>
              </a:lnSpc>
            </a:pPr>
            <a:r>
              <a:rPr lang="en-US" b="true" sz="2586" spc="-144">
                <a:solidFill>
                  <a:srgbClr val="000000"/>
                </a:solidFill>
                <a:latin typeface="Poppins Bold"/>
                <a:ea typeface="Poppins Bold"/>
                <a:cs typeface="Poppins Bold"/>
                <a:sym typeface="Poppins Bold"/>
              </a:rPr>
              <a:t>Hybrid Detection Approach (TF-IDF + BERT)</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TF-IDF Algorithm (40% weight): Analyzes word frequency and exact matches</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BERT AI Model (60% weight): Understands semantic meaning and detects paraphrased content</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Result: Catches both direct plagiarism and rephrased plagiarism that other </a:t>
            </a:r>
          </a:p>
          <a:p>
            <a:pPr algn="just">
              <a:lnSpc>
                <a:spcPts val="3620"/>
              </a:lnSpc>
            </a:pPr>
            <a:r>
              <a:rPr lang="en-US" sz="2586" spc="-144">
                <a:solidFill>
                  <a:srgbClr val="000000"/>
                </a:solidFill>
                <a:latin typeface="Poppins"/>
                <a:ea typeface="Poppins"/>
                <a:cs typeface="Poppins"/>
                <a:sym typeface="Poppins"/>
              </a:rPr>
              <a:t>        </a:t>
            </a:r>
            <a:r>
              <a:rPr lang="en-US" sz="2586" spc="-144">
                <a:solidFill>
                  <a:srgbClr val="000000"/>
                </a:solidFill>
                <a:latin typeface="Poppins"/>
                <a:ea typeface="Poppins"/>
                <a:cs typeface="Poppins"/>
                <a:sym typeface="Poppins"/>
              </a:rPr>
              <a:t>tools miss</a:t>
            </a:r>
          </a:p>
        </p:txBody>
      </p:sp>
      <p:grpSp>
        <p:nvGrpSpPr>
          <p:cNvPr name="Group 10" id="10"/>
          <p:cNvGrpSpPr/>
          <p:nvPr/>
        </p:nvGrpSpPr>
        <p:grpSpPr>
          <a:xfrm rot="0">
            <a:off x="660870" y="5443312"/>
            <a:ext cx="8483130" cy="4333020"/>
            <a:chOff x="0" y="0"/>
            <a:chExt cx="1898431" cy="969682"/>
          </a:xfrm>
        </p:grpSpPr>
        <p:sp>
          <p:nvSpPr>
            <p:cNvPr name="Freeform 11" id="11"/>
            <p:cNvSpPr/>
            <p:nvPr/>
          </p:nvSpPr>
          <p:spPr>
            <a:xfrm flipH="false" flipV="false" rot="0">
              <a:off x="0" y="0"/>
              <a:ext cx="1898431" cy="969682"/>
            </a:xfrm>
            <a:custGeom>
              <a:avLst/>
              <a:gdLst/>
              <a:ahLst/>
              <a:cxnLst/>
              <a:rect r="r" b="b" t="t" l="l"/>
              <a:pathLst>
                <a:path h="969682" w="1898431">
                  <a:moveTo>
                    <a:pt x="46544" y="0"/>
                  </a:moveTo>
                  <a:lnTo>
                    <a:pt x="1851887" y="0"/>
                  </a:lnTo>
                  <a:cubicBezTo>
                    <a:pt x="1864232" y="0"/>
                    <a:pt x="1876070" y="4904"/>
                    <a:pt x="1884799" y="13632"/>
                  </a:cubicBezTo>
                  <a:cubicBezTo>
                    <a:pt x="1893527" y="22361"/>
                    <a:pt x="1898431" y="34200"/>
                    <a:pt x="1898431" y="46544"/>
                  </a:cubicBezTo>
                  <a:lnTo>
                    <a:pt x="1898431" y="923138"/>
                  </a:lnTo>
                  <a:cubicBezTo>
                    <a:pt x="1898431" y="935483"/>
                    <a:pt x="1893527" y="947321"/>
                    <a:pt x="1884799" y="956050"/>
                  </a:cubicBezTo>
                  <a:cubicBezTo>
                    <a:pt x="1876070" y="964779"/>
                    <a:pt x="1864232" y="969682"/>
                    <a:pt x="1851887" y="969682"/>
                  </a:cubicBezTo>
                  <a:lnTo>
                    <a:pt x="46544" y="969682"/>
                  </a:lnTo>
                  <a:cubicBezTo>
                    <a:pt x="34200" y="969682"/>
                    <a:pt x="22361" y="964779"/>
                    <a:pt x="13632" y="956050"/>
                  </a:cubicBezTo>
                  <a:cubicBezTo>
                    <a:pt x="4904" y="947321"/>
                    <a:pt x="0" y="935483"/>
                    <a:pt x="0" y="923138"/>
                  </a:cubicBezTo>
                  <a:lnTo>
                    <a:pt x="0" y="46544"/>
                  </a:lnTo>
                  <a:cubicBezTo>
                    <a:pt x="0" y="34200"/>
                    <a:pt x="4904" y="22361"/>
                    <a:pt x="13632" y="13632"/>
                  </a:cubicBezTo>
                  <a:cubicBezTo>
                    <a:pt x="22361" y="4904"/>
                    <a:pt x="34200" y="0"/>
                    <a:pt x="46544" y="0"/>
                  </a:cubicBezTo>
                  <a:close/>
                </a:path>
              </a:pathLst>
            </a:custGeom>
            <a:solidFill>
              <a:srgbClr val="FEB389"/>
            </a:solidFill>
          </p:spPr>
        </p:sp>
        <p:sp>
          <p:nvSpPr>
            <p:cNvPr name="TextBox 12" id="12"/>
            <p:cNvSpPr txBox="true"/>
            <p:nvPr/>
          </p:nvSpPr>
          <p:spPr>
            <a:xfrm>
              <a:off x="0" y="-66675"/>
              <a:ext cx="1898431" cy="1036357"/>
            </a:xfrm>
            <a:prstGeom prst="rect">
              <a:avLst/>
            </a:prstGeom>
          </p:spPr>
          <p:txBody>
            <a:bodyPr anchor="ctr" rtlCol="false" tIns="50800" lIns="50800" bIns="50800" rIns="50800"/>
            <a:lstStyle/>
            <a:p>
              <a:pPr algn="ctr">
                <a:lnSpc>
                  <a:spcPts val="2800"/>
                </a:lnSpc>
              </a:pPr>
            </a:p>
          </p:txBody>
        </p:sp>
      </p:grpSp>
      <p:grpSp>
        <p:nvGrpSpPr>
          <p:cNvPr name="Group 13" id="13"/>
          <p:cNvGrpSpPr/>
          <p:nvPr/>
        </p:nvGrpSpPr>
        <p:grpSpPr>
          <a:xfrm rot="0">
            <a:off x="9604569" y="746875"/>
            <a:ext cx="8050677" cy="4396625"/>
            <a:chOff x="0" y="0"/>
            <a:chExt cx="1801653" cy="983916"/>
          </a:xfrm>
        </p:grpSpPr>
        <p:sp>
          <p:nvSpPr>
            <p:cNvPr name="Freeform 14" id="14"/>
            <p:cNvSpPr/>
            <p:nvPr/>
          </p:nvSpPr>
          <p:spPr>
            <a:xfrm flipH="false" flipV="false" rot="0">
              <a:off x="0" y="0"/>
              <a:ext cx="1801653" cy="983916"/>
            </a:xfrm>
            <a:custGeom>
              <a:avLst/>
              <a:gdLst/>
              <a:ahLst/>
              <a:cxnLst/>
              <a:rect r="r" b="b" t="t" l="l"/>
              <a:pathLst>
                <a:path h="983916" w="1801653">
                  <a:moveTo>
                    <a:pt x="49044" y="0"/>
                  </a:moveTo>
                  <a:lnTo>
                    <a:pt x="1752609" y="0"/>
                  </a:lnTo>
                  <a:cubicBezTo>
                    <a:pt x="1765616" y="0"/>
                    <a:pt x="1778091" y="5167"/>
                    <a:pt x="1787289" y="14365"/>
                  </a:cubicBezTo>
                  <a:cubicBezTo>
                    <a:pt x="1796486" y="23562"/>
                    <a:pt x="1801653" y="36037"/>
                    <a:pt x="1801653" y="49044"/>
                  </a:cubicBezTo>
                  <a:lnTo>
                    <a:pt x="1801653" y="934872"/>
                  </a:lnTo>
                  <a:cubicBezTo>
                    <a:pt x="1801653" y="947880"/>
                    <a:pt x="1796486" y="960354"/>
                    <a:pt x="1787289" y="969552"/>
                  </a:cubicBezTo>
                  <a:cubicBezTo>
                    <a:pt x="1778091" y="978749"/>
                    <a:pt x="1765616" y="983916"/>
                    <a:pt x="1752609" y="983916"/>
                  </a:cubicBezTo>
                  <a:lnTo>
                    <a:pt x="49044" y="983916"/>
                  </a:lnTo>
                  <a:cubicBezTo>
                    <a:pt x="36037" y="983916"/>
                    <a:pt x="23562" y="978749"/>
                    <a:pt x="14365" y="969552"/>
                  </a:cubicBezTo>
                  <a:cubicBezTo>
                    <a:pt x="5167" y="960354"/>
                    <a:pt x="0" y="947880"/>
                    <a:pt x="0" y="934872"/>
                  </a:cubicBezTo>
                  <a:lnTo>
                    <a:pt x="0" y="49044"/>
                  </a:lnTo>
                  <a:cubicBezTo>
                    <a:pt x="0" y="36037"/>
                    <a:pt x="5167" y="23562"/>
                    <a:pt x="14365" y="14365"/>
                  </a:cubicBezTo>
                  <a:cubicBezTo>
                    <a:pt x="23562" y="5167"/>
                    <a:pt x="36037" y="0"/>
                    <a:pt x="49044" y="0"/>
                  </a:cubicBezTo>
                  <a:close/>
                </a:path>
              </a:pathLst>
            </a:custGeom>
            <a:solidFill>
              <a:srgbClr val="FFA9DC"/>
            </a:solidFill>
          </p:spPr>
        </p:sp>
        <p:sp>
          <p:nvSpPr>
            <p:cNvPr name="TextBox 15" id="15"/>
            <p:cNvSpPr txBox="true"/>
            <p:nvPr/>
          </p:nvSpPr>
          <p:spPr>
            <a:xfrm>
              <a:off x="0" y="-66675"/>
              <a:ext cx="1801653" cy="1050591"/>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9604569" y="5379707"/>
            <a:ext cx="8050677" cy="4396625"/>
            <a:chOff x="0" y="0"/>
            <a:chExt cx="1801653" cy="983916"/>
          </a:xfrm>
        </p:grpSpPr>
        <p:sp>
          <p:nvSpPr>
            <p:cNvPr name="Freeform 17" id="17"/>
            <p:cNvSpPr/>
            <p:nvPr/>
          </p:nvSpPr>
          <p:spPr>
            <a:xfrm flipH="false" flipV="false" rot="0">
              <a:off x="0" y="0"/>
              <a:ext cx="1801653" cy="983916"/>
            </a:xfrm>
            <a:custGeom>
              <a:avLst/>
              <a:gdLst/>
              <a:ahLst/>
              <a:cxnLst/>
              <a:rect r="r" b="b" t="t" l="l"/>
              <a:pathLst>
                <a:path h="983916" w="1801653">
                  <a:moveTo>
                    <a:pt x="49044" y="0"/>
                  </a:moveTo>
                  <a:lnTo>
                    <a:pt x="1752609" y="0"/>
                  </a:lnTo>
                  <a:cubicBezTo>
                    <a:pt x="1765616" y="0"/>
                    <a:pt x="1778091" y="5167"/>
                    <a:pt x="1787289" y="14365"/>
                  </a:cubicBezTo>
                  <a:cubicBezTo>
                    <a:pt x="1796486" y="23562"/>
                    <a:pt x="1801653" y="36037"/>
                    <a:pt x="1801653" y="49044"/>
                  </a:cubicBezTo>
                  <a:lnTo>
                    <a:pt x="1801653" y="934872"/>
                  </a:lnTo>
                  <a:cubicBezTo>
                    <a:pt x="1801653" y="947880"/>
                    <a:pt x="1796486" y="960354"/>
                    <a:pt x="1787289" y="969552"/>
                  </a:cubicBezTo>
                  <a:cubicBezTo>
                    <a:pt x="1778091" y="978749"/>
                    <a:pt x="1765616" y="983916"/>
                    <a:pt x="1752609" y="983916"/>
                  </a:cubicBezTo>
                  <a:lnTo>
                    <a:pt x="49044" y="983916"/>
                  </a:lnTo>
                  <a:cubicBezTo>
                    <a:pt x="36037" y="983916"/>
                    <a:pt x="23562" y="978749"/>
                    <a:pt x="14365" y="969552"/>
                  </a:cubicBezTo>
                  <a:cubicBezTo>
                    <a:pt x="5167" y="960354"/>
                    <a:pt x="0" y="947880"/>
                    <a:pt x="0" y="934872"/>
                  </a:cubicBezTo>
                  <a:lnTo>
                    <a:pt x="0" y="49044"/>
                  </a:lnTo>
                  <a:cubicBezTo>
                    <a:pt x="0" y="36037"/>
                    <a:pt x="5167" y="23562"/>
                    <a:pt x="14365" y="14365"/>
                  </a:cubicBezTo>
                  <a:cubicBezTo>
                    <a:pt x="23562" y="5167"/>
                    <a:pt x="36037" y="0"/>
                    <a:pt x="49044" y="0"/>
                  </a:cubicBezTo>
                  <a:close/>
                </a:path>
              </a:pathLst>
            </a:custGeom>
            <a:solidFill>
              <a:srgbClr val="D572FE"/>
            </a:solidFill>
          </p:spPr>
        </p:sp>
        <p:sp>
          <p:nvSpPr>
            <p:cNvPr name="TextBox 18" id="18"/>
            <p:cNvSpPr txBox="true"/>
            <p:nvPr/>
          </p:nvSpPr>
          <p:spPr>
            <a:xfrm>
              <a:off x="0" y="-66675"/>
              <a:ext cx="1801653" cy="1050591"/>
            </a:xfrm>
            <a:prstGeom prst="rect">
              <a:avLst/>
            </a:prstGeom>
          </p:spPr>
          <p:txBody>
            <a:bodyPr anchor="ctr" rtlCol="false" tIns="50800" lIns="50800" bIns="50800" rIns="50800"/>
            <a:lstStyle/>
            <a:p>
              <a:pPr algn="ctr">
                <a:lnSpc>
                  <a:spcPts val="2800"/>
                </a:lnSpc>
              </a:pPr>
            </a:p>
          </p:txBody>
        </p:sp>
      </p:grpSp>
      <p:grpSp>
        <p:nvGrpSpPr>
          <p:cNvPr name="Group 19" id="19"/>
          <p:cNvGrpSpPr/>
          <p:nvPr/>
        </p:nvGrpSpPr>
        <p:grpSpPr>
          <a:xfrm rot="0">
            <a:off x="6621278" y="4344626"/>
            <a:ext cx="5487722" cy="2070161"/>
            <a:chOff x="0" y="0"/>
            <a:chExt cx="7316963" cy="2760214"/>
          </a:xfrm>
        </p:grpSpPr>
        <p:grpSp>
          <p:nvGrpSpPr>
            <p:cNvPr name="Group 20" id="20"/>
            <p:cNvGrpSpPr/>
            <p:nvPr/>
          </p:nvGrpSpPr>
          <p:grpSpPr>
            <a:xfrm rot="0">
              <a:off x="0" y="0"/>
              <a:ext cx="7316963" cy="2760214"/>
              <a:chOff x="0" y="0"/>
              <a:chExt cx="1228092" cy="463279"/>
            </a:xfrm>
          </p:grpSpPr>
          <p:sp>
            <p:nvSpPr>
              <p:cNvPr name="Freeform 21" id="21"/>
              <p:cNvSpPr/>
              <p:nvPr/>
            </p:nvSpPr>
            <p:spPr>
              <a:xfrm flipH="false" flipV="false" rot="0">
                <a:off x="0" y="0"/>
                <a:ext cx="1228092" cy="463279"/>
              </a:xfrm>
              <a:custGeom>
                <a:avLst/>
                <a:gdLst/>
                <a:ahLst/>
                <a:cxnLst/>
                <a:rect r="r" b="b" t="t" l="l"/>
                <a:pathLst>
                  <a:path h="463279" w="1228092">
                    <a:moveTo>
                      <a:pt x="71949" y="0"/>
                    </a:moveTo>
                    <a:lnTo>
                      <a:pt x="1156143" y="0"/>
                    </a:lnTo>
                    <a:cubicBezTo>
                      <a:pt x="1175225" y="0"/>
                      <a:pt x="1193525" y="7580"/>
                      <a:pt x="1207019" y="21073"/>
                    </a:cubicBezTo>
                    <a:cubicBezTo>
                      <a:pt x="1220512" y="34567"/>
                      <a:pt x="1228092" y="52867"/>
                      <a:pt x="1228092" y="71949"/>
                    </a:cubicBezTo>
                    <a:lnTo>
                      <a:pt x="1228092" y="391330"/>
                    </a:lnTo>
                    <a:cubicBezTo>
                      <a:pt x="1228092" y="431066"/>
                      <a:pt x="1195879" y="463279"/>
                      <a:pt x="1156143" y="463279"/>
                    </a:cubicBezTo>
                    <a:lnTo>
                      <a:pt x="71949" y="463279"/>
                    </a:lnTo>
                    <a:cubicBezTo>
                      <a:pt x="32213" y="463279"/>
                      <a:pt x="0" y="431066"/>
                      <a:pt x="0" y="391330"/>
                    </a:cubicBezTo>
                    <a:lnTo>
                      <a:pt x="0" y="71949"/>
                    </a:lnTo>
                    <a:cubicBezTo>
                      <a:pt x="0" y="52867"/>
                      <a:pt x="7580" y="34567"/>
                      <a:pt x="21073" y="21073"/>
                    </a:cubicBezTo>
                    <a:cubicBezTo>
                      <a:pt x="34567" y="7580"/>
                      <a:pt x="52867" y="0"/>
                      <a:pt x="71949" y="0"/>
                    </a:cubicBezTo>
                    <a:close/>
                  </a:path>
                </a:pathLst>
              </a:custGeom>
              <a:solidFill>
                <a:srgbClr val="FFFFFF"/>
              </a:solidFill>
            </p:spPr>
          </p:sp>
          <p:sp>
            <p:nvSpPr>
              <p:cNvPr name="TextBox 22" id="22"/>
              <p:cNvSpPr txBox="true"/>
              <p:nvPr/>
            </p:nvSpPr>
            <p:spPr>
              <a:xfrm>
                <a:off x="0" y="-66675"/>
                <a:ext cx="1228092" cy="529954"/>
              </a:xfrm>
              <a:prstGeom prst="rect">
                <a:avLst/>
              </a:prstGeom>
            </p:spPr>
            <p:txBody>
              <a:bodyPr anchor="ctr" rtlCol="false" tIns="50800" lIns="50800" bIns="50800" rIns="50800"/>
              <a:lstStyle/>
              <a:p>
                <a:pPr algn="ctr">
                  <a:lnSpc>
                    <a:spcPts val="2800"/>
                  </a:lnSpc>
                </a:pPr>
              </a:p>
            </p:txBody>
          </p:sp>
        </p:grpSp>
        <p:sp>
          <p:nvSpPr>
            <p:cNvPr name="TextBox 23" id="23"/>
            <p:cNvSpPr txBox="true"/>
            <p:nvPr/>
          </p:nvSpPr>
          <p:spPr>
            <a:xfrm rot="0">
              <a:off x="552051" y="368976"/>
              <a:ext cx="6212861" cy="2050838"/>
            </a:xfrm>
            <a:prstGeom prst="rect">
              <a:avLst/>
            </a:prstGeom>
          </p:spPr>
          <p:txBody>
            <a:bodyPr anchor="t" rtlCol="false" tIns="0" lIns="0" bIns="0" rIns="0">
              <a:spAutoFit/>
            </a:bodyPr>
            <a:lstStyle/>
            <a:p>
              <a:pPr algn="ctr" marL="0" indent="0" lvl="0">
                <a:lnSpc>
                  <a:spcPts val="5719"/>
                </a:lnSpc>
                <a:spcBef>
                  <a:spcPct val="0"/>
                </a:spcBef>
              </a:pPr>
              <a:r>
                <a:rPr lang="en-US" b="true" sz="5499" spc="-318">
                  <a:solidFill>
                    <a:srgbClr val="000000"/>
                  </a:solidFill>
                  <a:latin typeface="Poppins Bold"/>
                  <a:ea typeface="Poppins Bold"/>
                  <a:cs typeface="Poppins Bold"/>
                  <a:sym typeface="Poppins Bold"/>
                </a:rPr>
                <a:t>KEY FEATURES OF 4REAL</a:t>
              </a:r>
            </a:p>
          </p:txBody>
        </p:sp>
      </p:grpSp>
      <p:sp>
        <p:nvSpPr>
          <p:cNvPr name="TextBox 24" id="24"/>
          <p:cNvSpPr txBox="true"/>
          <p:nvPr/>
        </p:nvSpPr>
        <p:spPr>
          <a:xfrm rot="0">
            <a:off x="9745266" y="1065057"/>
            <a:ext cx="7514034" cy="3619373"/>
          </a:xfrm>
          <a:prstGeom prst="rect">
            <a:avLst/>
          </a:prstGeom>
        </p:spPr>
        <p:txBody>
          <a:bodyPr anchor="t" rtlCol="false" tIns="0" lIns="0" bIns="0" rIns="0">
            <a:spAutoFit/>
          </a:bodyPr>
          <a:lstStyle/>
          <a:p>
            <a:pPr algn="r">
              <a:lnSpc>
                <a:spcPts val="4732"/>
              </a:lnSpc>
            </a:pPr>
            <a:r>
              <a:rPr lang="en-US" b="true" sz="3380" spc="-189">
                <a:solidFill>
                  <a:srgbClr val="000000"/>
                </a:solidFill>
                <a:latin typeface="Poppins Bold"/>
                <a:ea typeface="Poppins Bold"/>
                <a:cs typeface="Poppins Bold"/>
                <a:sym typeface="Poppins Bold"/>
              </a:rPr>
              <a:t>AI-Powered Chatbot Assistant</a:t>
            </a:r>
          </a:p>
          <a:p>
            <a:pPr algn="just" marL="729743" indent="-364871" lvl="1">
              <a:lnSpc>
                <a:spcPts val="4732"/>
              </a:lnSpc>
              <a:buFont typeface="Arial"/>
              <a:buChar char="•"/>
            </a:pPr>
            <a:r>
              <a:rPr lang="en-US" sz="3380" spc="-189">
                <a:solidFill>
                  <a:srgbClr val="000000"/>
                </a:solidFill>
                <a:latin typeface="Poppins"/>
                <a:ea typeface="Poppins"/>
                <a:cs typeface="Poppins"/>
                <a:sym typeface="Poppins"/>
              </a:rPr>
              <a:t>Users can ask questions about how the system works</a:t>
            </a:r>
          </a:p>
          <a:p>
            <a:pPr algn="just" marL="729743" indent="-364871" lvl="1">
              <a:lnSpc>
                <a:spcPts val="4732"/>
              </a:lnSpc>
              <a:buFont typeface="Arial"/>
              <a:buChar char="•"/>
            </a:pPr>
            <a:r>
              <a:rPr lang="en-US" sz="3380" spc="-189">
                <a:solidFill>
                  <a:srgbClr val="000000"/>
                </a:solidFill>
                <a:latin typeface="Poppins"/>
                <a:ea typeface="Poppins"/>
                <a:cs typeface="Poppins"/>
                <a:sym typeface="Poppins"/>
              </a:rPr>
              <a:t>Provid</a:t>
            </a:r>
            <a:r>
              <a:rPr lang="en-US" sz="3380" spc="-189">
                <a:solidFill>
                  <a:srgbClr val="000000"/>
                </a:solidFill>
                <a:latin typeface="Poppins"/>
                <a:ea typeface="Poppins"/>
                <a:cs typeface="Poppins"/>
                <a:sym typeface="Poppins"/>
              </a:rPr>
              <a:t>es instant help and guidance</a:t>
            </a:r>
          </a:p>
          <a:p>
            <a:pPr algn="just" marL="729743" indent="-364871" lvl="1">
              <a:lnSpc>
                <a:spcPts val="4732"/>
              </a:lnSpc>
              <a:buFont typeface="Arial"/>
              <a:buChar char="•"/>
            </a:pPr>
            <a:r>
              <a:rPr lang="en-US" sz="3380" spc="-189">
                <a:solidFill>
                  <a:srgbClr val="000000"/>
                </a:solidFill>
                <a:latin typeface="Poppins"/>
                <a:ea typeface="Poppins"/>
                <a:cs typeface="Poppins"/>
                <a:sym typeface="Poppins"/>
              </a:rPr>
              <a:t>Improves user experience with                                                       </a:t>
            </a:r>
          </a:p>
          <a:p>
            <a:pPr algn="just">
              <a:lnSpc>
                <a:spcPts val="4732"/>
              </a:lnSpc>
            </a:pPr>
            <a:r>
              <a:rPr lang="en-US" sz="3380" spc="-189">
                <a:solidFill>
                  <a:srgbClr val="000000"/>
                </a:solidFill>
                <a:latin typeface="Poppins"/>
                <a:ea typeface="Poppins"/>
                <a:cs typeface="Poppins"/>
                <a:sym typeface="Poppins"/>
              </a:rPr>
              <a:t>                            </a:t>
            </a:r>
            <a:r>
              <a:rPr lang="en-US" sz="3380" spc="-189">
                <a:solidFill>
                  <a:srgbClr val="000000"/>
                </a:solidFill>
                <a:latin typeface="Poppins"/>
                <a:ea typeface="Poppins"/>
                <a:cs typeface="Poppins"/>
                <a:sym typeface="Poppins"/>
              </a:rPr>
              <a:t>conversational AI</a:t>
            </a:r>
          </a:p>
        </p:txBody>
      </p:sp>
      <p:sp>
        <p:nvSpPr>
          <p:cNvPr name="TextBox 25" id="25"/>
          <p:cNvSpPr txBox="true"/>
          <p:nvPr/>
        </p:nvSpPr>
        <p:spPr>
          <a:xfrm rot="0">
            <a:off x="1028700" y="5813231"/>
            <a:ext cx="7514034" cy="3497931"/>
          </a:xfrm>
          <a:prstGeom prst="rect">
            <a:avLst/>
          </a:prstGeom>
        </p:spPr>
        <p:txBody>
          <a:bodyPr anchor="t" rtlCol="false" tIns="0" lIns="0" bIns="0" rIns="0">
            <a:spAutoFit/>
          </a:bodyPr>
          <a:lstStyle/>
          <a:p>
            <a:pPr algn="l">
              <a:lnSpc>
                <a:spcPts val="4600"/>
              </a:lnSpc>
            </a:pPr>
            <a:r>
              <a:rPr lang="en-US" sz="3286" spc="-184" b="true">
                <a:solidFill>
                  <a:srgbClr val="000000"/>
                </a:solidFill>
                <a:latin typeface="Poppins Bold"/>
                <a:ea typeface="Poppins Bold"/>
                <a:cs typeface="Poppins Bold"/>
                <a:sym typeface="Poppins Bold"/>
              </a:rPr>
              <a:t>Beautiful, Intuitive Interface</a:t>
            </a:r>
          </a:p>
          <a:p>
            <a:pPr algn="l" marL="709482" indent="-354741" lvl="1">
              <a:lnSpc>
                <a:spcPts val="4600"/>
              </a:lnSpc>
              <a:buFont typeface="Arial"/>
              <a:buChar char="•"/>
            </a:pPr>
            <a:r>
              <a:rPr lang="en-US" sz="3286" spc="-184">
                <a:solidFill>
                  <a:srgbClr val="000000"/>
                </a:solidFill>
                <a:latin typeface="Poppins"/>
                <a:ea typeface="Poppins"/>
                <a:cs typeface="Poppins"/>
                <a:sym typeface="Poppins"/>
              </a:rPr>
              <a:t>Professional purple gradient design</a:t>
            </a:r>
          </a:p>
          <a:p>
            <a:pPr algn="l" marL="709482" indent="-354741" lvl="1">
              <a:lnSpc>
                <a:spcPts val="4600"/>
              </a:lnSpc>
              <a:buFont typeface="Arial"/>
              <a:buChar char="•"/>
            </a:pPr>
            <a:r>
              <a:rPr lang="en-US" sz="3286" spc="-184">
                <a:solidFill>
                  <a:srgbClr val="000000"/>
                </a:solidFill>
                <a:latin typeface="Poppins"/>
                <a:ea typeface="Poppins"/>
                <a:cs typeface="Poppins"/>
                <a:sym typeface="Poppins"/>
              </a:rPr>
              <a:t>Easy-to-use document comparison</a:t>
            </a:r>
          </a:p>
          <a:p>
            <a:pPr algn="l" marL="709482" indent="-354741" lvl="1">
              <a:lnSpc>
                <a:spcPts val="4600"/>
              </a:lnSpc>
              <a:buFont typeface="Arial"/>
              <a:buChar char="•"/>
            </a:pPr>
            <a:r>
              <a:rPr lang="en-US" sz="3286" spc="-184">
                <a:solidFill>
                  <a:srgbClr val="000000"/>
                </a:solidFill>
                <a:latin typeface="Poppins"/>
                <a:ea typeface="Poppins"/>
                <a:cs typeface="Poppins"/>
                <a:sym typeface="Poppins"/>
              </a:rPr>
              <a:t>Clear, color-coded results </a:t>
            </a:r>
          </a:p>
          <a:p>
            <a:pPr algn="l">
              <a:lnSpc>
                <a:spcPts val="4600"/>
              </a:lnSpc>
            </a:pPr>
            <a:r>
              <a:rPr lang="en-US" sz="3286" spc="-184">
                <a:solidFill>
                  <a:srgbClr val="000000"/>
                </a:solidFill>
                <a:latin typeface="Poppins"/>
                <a:ea typeface="Poppins"/>
                <a:cs typeface="Poppins"/>
                <a:sym typeface="Poppins"/>
              </a:rPr>
              <a:t>        </a:t>
            </a:r>
            <a:r>
              <a:rPr lang="en-US" sz="3286" spc="-184">
                <a:solidFill>
                  <a:srgbClr val="000000"/>
                </a:solidFill>
                <a:latin typeface="Poppins"/>
                <a:ea typeface="Poppins"/>
                <a:cs typeface="Poppins"/>
                <a:sym typeface="Poppins"/>
              </a:rPr>
              <a:t>(Green = Original, Blue = Low, </a:t>
            </a:r>
          </a:p>
          <a:p>
            <a:pPr algn="l">
              <a:lnSpc>
                <a:spcPts val="4600"/>
              </a:lnSpc>
            </a:pPr>
            <a:r>
              <a:rPr lang="en-US" sz="3286" spc="-184">
                <a:solidFill>
                  <a:srgbClr val="000000"/>
                </a:solidFill>
                <a:latin typeface="Poppins"/>
                <a:ea typeface="Poppins"/>
                <a:cs typeface="Poppins"/>
                <a:sym typeface="Poppins"/>
              </a:rPr>
              <a:t>        Orange = Moderate, Red = High)</a:t>
            </a:r>
          </a:p>
        </p:txBody>
      </p:sp>
      <p:sp>
        <p:nvSpPr>
          <p:cNvPr name="TextBox 26" id="26"/>
          <p:cNvSpPr txBox="true"/>
          <p:nvPr/>
        </p:nvSpPr>
        <p:spPr>
          <a:xfrm rot="0">
            <a:off x="9872891" y="5813231"/>
            <a:ext cx="7514034" cy="3721452"/>
          </a:xfrm>
          <a:prstGeom prst="rect">
            <a:avLst/>
          </a:prstGeom>
        </p:spPr>
        <p:txBody>
          <a:bodyPr anchor="t" rtlCol="false" tIns="0" lIns="0" bIns="0" rIns="0">
            <a:spAutoFit/>
          </a:bodyPr>
          <a:lstStyle/>
          <a:p>
            <a:pPr algn="r">
              <a:lnSpc>
                <a:spcPts val="4880"/>
              </a:lnSpc>
            </a:pPr>
            <a:r>
              <a:rPr lang="en-US" b="true" sz="3486" spc="-195">
                <a:solidFill>
                  <a:srgbClr val="000000"/>
                </a:solidFill>
                <a:latin typeface="Poppins Bold"/>
                <a:ea typeface="Poppins Bold"/>
                <a:cs typeface="Poppins Bold"/>
                <a:sym typeface="Poppins Bold"/>
              </a:rPr>
              <a:t>Free and Accessible</a:t>
            </a:r>
          </a:p>
          <a:p>
            <a:pPr algn="just" marL="752661" indent="-376331" lvl="1">
              <a:lnSpc>
                <a:spcPts val="4880"/>
              </a:lnSpc>
              <a:buFont typeface="Arial"/>
              <a:buChar char="•"/>
            </a:pPr>
            <a:r>
              <a:rPr lang="en-US" sz="3486" spc="-195">
                <a:solidFill>
                  <a:srgbClr val="000000"/>
                </a:solidFill>
                <a:latin typeface="Poppins"/>
                <a:ea typeface="Poppins"/>
                <a:cs typeface="Poppins"/>
                <a:sym typeface="Poppins"/>
              </a:rPr>
              <a:t>No subscription fees</a:t>
            </a:r>
          </a:p>
          <a:p>
            <a:pPr algn="just" marL="752661" indent="-376331" lvl="1">
              <a:lnSpc>
                <a:spcPts val="4880"/>
              </a:lnSpc>
              <a:buFont typeface="Arial"/>
              <a:buChar char="•"/>
            </a:pPr>
            <a:r>
              <a:rPr lang="en-US" sz="3486" spc="-195">
                <a:solidFill>
                  <a:srgbClr val="000000"/>
                </a:solidFill>
                <a:latin typeface="Poppins"/>
                <a:ea typeface="Poppins"/>
                <a:cs typeface="Poppins"/>
                <a:sym typeface="Poppins"/>
              </a:rPr>
              <a:t>Web-based platform accessible f</a:t>
            </a:r>
            <a:r>
              <a:rPr lang="en-US" sz="3486" spc="-195">
                <a:solidFill>
                  <a:srgbClr val="000000"/>
                </a:solidFill>
                <a:latin typeface="Poppins"/>
                <a:ea typeface="Poppins"/>
                <a:cs typeface="Poppins"/>
                <a:sym typeface="Poppins"/>
              </a:rPr>
              <a:t>rom</a:t>
            </a:r>
            <a:r>
              <a:rPr lang="en-US" sz="3486" spc="-195">
                <a:solidFill>
                  <a:srgbClr val="000000"/>
                </a:solidFill>
                <a:latin typeface="Poppins"/>
                <a:ea typeface="Poppins"/>
                <a:cs typeface="Poppins"/>
                <a:sym typeface="Poppins"/>
              </a:rPr>
              <a:t> any device</a:t>
            </a:r>
          </a:p>
          <a:p>
            <a:pPr algn="just" marL="752661" indent="-376331" lvl="1">
              <a:lnSpc>
                <a:spcPts val="4880"/>
              </a:lnSpc>
              <a:buFont typeface="Arial"/>
              <a:buChar char="•"/>
            </a:pPr>
            <a:r>
              <a:rPr lang="en-US" sz="3486" spc="-195">
                <a:solidFill>
                  <a:srgbClr val="000000"/>
                </a:solidFill>
                <a:latin typeface="Poppins"/>
                <a:ea typeface="Poppins"/>
                <a:cs typeface="Poppins"/>
                <a:sym typeface="Poppins"/>
              </a:rPr>
              <a:t>Fast </a:t>
            </a:r>
            <a:r>
              <a:rPr lang="en-US" sz="3486" spc="-195">
                <a:solidFill>
                  <a:srgbClr val="000000"/>
                </a:solidFill>
                <a:latin typeface="Poppins"/>
                <a:ea typeface="Poppins"/>
                <a:cs typeface="Poppins"/>
                <a:sym typeface="Poppins"/>
              </a:rPr>
              <a:t>processing (2-3 seconds per analysis)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454159" y="3411639"/>
            <a:ext cx="203751" cy="1863440"/>
            <a:chOff x="0" y="0"/>
            <a:chExt cx="53663" cy="490783"/>
          </a:xfrm>
        </p:grpSpPr>
        <p:sp>
          <p:nvSpPr>
            <p:cNvPr name="Freeform 3" id="3"/>
            <p:cNvSpPr/>
            <p:nvPr/>
          </p:nvSpPr>
          <p:spPr>
            <a:xfrm flipH="false" flipV="false" rot="0">
              <a:off x="0" y="0"/>
              <a:ext cx="53663" cy="490783"/>
            </a:xfrm>
            <a:custGeom>
              <a:avLst/>
              <a:gdLst/>
              <a:ahLst/>
              <a:cxnLst/>
              <a:rect r="r" b="b" t="t" l="l"/>
              <a:pathLst>
                <a:path h="490783" w="53663">
                  <a:moveTo>
                    <a:pt x="0" y="0"/>
                  </a:moveTo>
                  <a:lnTo>
                    <a:pt x="53663" y="0"/>
                  </a:lnTo>
                  <a:lnTo>
                    <a:pt x="53663" y="490783"/>
                  </a:lnTo>
                  <a:lnTo>
                    <a:pt x="0" y="490783"/>
                  </a:lnTo>
                  <a:close/>
                </a:path>
              </a:pathLst>
            </a:custGeom>
            <a:solidFill>
              <a:srgbClr val="7281FE"/>
            </a:solidFill>
          </p:spPr>
        </p:sp>
        <p:sp>
          <p:nvSpPr>
            <p:cNvPr name="TextBox 4" id="4"/>
            <p:cNvSpPr txBox="true"/>
            <p:nvPr/>
          </p:nvSpPr>
          <p:spPr>
            <a:xfrm>
              <a:off x="0" y="-66675"/>
              <a:ext cx="53663" cy="557458"/>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5553419" y="6719816"/>
            <a:ext cx="6713220" cy="7505700"/>
            <a:chOff x="0" y="0"/>
            <a:chExt cx="1768091" cy="1976810"/>
          </a:xfrm>
        </p:grpSpPr>
        <p:sp>
          <p:nvSpPr>
            <p:cNvPr name="Freeform 6" id="6"/>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7" id="7"/>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15190404" y="7275504"/>
            <a:ext cx="6950011" cy="69500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10" id="10"/>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7694080"/>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8400859"/>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806613" y="9107638"/>
            <a:ext cx="647546" cy="566602"/>
            <a:chOff x="0" y="0"/>
            <a:chExt cx="812800" cy="711200"/>
          </a:xfrm>
        </p:grpSpPr>
        <p:sp>
          <p:nvSpPr>
            <p:cNvPr name="Freeform 18" id="1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9" id="19"/>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sp>
        <p:nvSpPr>
          <p:cNvPr name="Freeform 20" id="20"/>
          <p:cNvSpPr/>
          <p:nvPr/>
        </p:nvSpPr>
        <p:spPr>
          <a:xfrm flipH="false" flipV="false" rot="0">
            <a:off x="8626978" y="6937611"/>
            <a:ext cx="2433673" cy="2433673"/>
          </a:xfrm>
          <a:custGeom>
            <a:avLst/>
            <a:gdLst/>
            <a:ahLst/>
            <a:cxnLst/>
            <a:rect r="r" b="b" t="t" l="l"/>
            <a:pathLst>
              <a:path h="2433673" w="2433673">
                <a:moveTo>
                  <a:pt x="0" y="0"/>
                </a:moveTo>
                <a:lnTo>
                  <a:pt x="2433673" y="0"/>
                </a:lnTo>
                <a:lnTo>
                  <a:pt x="2433673" y="2433674"/>
                </a:lnTo>
                <a:lnTo>
                  <a:pt x="0" y="24336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1864802" y="3262646"/>
            <a:ext cx="7279198" cy="2087132"/>
          </a:xfrm>
          <a:prstGeom prst="rect">
            <a:avLst/>
          </a:prstGeom>
        </p:spPr>
        <p:txBody>
          <a:bodyPr anchor="t" rtlCol="false" tIns="0" lIns="0" bIns="0" rIns="0">
            <a:spAutoFit/>
          </a:bodyPr>
          <a:lstStyle/>
          <a:p>
            <a:pPr algn="l" marL="0" indent="0" lvl="0">
              <a:lnSpc>
                <a:spcPts val="7859"/>
              </a:lnSpc>
              <a:spcBef>
                <a:spcPct val="0"/>
              </a:spcBef>
            </a:pPr>
            <a:r>
              <a:rPr lang="en-US" b="true" sz="7556" spc="-438">
                <a:solidFill>
                  <a:srgbClr val="000000"/>
                </a:solidFill>
                <a:latin typeface="Poppins Bold"/>
                <a:ea typeface="Poppins Bold"/>
                <a:cs typeface="Poppins Bold"/>
                <a:sym typeface="Poppins Bold"/>
              </a:rPr>
              <a:t>SYSTEM ARCHITECTURE</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2583753"/>
            <a:ext cx="203751" cy="836307"/>
            <a:chOff x="0" y="0"/>
            <a:chExt cx="53663" cy="220262"/>
          </a:xfrm>
        </p:grpSpPr>
        <p:sp>
          <p:nvSpPr>
            <p:cNvPr name="Freeform 9" id="9"/>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0" id="10"/>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632753" y="4033847"/>
            <a:ext cx="17022494" cy="3707494"/>
            <a:chOff x="0" y="0"/>
            <a:chExt cx="6631238" cy="1444281"/>
          </a:xfrm>
        </p:grpSpPr>
        <p:sp>
          <p:nvSpPr>
            <p:cNvPr name="Freeform 12" id="12"/>
            <p:cNvSpPr/>
            <p:nvPr/>
          </p:nvSpPr>
          <p:spPr>
            <a:xfrm flipH="false" flipV="false" rot="0">
              <a:off x="0" y="0"/>
              <a:ext cx="6631238" cy="1444282"/>
            </a:xfrm>
            <a:custGeom>
              <a:avLst/>
              <a:gdLst/>
              <a:ahLst/>
              <a:cxnLst/>
              <a:rect r="r" b="b" t="t" l="l"/>
              <a:pathLst>
                <a:path h="1444282" w="6631238">
                  <a:moveTo>
                    <a:pt x="8641" y="0"/>
                  </a:moveTo>
                  <a:lnTo>
                    <a:pt x="6622597" y="0"/>
                  </a:lnTo>
                  <a:cubicBezTo>
                    <a:pt x="6624889" y="0"/>
                    <a:pt x="6627086" y="910"/>
                    <a:pt x="6628707" y="2531"/>
                  </a:cubicBezTo>
                  <a:cubicBezTo>
                    <a:pt x="6630327" y="4152"/>
                    <a:pt x="6631238" y="6349"/>
                    <a:pt x="6631238" y="8641"/>
                  </a:cubicBezTo>
                  <a:lnTo>
                    <a:pt x="6631238" y="1435640"/>
                  </a:lnTo>
                  <a:cubicBezTo>
                    <a:pt x="6631238" y="1437932"/>
                    <a:pt x="6630327" y="1440130"/>
                    <a:pt x="6628707" y="1441751"/>
                  </a:cubicBezTo>
                  <a:cubicBezTo>
                    <a:pt x="6627086" y="1443371"/>
                    <a:pt x="6624889" y="1444282"/>
                    <a:pt x="6622597" y="1444282"/>
                  </a:cubicBezTo>
                  <a:lnTo>
                    <a:pt x="8641" y="1444282"/>
                  </a:lnTo>
                  <a:cubicBezTo>
                    <a:pt x="3869" y="1444282"/>
                    <a:pt x="0" y="1440413"/>
                    <a:pt x="0" y="1435640"/>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13" id="13"/>
            <p:cNvSpPr txBox="true"/>
            <p:nvPr/>
          </p:nvSpPr>
          <p:spPr>
            <a:xfrm>
              <a:off x="0" y="-66675"/>
              <a:ext cx="6631238" cy="1510956"/>
            </a:xfrm>
            <a:prstGeom prst="rect">
              <a:avLst/>
            </a:prstGeom>
          </p:spPr>
          <p:txBody>
            <a:bodyPr anchor="ctr" rtlCol="false" tIns="50800" lIns="50800" bIns="50800" rIns="50800"/>
            <a:lstStyle/>
            <a:p>
              <a:pPr algn="ctr">
                <a:lnSpc>
                  <a:spcPts val="3359"/>
                </a:lnSpc>
              </a:pPr>
            </a:p>
          </p:txBody>
        </p:sp>
      </p:grpSp>
      <p:sp>
        <p:nvSpPr>
          <p:cNvPr name="TextBox 14" id="14"/>
          <p:cNvSpPr txBox="true"/>
          <p:nvPr/>
        </p:nvSpPr>
        <p:spPr>
          <a:xfrm rot="0">
            <a:off x="1047305" y="2574235"/>
            <a:ext cx="14742913" cy="883920"/>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HOW 4REAL WORKS?</a:t>
            </a:r>
          </a:p>
        </p:txBody>
      </p:sp>
      <p:sp>
        <p:nvSpPr>
          <p:cNvPr name="TextBox 15" id="15"/>
          <p:cNvSpPr txBox="true"/>
          <p:nvPr/>
        </p:nvSpPr>
        <p:spPr>
          <a:xfrm rot="0">
            <a:off x="836504" y="4061968"/>
            <a:ext cx="16478508" cy="3536951"/>
          </a:xfrm>
          <a:prstGeom prst="rect">
            <a:avLst/>
          </a:prstGeom>
        </p:spPr>
        <p:txBody>
          <a:bodyPr anchor="t" rtlCol="false" tIns="0" lIns="0" bIns="0" rIns="0">
            <a:spAutoFit/>
          </a:bodyPr>
          <a:lstStyle/>
          <a:p>
            <a:pPr algn="just" marL="0" indent="0" lvl="0">
              <a:lnSpc>
                <a:spcPts val="5599"/>
              </a:lnSpc>
              <a:spcBef>
                <a:spcPct val="0"/>
              </a:spcBef>
            </a:pPr>
            <a:r>
              <a:rPr lang="en-US" sz="3999" spc="-223">
                <a:solidFill>
                  <a:srgbClr val="000000"/>
                </a:solidFill>
                <a:latin typeface="Poppins"/>
                <a:ea typeface="Poppins"/>
                <a:cs typeface="Poppins"/>
                <a:sym typeface="Poppins"/>
              </a:rPr>
              <a:t>4Real operates as an intelligent hybrid plagiarism detection system that processes two documents through multiple NLP algorithms to determine their similarity. The system combines traditional statistical analysis with advanced artificial intelligence to provide accurate detection of both ex</a:t>
            </a:r>
            <a:r>
              <a:rPr lang="en-US" sz="3999" spc="-223">
                <a:solidFill>
                  <a:srgbClr val="000000"/>
                </a:solidFill>
                <a:latin typeface="Poppins"/>
                <a:ea typeface="Poppins"/>
                <a:cs typeface="Poppins"/>
                <a:sym typeface="Poppins"/>
              </a:rPr>
              <a:t>ac</a:t>
            </a:r>
            <a:r>
              <a:rPr lang="en-US" sz="3999" spc="-223">
                <a:solidFill>
                  <a:srgbClr val="000000"/>
                </a:solidFill>
                <a:latin typeface="Poppins"/>
                <a:ea typeface="Poppins"/>
                <a:cs typeface="Poppins"/>
                <a:sym typeface="Poppins"/>
              </a:rPr>
              <a:t>t </a:t>
            </a:r>
            <a:r>
              <a:rPr lang="en-US" sz="3999" spc="-223">
                <a:solidFill>
                  <a:srgbClr val="000000"/>
                </a:solidFill>
                <a:latin typeface="Poppins"/>
                <a:ea typeface="Poppins"/>
                <a:cs typeface="Poppins"/>
                <a:sym typeface="Poppins"/>
              </a:rPr>
              <a:t>c</a:t>
            </a:r>
            <a:r>
              <a:rPr lang="en-US" sz="3999" spc="-223">
                <a:solidFill>
                  <a:srgbClr val="000000"/>
                </a:solidFill>
                <a:latin typeface="Poppins"/>
                <a:ea typeface="Poppins"/>
                <a:cs typeface="Poppins"/>
                <a:sym typeface="Poppins"/>
              </a:rPr>
              <a:t>opying</a:t>
            </a:r>
            <a:r>
              <a:rPr lang="en-US" sz="3999" spc="-223">
                <a:solidFill>
                  <a:srgbClr val="000000"/>
                </a:solidFill>
                <a:latin typeface="Poppins"/>
                <a:ea typeface="Poppins"/>
                <a:cs typeface="Poppins"/>
                <a:sym typeface="Poppins"/>
              </a:rPr>
              <a:t> and s</a:t>
            </a:r>
            <a:r>
              <a:rPr lang="en-US" sz="3999" spc="-223">
                <a:solidFill>
                  <a:srgbClr val="000000"/>
                </a:solidFill>
                <a:latin typeface="Poppins"/>
                <a:ea typeface="Poppins"/>
                <a:cs typeface="Poppins"/>
                <a:sym typeface="Poppins"/>
              </a:rPr>
              <a:t>ophi</a:t>
            </a:r>
            <a:r>
              <a:rPr lang="en-US" sz="3999" spc="-223">
                <a:solidFill>
                  <a:srgbClr val="000000"/>
                </a:solidFill>
                <a:latin typeface="Poppins"/>
                <a:ea typeface="Poppins"/>
                <a:cs typeface="Poppins"/>
                <a:sym typeface="Poppins"/>
              </a:rPr>
              <a:t>s</a:t>
            </a:r>
            <a:r>
              <a:rPr lang="en-US" sz="3999" spc="-223">
                <a:solidFill>
                  <a:srgbClr val="000000"/>
                </a:solidFill>
                <a:latin typeface="Poppins"/>
                <a:ea typeface="Poppins"/>
                <a:cs typeface="Poppins"/>
                <a:sym typeface="Poppins"/>
              </a:rPr>
              <a:t>t</a:t>
            </a:r>
            <a:r>
              <a:rPr lang="en-US" sz="3999" spc="-223">
                <a:solidFill>
                  <a:srgbClr val="000000"/>
                </a:solidFill>
                <a:latin typeface="Poppins"/>
                <a:ea typeface="Poppins"/>
                <a:cs typeface="Poppins"/>
                <a:sym typeface="Poppins"/>
              </a:rPr>
              <a:t>i</a:t>
            </a:r>
            <a:r>
              <a:rPr lang="en-US" sz="3999" spc="-223">
                <a:solidFill>
                  <a:srgbClr val="000000"/>
                </a:solidFill>
                <a:latin typeface="Poppins"/>
                <a:ea typeface="Poppins"/>
                <a:cs typeface="Poppins"/>
                <a:sym typeface="Poppins"/>
              </a:rPr>
              <a:t>c</a:t>
            </a:r>
            <a:r>
              <a:rPr lang="en-US" sz="3999" spc="-223">
                <a:solidFill>
                  <a:srgbClr val="000000"/>
                </a:solidFill>
                <a:latin typeface="Poppins"/>
                <a:ea typeface="Poppins"/>
                <a:cs typeface="Poppins"/>
                <a:sym typeface="Poppins"/>
              </a:rPr>
              <a:t>a</a:t>
            </a:r>
            <a:r>
              <a:rPr lang="en-US" sz="3999" spc="-223">
                <a:solidFill>
                  <a:srgbClr val="000000"/>
                </a:solidFill>
                <a:latin typeface="Poppins"/>
                <a:ea typeface="Poppins"/>
                <a:cs typeface="Poppins"/>
                <a:sym typeface="Poppins"/>
              </a:rPr>
              <a:t>ted</a:t>
            </a:r>
            <a:r>
              <a:rPr lang="en-US" sz="3999" spc="-223">
                <a:solidFill>
                  <a:srgbClr val="000000"/>
                </a:solidFill>
                <a:latin typeface="Poppins"/>
                <a:ea typeface="Poppins"/>
                <a:cs typeface="Poppins"/>
                <a:sym typeface="Poppins"/>
              </a:rPr>
              <a:t> </a:t>
            </a:r>
            <a:r>
              <a:rPr lang="en-US" sz="3999" spc="-223">
                <a:solidFill>
                  <a:srgbClr val="000000"/>
                </a:solidFill>
                <a:latin typeface="Poppins"/>
                <a:ea typeface="Poppins"/>
                <a:cs typeface="Poppins"/>
                <a:sym typeface="Poppins"/>
              </a:rPr>
              <a:t>paraphra</a:t>
            </a:r>
            <a:r>
              <a:rPr lang="en-US" sz="3999" spc="-223">
                <a:solidFill>
                  <a:srgbClr val="000000"/>
                </a:solidFill>
                <a:latin typeface="Poppins"/>
                <a:ea typeface="Poppins"/>
                <a:cs typeface="Poppins"/>
                <a:sym typeface="Poppins"/>
              </a:rPr>
              <a:t>sing</a:t>
            </a:r>
            <a:r>
              <a:rPr lang="en-US" sz="3999" spc="-223">
                <a:solidFill>
                  <a:srgbClr val="000000"/>
                </a:solidFill>
                <a:latin typeface="Poppins"/>
                <a:ea typeface="Poppins"/>
                <a:cs typeface="Poppins"/>
                <a:sym typeface="Poppins"/>
              </a:rPr>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54159" y="3411639"/>
            <a:ext cx="203751" cy="1863440"/>
            <a:chOff x="0" y="0"/>
            <a:chExt cx="53663" cy="490783"/>
          </a:xfrm>
        </p:grpSpPr>
        <p:sp>
          <p:nvSpPr>
            <p:cNvPr name="Freeform 3" id="3"/>
            <p:cNvSpPr/>
            <p:nvPr/>
          </p:nvSpPr>
          <p:spPr>
            <a:xfrm flipH="false" flipV="false" rot="0">
              <a:off x="0" y="0"/>
              <a:ext cx="53663" cy="490783"/>
            </a:xfrm>
            <a:custGeom>
              <a:avLst/>
              <a:gdLst/>
              <a:ahLst/>
              <a:cxnLst/>
              <a:rect r="r" b="b" t="t" l="l"/>
              <a:pathLst>
                <a:path h="490783" w="53663">
                  <a:moveTo>
                    <a:pt x="0" y="0"/>
                  </a:moveTo>
                  <a:lnTo>
                    <a:pt x="53663" y="0"/>
                  </a:lnTo>
                  <a:lnTo>
                    <a:pt x="53663" y="490783"/>
                  </a:lnTo>
                  <a:lnTo>
                    <a:pt x="0" y="490783"/>
                  </a:lnTo>
                  <a:close/>
                </a:path>
              </a:pathLst>
            </a:custGeom>
            <a:solidFill>
              <a:srgbClr val="7281FE"/>
            </a:solidFill>
          </p:spPr>
        </p:sp>
        <p:sp>
          <p:nvSpPr>
            <p:cNvPr name="TextBox 4" id="4"/>
            <p:cNvSpPr txBox="true"/>
            <p:nvPr/>
          </p:nvSpPr>
          <p:spPr>
            <a:xfrm>
              <a:off x="0" y="-66675"/>
              <a:ext cx="53663" cy="557458"/>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5553419" y="6719816"/>
            <a:ext cx="6713220" cy="7505700"/>
            <a:chOff x="0" y="0"/>
            <a:chExt cx="1768091" cy="1976810"/>
          </a:xfrm>
        </p:grpSpPr>
        <p:sp>
          <p:nvSpPr>
            <p:cNvPr name="Freeform 6" id="6"/>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7" id="7"/>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806613" y="7694080"/>
            <a:ext cx="647546" cy="566602"/>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0" id="10"/>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8400859"/>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9107638"/>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sp>
        <p:nvSpPr>
          <p:cNvPr name="Freeform 17" id="17"/>
          <p:cNvSpPr/>
          <p:nvPr/>
        </p:nvSpPr>
        <p:spPr>
          <a:xfrm flipH="false" flipV="false" rot="0">
            <a:off x="8626978" y="6937611"/>
            <a:ext cx="2433673" cy="2433673"/>
          </a:xfrm>
          <a:custGeom>
            <a:avLst/>
            <a:gdLst/>
            <a:ahLst/>
            <a:cxnLst/>
            <a:rect r="r" b="b" t="t" l="l"/>
            <a:pathLst>
              <a:path h="2433673" w="2433673">
                <a:moveTo>
                  <a:pt x="0" y="0"/>
                </a:moveTo>
                <a:lnTo>
                  <a:pt x="2433673" y="0"/>
                </a:lnTo>
                <a:lnTo>
                  <a:pt x="2433673" y="2433674"/>
                </a:lnTo>
                <a:lnTo>
                  <a:pt x="0" y="24336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1864802" y="3262646"/>
            <a:ext cx="7279198" cy="2087132"/>
          </a:xfrm>
          <a:prstGeom prst="rect">
            <a:avLst/>
          </a:prstGeom>
        </p:spPr>
        <p:txBody>
          <a:bodyPr anchor="t" rtlCol="false" tIns="0" lIns="0" bIns="0" rIns="0">
            <a:spAutoFit/>
          </a:bodyPr>
          <a:lstStyle/>
          <a:p>
            <a:pPr algn="l">
              <a:lnSpc>
                <a:spcPts val="7859"/>
              </a:lnSpc>
            </a:pPr>
            <a:r>
              <a:rPr lang="en-US" b="true" sz="7556" spc="-438">
                <a:solidFill>
                  <a:srgbClr val="000000"/>
                </a:solidFill>
                <a:latin typeface="Poppins Bold"/>
                <a:ea typeface="Poppins Bold"/>
                <a:cs typeface="Poppins Bold"/>
                <a:sym typeface="Poppins Bold"/>
              </a:rPr>
              <a:t>SYSTEM FLOW</a:t>
            </a:r>
          </a:p>
          <a:p>
            <a:pPr algn="l" marL="0" indent="0" lvl="0">
              <a:lnSpc>
                <a:spcPts val="7859"/>
              </a:lnSpc>
              <a:spcBef>
                <a:spcPct val="0"/>
              </a:spcBef>
            </a:pPr>
            <a:r>
              <a:rPr lang="en-US" b="true" sz="7556" spc="-438">
                <a:solidFill>
                  <a:srgbClr val="000000"/>
                </a:solidFill>
                <a:latin typeface="Poppins Bold"/>
                <a:ea typeface="Poppins Bold"/>
                <a:cs typeface="Poppins Bold"/>
                <a:sym typeface="Poppins Bold"/>
              </a:rPr>
              <a:t>DIAGRAM</a:t>
            </a:r>
          </a:p>
        </p:txBody>
      </p:sp>
      <p:sp>
        <p:nvSpPr>
          <p:cNvPr name="Freeform 19" id="19"/>
          <p:cNvSpPr/>
          <p:nvPr/>
        </p:nvSpPr>
        <p:spPr>
          <a:xfrm flipH="false" flipV="false" rot="0">
            <a:off x="12146253" y="400292"/>
            <a:ext cx="5318530" cy="9486417"/>
          </a:xfrm>
          <a:custGeom>
            <a:avLst/>
            <a:gdLst/>
            <a:ahLst/>
            <a:cxnLst/>
            <a:rect r="r" b="b" t="t" l="l"/>
            <a:pathLst>
              <a:path h="9486417" w="5318530">
                <a:moveTo>
                  <a:pt x="0" y="0"/>
                </a:moveTo>
                <a:lnTo>
                  <a:pt x="5318530" y="0"/>
                </a:lnTo>
                <a:lnTo>
                  <a:pt x="5318530" y="9486416"/>
                </a:lnTo>
                <a:lnTo>
                  <a:pt x="0" y="9486416"/>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53419" y="6719816"/>
            <a:ext cx="6713220" cy="7505700"/>
            <a:chOff x="0" y="0"/>
            <a:chExt cx="1768091" cy="1976810"/>
          </a:xfrm>
        </p:grpSpPr>
        <p:sp>
          <p:nvSpPr>
            <p:cNvPr name="Freeform 3" id="3"/>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4" id="4"/>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5190404" y="7275504"/>
            <a:ext cx="6950011" cy="695001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7" id="7"/>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806613" y="7694080"/>
            <a:ext cx="647546" cy="566602"/>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0" id="10"/>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8400859"/>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9107638"/>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sp>
        <p:nvSpPr>
          <p:cNvPr name="Freeform 17" id="17"/>
          <p:cNvSpPr/>
          <p:nvPr/>
        </p:nvSpPr>
        <p:spPr>
          <a:xfrm flipH="false" flipV="false" rot="0">
            <a:off x="2786097" y="375073"/>
            <a:ext cx="12715807" cy="9536855"/>
          </a:xfrm>
          <a:custGeom>
            <a:avLst/>
            <a:gdLst/>
            <a:ahLst/>
            <a:cxnLst/>
            <a:rect r="r" b="b" t="t" l="l"/>
            <a:pathLst>
              <a:path h="9536855" w="12715807">
                <a:moveTo>
                  <a:pt x="0" y="0"/>
                </a:moveTo>
                <a:lnTo>
                  <a:pt x="12715806" y="0"/>
                </a:lnTo>
                <a:lnTo>
                  <a:pt x="12715806" y="9536854"/>
                </a:lnTo>
                <a:lnTo>
                  <a:pt x="0" y="9536854"/>
                </a:lnTo>
                <a:lnTo>
                  <a:pt x="0" y="0"/>
                </a:lnTo>
                <a:close/>
              </a:path>
            </a:pathLst>
          </a:custGeom>
          <a:blipFill>
            <a:blip r:embed="rId2"/>
            <a:stretch>
              <a:fillRect l="0" t="0" r="0" b="-13782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53419" y="6719816"/>
            <a:ext cx="6713220" cy="7505700"/>
            <a:chOff x="0" y="0"/>
            <a:chExt cx="1768091" cy="1976810"/>
          </a:xfrm>
        </p:grpSpPr>
        <p:sp>
          <p:nvSpPr>
            <p:cNvPr name="Freeform 3" id="3"/>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4" id="4"/>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5190404" y="7275504"/>
            <a:ext cx="6950011" cy="695001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7" id="7"/>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806613" y="7694080"/>
            <a:ext cx="647546" cy="566602"/>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0" id="10"/>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8400859"/>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9107638"/>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sp>
        <p:nvSpPr>
          <p:cNvPr name="Freeform 17" id="17"/>
          <p:cNvSpPr/>
          <p:nvPr/>
        </p:nvSpPr>
        <p:spPr>
          <a:xfrm flipH="false" flipV="false" rot="0">
            <a:off x="4456240" y="304204"/>
            <a:ext cx="9463999" cy="9769930"/>
          </a:xfrm>
          <a:custGeom>
            <a:avLst/>
            <a:gdLst/>
            <a:ahLst/>
            <a:cxnLst/>
            <a:rect r="r" b="b" t="t" l="l"/>
            <a:pathLst>
              <a:path h="9769930" w="9463999">
                <a:moveTo>
                  <a:pt x="0" y="0"/>
                </a:moveTo>
                <a:lnTo>
                  <a:pt x="9463999" y="0"/>
                </a:lnTo>
                <a:lnTo>
                  <a:pt x="9463999" y="9769931"/>
                </a:lnTo>
                <a:lnTo>
                  <a:pt x="0" y="9769931"/>
                </a:lnTo>
                <a:lnTo>
                  <a:pt x="0" y="0"/>
                </a:lnTo>
                <a:close/>
              </a:path>
            </a:pathLst>
          </a:custGeom>
          <a:blipFill>
            <a:blip r:embed="rId2"/>
            <a:stretch>
              <a:fillRect l="0" t="-72780" r="0" b="0"/>
            </a:stretch>
          </a:blipFill>
        </p:spPr>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5553419" y="6719816"/>
            <a:ext cx="6713220" cy="7505700"/>
            <a:chOff x="0" y="0"/>
            <a:chExt cx="1768091" cy="1976810"/>
          </a:xfrm>
        </p:grpSpPr>
        <p:sp>
          <p:nvSpPr>
            <p:cNvPr name="Freeform 3" id="3"/>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4" id="4"/>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5190404" y="7275504"/>
            <a:ext cx="6950011" cy="695001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7" id="7"/>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806613" y="7694080"/>
            <a:ext cx="647546" cy="566602"/>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0" id="10"/>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8400859"/>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9107638"/>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4215031" y="3747781"/>
            <a:ext cx="10002482" cy="2832368"/>
            <a:chOff x="0" y="0"/>
            <a:chExt cx="13336642" cy="3776490"/>
          </a:xfrm>
        </p:grpSpPr>
        <p:grpSp>
          <p:nvGrpSpPr>
            <p:cNvPr name="Group 18" id="18"/>
            <p:cNvGrpSpPr/>
            <p:nvPr/>
          </p:nvGrpSpPr>
          <p:grpSpPr>
            <a:xfrm rot="0">
              <a:off x="0" y="0"/>
              <a:ext cx="13336642" cy="3776490"/>
              <a:chOff x="0" y="0"/>
              <a:chExt cx="1648108" cy="466689"/>
            </a:xfrm>
          </p:grpSpPr>
          <p:sp>
            <p:nvSpPr>
              <p:cNvPr name="Freeform 19" id="19"/>
              <p:cNvSpPr/>
              <p:nvPr/>
            </p:nvSpPr>
            <p:spPr>
              <a:xfrm flipH="false" flipV="false" rot="0">
                <a:off x="0" y="0"/>
                <a:ext cx="1648108" cy="466689"/>
              </a:xfrm>
              <a:custGeom>
                <a:avLst/>
                <a:gdLst/>
                <a:ahLst/>
                <a:cxnLst/>
                <a:rect r="r" b="b" t="t" l="l"/>
                <a:pathLst>
                  <a:path h="466689" w="1648108">
                    <a:moveTo>
                      <a:pt x="53613" y="0"/>
                    </a:moveTo>
                    <a:lnTo>
                      <a:pt x="1594494" y="0"/>
                    </a:lnTo>
                    <a:cubicBezTo>
                      <a:pt x="1624104" y="0"/>
                      <a:pt x="1648108" y="24003"/>
                      <a:pt x="1648108" y="53613"/>
                    </a:cubicBezTo>
                    <a:lnTo>
                      <a:pt x="1648108" y="413076"/>
                    </a:lnTo>
                    <a:cubicBezTo>
                      <a:pt x="1648108" y="427295"/>
                      <a:pt x="1642459" y="440931"/>
                      <a:pt x="1632405" y="450986"/>
                    </a:cubicBezTo>
                    <a:cubicBezTo>
                      <a:pt x="1622350" y="461040"/>
                      <a:pt x="1608713" y="466689"/>
                      <a:pt x="1594494" y="466689"/>
                    </a:cubicBezTo>
                    <a:lnTo>
                      <a:pt x="53613" y="466689"/>
                    </a:lnTo>
                    <a:cubicBezTo>
                      <a:pt x="39394" y="466689"/>
                      <a:pt x="25757" y="461040"/>
                      <a:pt x="15703" y="450986"/>
                    </a:cubicBezTo>
                    <a:cubicBezTo>
                      <a:pt x="5649" y="440931"/>
                      <a:pt x="0" y="427295"/>
                      <a:pt x="0" y="413076"/>
                    </a:cubicBezTo>
                    <a:lnTo>
                      <a:pt x="0" y="53613"/>
                    </a:lnTo>
                    <a:cubicBezTo>
                      <a:pt x="0" y="39394"/>
                      <a:pt x="5649" y="25757"/>
                      <a:pt x="15703" y="15703"/>
                    </a:cubicBezTo>
                    <a:cubicBezTo>
                      <a:pt x="25757" y="5649"/>
                      <a:pt x="39394" y="0"/>
                      <a:pt x="53613" y="0"/>
                    </a:cubicBezTo>
                    <a:close/>
                  </a:path>
                </a:pathLst>
              </a:custGeom>
              <a:solidFill>
                <a:srgbClr val="7281FE"/>
              </a:solidFill>
            </p:spPr>
          </p:sp>
          <p:sp>
            <p:nvSpPr>
              <p:cNvPr name="TextBox 20" id="20"/>
              <p:cNvSpPr txBox="true"/>
              <p:nvPr/>
            </p:nvSpPr>
            <p:spPr>
              <a:xfrm>
                <a:off x="0" y="-57150"/>
                <a:ext cx="1648108" cy="523839"/>
              </a:xfrm>
              <a:prstGeom prst="rect">
                <a:avLst/>
              </a:prstGeom>
            </p:spPr>
            <p:txBody>
              <a:bodyPr anchor="ctr" rtlCol="false" tIns="50800" lIns="50800" bIns="50800" rIns="50800"/>
              <a:lstStyle/>
              <a:p>
                <a:pPr algn="ctr">
                  <a:lnSpc>
                    <a:spcPts val="2799"/>
                  </a:lnSpc>
                </a:pPr>
              </a:p>
            </p:txBody>
          </p:sp>
        </p:grpSp>
        <p:sp>
          <p:nvSpPr>
            <p:cNvPr name="TextBox 21" id="21"/>
            <p:cNvSpPr txBox="true"/>
            <p:nvPr/>
          </p:nvSpPr>
          <p:spPr>
            <a:xfrm rot="0">
              <a:off x="0" y="351788"/>
              <a:ext cx="13336642" cy="2014828"/>
            </a:xfrm>
            <a:prstGeom prst="rect">
              <a:avLst/>
            </a:prstGeom>
          </p:spPr>
          <p:txBody>
            <a:bodyPr anchor="t" rtlCol="false" tIns="0" lIns="0" bIns="0" rIns="0">
              <a:spAutoFit/>
            </a:bodyPr>
            <a:lstStyle/>
            <a:p>
              <a:pPr algn="ctr" marL="0" indent="0" lvl="0">
                <a:lnSpc>
                  <a:spcPts val="10674"/>
                </a:lnSpc>
                <a:spcBef>
                  <a:spcPct val="0"/>
                </a:spcBef>
              </a:pPr>
              <a:r>
                <a:rPr lang="en-US" sz="10263" spc="-595">
                  <a:solidFill>
                    <a:srgbClr val="000000"/>
                  </a:solidFill>
                  <a:latin typeface="Poppins"/>
                  <a:ea typeface="Poppins"/>
                  <a:cs typeface="Poppins"/>
                  <a:sym typeface="Poppins"/>
                </a:rPr>
                <a:t>TF-IDF ANALYSIS</a:t>
              </a:r>
            </a:p>
          </p:txBody>
        </p:sp>
        <p:sp>
          <p:nvSpPr>
            <p:cNvPr name="TextBox 22" id="22"/>
            <p:cNvSpPr txBox="true"/>
            <p:nvPr/>
          </p:nvSpPr>
          <p:spPr>
            <a:xfrm rot="0">
              <a:off x="0" y="2395192"/>
              <a:ext cx="13336642" cy="1086660"/>
            </a:xfrm>
            <a:prstGeom prst="rect">
              <a:avLst/>
            </a:prstGeom>
          </p:spPr>
          <p:txBody>
            <a:bodyPr anchor="t" rtlCol="false" tIns="0" lIns="0" bIns="0" rIns="0">
              <a:spAutoFit/>
            </a:bodyPr>
            <a:lstStyle/>
            <a:p>
              <a:pPr algn="ctr" marL="0" indent="0" lvl="0">
                <a:lnSpc>
                  <a:spcPts val="5730"/>
                </a:lnSpc>
                <a:spcBef>
                  <a:spcPct val="0"/>
                </a:spcBef>
              </a:pPr>
              <a:r>
                <a:rPr lang="en-US" sz="5510" spc="-319">
                  <a:solidFill>
                    <a:srgbClr val="000000"/>
                  </a:solidFill>
                  <a:latin typeface="Poppins"/>
                  <a:ea typeface="Poppins"/>
                  <a:cs typeface="Poppins"/>
                  <a:sym typeface="Poppins"/>
                </a:rPr>
                <a:t>(40% WEIGHT)</a:t>
              </a: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1011230" y="1902602"/>
            <a:ext cx="6190596" cy="874401"/>
            <a:chOff x="0" y="0"/>
            <a:chExt cx="8254128" cy="1165868"/>
          </a:xfrm>
        </p:grpSpPr>
        <p:grpSp>
          <p:nvGrpSpPr>
            <p:cNvPr name="Group 9" id="9"/>
            <p:cNvGrpSpPr/>
            <p:nvPr/>
          </p:nvGrpSpPr>
          <p:grpSpPr>
            <a:xfrm rot="0">
              <a:off x="0" y="0"/>
              <a:ext cx="326716" cy="1115076"/>
              <a:chOff x="0" y="0"/>
              <a:chExt cx="64536" cy="220262"/>
            </a:xfrm>
          </p:grpSpPr>
          <p:sp>
            <p:nvSpPr>
              <p:cNvPr name="Freeform 10" id="10"/>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11" id="11"/>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12" id="12"/>
            <p:cNvSpPr txBox="true"/>
            <p:nvPr/>
          </p:nvSpPr>
          <p:spPr>
            <a:xfrm rot="0">
              <a:off x="1043541" y="80230"/>
              <a:ext cx="7210588"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WHA</a:t>
              </a:r>
              <a:r>
                <a:rPr lang="en-US" b="true" sz="5499" spc="-318" strike="noStrike" u="none">
                  <a:solidFill>
                    <a:srgbClr val="000000"/>
                  </a:solidFill>
                  <a:latin typeface="Poppins Bold"/>
                  <a:ea typeface="Poppins Bold"/>
                  <a:cs typeface="Poppins Bold"/>
                  <a:sym typeface="Poppins Bold"/>
                </a:rPr>
                <a:t>T</a:t>
              </a:r>
              <a:r>
                <a:rPr lang="en-US" b="true" sz="5499" spc="-318" strike="noStrike" u="none">
                  <a:solidFill>
                    <a:srgbClr val="000000"/>
                  </a:solidFill>
                  <a:latin typeface="Poppins Bold"/>
                  <a:ea typeface="Poppins Bold"/>
                  <a:cs typeface="Poppins Bold"/>
                  <a:sym typeface="Poppins Bold"/>
                </a:rPr>
                <a:t> IS TF-IDF?</a:t>
              </a:r>
            </a:p>
          </p:txBody>
        </p:sp>
      </p:grpSp>
      <p:grpSp>
        <p:nvGrpSpPr>
          <p:cNvPr name="Group 13" id="13"/>
          <p:cNvGrpSpPr/>
          <p:nvPr/>
        </p:nvGrpSpPr>
        <p:grpSpPr>
          <a:xfrm rot="0">
            <a:off x="7895450" y="2246087"/>
            <a:ext cx="9759797" cy="7530245"/>
            <a:chOff x="0" y="0"/>
            <a:chExt cx="2184135" cy="1685186"/>
          </a:xfrm>
        </p:grpSpPr>
        <p:sp>
          <p:nvSpPr>
            <p:cNvPr name="Freeform 14" id="14"/>
            <p:cNvSpPr/>
            <p:nvPr/>
          </p:nvSpPr>
          <p:spPr>
            <a:xfrm flipH="false" flipV="false" rot="0">
              <a:off x="0" y="0"/>
              <a:ext cx="2184135" cy="1685186"/>
            </a:xfrm>
            <a:custGeom>
              <a:avLst/>
              <a:gdLst/>
              <a:ahLst/>
              <a:cxnLst/>
              <a:rect r="r" b="b" t="t" l="l"/>
              <a:pathLst>
                <a:path h="1685186" w="2184135">
                  <a:moveTo>
                    <a:pt x="40456" y="0"/>
                  </a:moveTo>
                  <a:lnTo>
                    <a:pt x="2143680" y="0"/>
                  </a:lnTo>
                  <a:cubicBezTo>
                    <a:pt x="2166023" y="0"/>
                    <a:pt x="2184135" y="18113"/>
                    <a:pt x="2184135" y="40456"/>
                  </a:cubicBezTo>
                  <a:lnTo>
                    <a:pt x="2184135" y="1644731"/>
                  </a:lnTo>
                  <a:cubicBezTo>
                    <a:pt x="2184135" y="1655460"/>
                    <a:pt x="2179873" y="1665750"/>
                    <a:pt x="2172286" y="1673337"/>
                  </a:cubicBezTo>
                  <a:cubicBezTo>
                    <a:pt x="2164699" y="1680924"/>
                    <a:pt x="2154409" y="1685186"/>
                    <a:pt x="2143680" y="1685186"/>
                  </a:cubicBezTo>
                  <a:lnTo>
                    <a:pt x="40456" y="1685186"/>
                  </a:lnTo>
                  <a:cubicBezTo>
                    <a:pt x="29726" y="1685186"/>
                    <a:pt x="19436" y="1680924"/>
                    <a:pt x="11849" y="1673337"/>
                  </a:cubicBezTo>
                  <a:cubicBezTo>
                    <a:pt x="4262" y="1665750"/>
                    <a:pt x="0" y="1655460"/>
                    <a:pt x="0" y="1644731"/>
                  </a:cubicBezTo>
                  <a:lnTo>
                    <a:pt x="0" y="40456"/>
                  </a:lnTo>
                  <a:cubicBezTo>
                    <a:pt x="0" y="29726"/>
                    <a:pt x="4262" y="19436"/>
                    <a:pt x="11849" y="11849"/>
                  </a:cubicBezTo>
                  <a:cubicBezTo>
                    <a:pt x="19436" y="4262"/>
                    <a:pt x="29726" y="0"/>
                    <a:pt x="40456" y="0"/>
                  </a:cubicBezTo>
                  <a:close/>
                </a:path>
              </a:pathLst>
            </a:custGeom>
            <a:solidFill>
              <a:srgbClr val="FEB389"/>
            </a:solidFill>
          </p:spPr>
        </p:sp>
        <p:sp>
          <p:nvSpPr>
            <p:cNvPr name="TextBox 15" id="15"/>
            <p:cNvSpPr txBox="true"/>
            <p:nvPr/>
          </p:nvSpPr>
          <p:spPr>
            <a:xfrm>
              <a:off x="0" y="-66675"/>
              <a:ext cx="2184135" cy="1751861"/>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7895450" y="2662703"/>
            <a:ext cx="9363850" cy="6685632"/>
          </a:xfrm>
          <a:prstGeom prst="rect">
            <a:avLst/>
          </a:prstGeom>
        </p:spPr>
        <p:txBody>
          <a:bodyPr anchor="t" rtlCol="false" tIns="0" lIns="0" bIns="0" rIns="0">
            <a:spAutoFit/>
          </a:bodyPr>
          <a:lstStyle/>
          <a:p>
            <a:pPr algn="l" marL="817430" indent="-408715" lvl="1">
              <a:lnSpc>
                <a:spcPts val="5300"/>
              </a:lnSpc>
              <a:buAutoNum type="arabicPeriod" startAt="1"/>
            </a:pPr>
            <a:r>
              <a:rPr lang="en-US" b="true" sz="3786" spc="-212">
                <a:solidFill>
                  <a:srgbClr val="000000"/>
                </a:solidFill>
                <a:latin typeface="Poppins Bold"/>
                <a:ea typeface="Poppins Bold"/>
                <a:cs typeface="Poppins Bold"/>
                <a:sym typeface="Poppins Bold"/>
              </a:rPr>
              <a:t>Term Frequency (TF):</a:t>
            </a:r>
            <a:r>
              <a:rPr lang="en-US" sz="3786" spc="-212">
                <a:solidFill>
                  <a:srgbClr val="000000"/>
                </a:solidFill>
                <a:latin typeface="Poppins"/>
                <a:ea typeface="Poppins"/>
                <a:cs typeface="Poppins"/>
                <a:sym typeface="Poppins"/>
              </a:rPr>
              <a:t> Counts how many times each word appears in both documents</a:t>
            </a:r>
          </a:p>
          <a:p>
            <a:pPr algn="l" marL="817430" indent="-408715" lvl="1">
              <a:lnSpc>
                <a:spcPts val="5300"/>
              </a:lnSpc>
              <a:buAutoNum type="arabicPeriod" startAt="1"/>
            </a:pPr>
            <a:r>
              <a:rPr lang="en-US" b="true" sz="3786" spc="-212">
                <a:solidFill>
                  <a:srgbClr val="000000"/>
                </a:solidFill>
                <a:latin typeface="Poppins Bold"/>
                <a:ea typeface="Poppins Bold"/>
                <a:cs typeface="Poppins Bold"/>
                <a:sym typeface="Poppins Bold"/>
              </a:rPr>
              <a:t>Inverse Document Frequency (IDF):</a:t>
            </a:r>
            <a:r>
              <a:rPr lang="en-US" sz="3786" spc="-212">
                <a:solidFill>
                  <a:srgbClr val="000000"/>
                </a:solidFill>
                <a:latin typeface="Poppins"/>
                <a:ea typeface="Poppins"/>
                <a:cs typeface="Poppins"/>
                <a:sym typeface="Poppins"/>
              </a:rPr>
              <a:t> Determines how rare or common each word is</a:t>
            </a:r>
          </a:p>
          <a:p>
            <a:pPr algn="l" marL="817430" indent="-408715" lvl="1">
              <a:lnSpc>
                <a:spcPts val="5300"/>
              </a:lnSpc>
              <a:buAutoNum type="arabicPeriod" startAt="1"/>
            </a:pPr>
            <a:r>
              <a:rPr lang="en-US" b="true" sz="3786" spc="-212">
                <a:solidFill>
                  <a:srgbClr val="000000"/>
                </a:solidFill>
                <a:latin typeface="Poppins Bold"/>
                <a:ea typeface="Poppins Bold"/>
                <a:cs typeface="Poppins Bold"/>
                <a:sym typeface="Poppins Bold"/>
              </a:rPr>
              <a:t>Scoring:</a:t>
            </a:r>
            <a:r>
              <a:rPr lang="en-US" sz="3786" spc="-212">
                <a:solidFill>
                  <a:srgbClr val="000000"/>
                </a:solidFill>
                <a:latin typeface="Poppins"/>
                <a:ea typeface="Poppins"/>
                <a:cs typeface="Poppins"/>
                <a:sym typeface="Poppins"/>
              </a:rPr>
              <a:t> Words that appear frequently in both documents BUT rarely in general documents receive higher similarity scores</a:t>
            </a:r>
          </a:p>
        </p:txBody>
      </p:sp>
      <p:grpSp>
        <p:nvGrpSpPr>
          <p:cNvPr name="Group 17" id="17"/>
          <p:cNvGrpSpPr/>
          <p:nvPr/>
        </p:nvGrpSpPr>
        <p:grpSpPr>
          <a:xfrm rot="0">
            <a:off x="632753" y="3302857"/>
            <a:ext cx="6982948" cy="5475414"/>
            <a:chOff x="0" y="0"/>
            <a:chExt cx="1562707" cy="1225337"/>
          </a:xfrm>
        </p:grpSpPr>
        <p:sp>
          <p:nvSpPr>
            <p:cNvPr name="Freeform 18" id="18"/>
            <p:cNvSpPr/>
            <p:nvPr/>
          </p:nvSpPr>
          <p:spPr>
            <a:xfrm flipH="false" flipV="false" rot="0">
              <a:off x="0" y="0"/>
              <a:ext cx="1562707" cy="1225337"/>
            </a:xfrm>
            <a:custGeom>
              <a:avLst/>
              <a:gdLst/>
              <a:ahLst/>
              <a:cxnLst/>
              <a:rect r="r" b="b" t="t" l="l"/>
              <a:pathLst>
                <a:path h="1225337" w="1562707">
                  <a:moveTo>
                    <a:pt x="56543" y="0"/>
                  </a:moveTo>
                  <a:lnTo>
                    <a:pt x="1506164" y="0"/>
                  </a:lnTo>
                  <a:cubicBezTo>
                    <a:pt x="1521160" y="0"/>
                    <a:pt x="1535542" y="5957"/>
                    <a:pt x="1546146" y="16561"/>
                  </a:cubicBezTo>
                  <a:cubicBezTo>
                    <a:pt x="1556750" y="27165"/>
                    <a:pt x="1562707" y="41547"/>
                    <a:pt x="1562707" y="56543"/>
                  </a:cubicBezTo>
                  <a:lnTo>
                    <a:pt x="1562707" y="1168794"/>
                  </a:lnTo>
                  <a:cubicBezTo>
                    <a:pt x="1562707" y="1200022"/>
                    <a:pt x="1537392" y="1225337"/>
                    <a:pt x="1506164" y="1225337"/>
                  </a:cubicBezTo>
                  <a:lnTo>
                    <a:pt x="56543" y="1225337"/>
                  </a:lnTo>
                  <a:cubicBezTo>
                    <a:pt x="25315" y="1225337"/>
                    <a:pt x="0" y="1200022"/>
                    <a:pt x="0" y="1168794"/>
                  </a:cubicBezTo>
                  <a:lnTo>
                    <a:pt x="0" y="56543"/>
                  </a:lnTo>
                  <a:cubicBezTo>
                    <a:pt x="0" y="25315"/>
                    <a:pt x="25315" y="0"/>
                    <a:pt x="56543" y="0"/>
                  </a:cubicBezTo>
                  <a:close/>
                </a:path>
              </a:pathLst>
            </a:custGeom>
            <a:solidFill>
              <a:srgbClr val="7281FE"/>
            </a:solidFill>
          </p:spPr>
        </p:sp>
        <p:sp>
          <p:nvSpPr>
            <p:cNvPr name="TextBox 19" id="19"/>
            <p:cNvSpPr txBox="true"/>
            <p:nvPr/>
          </p:nvSpPr>
          <p:spPr>
            <a:xfrm>
              <a:off x="0" y="-66675"/>
              <a:ext cx="1562707" cy="1292012"/>
            </a:xfrm>
            <a:prstGeom prst="rect">
              <a:avLst/>
            </a:prstGeom>
          </p:spPr>
          <p:txBody>
            <a:bodyPr anchor="ctr" rtlCol="false" tIns="50800" lIns="50800" bIns="50800" rIns="50800"/>
            <a:lstStyle/>
            <a:p>
              <a:pPr algn="ctr">
                <a:lnSpc>
                  <a:spcPts val="2800"/>
                </a:lnSpc>
              </a:pPr>
            </a:p>
          </p:txBody>
        </p:sp>
      </p:grpSp>
      <p:grpSp>
        <p:nvGrpSpPr>
          <p:cNvPr name="Group 20" id="20"/>
          <p:cNvGrpSpPr/>
          <p:nvPr/>
        </p:nvGrpSpPr>
        <p:grpSpPr>
          <a:xfrm rot="0">
            <a:off x="9680050" y="746875"/>
            <a:ext cx="6190596" cy="874401"/>
            <a:chOff x="0" y="0"/>
            <a:chExt cx="8254128" cy="1165868"/>
          </a:xfrm>
        </p:grpSpPr>
        <p:grpSp>
          <p:nvGrpSpPr>
            <p:cNvPr name="Group 21" id="21"/>
            <p:cNvGrpSpPr/>
            <p:nvPr/>
          </p:nvGrpSpPr>
          <p:grpSpPr>
            <a:xfrm rot="0">
              <a:off x="0" y="0"/>
              <a:ext cx="326716" cy="1115076"/>
              <a:chOff x="0" y="0"/>
              <a:chExt cx="64536" cy="220262"/>
            </a:xfrm>
          </p:grpSpPr>
          <p:sp>
            <p:nvSpPr>
              <p:cNvPr name="Freeform 22" id="22"/>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23" id="23"/>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24" id="24"/>
            <p:cNvSpPr txBox="true"/>
            <p:nvPr/>
          </p:nvSpPr>
          <p:spPr>
            <a:xfrm rot="0">
              <a:off x="1043541" y="80230"/>
              <a:ext cx="7210588"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HOW IT WORKS</a:t>
              </a:r>
            </a:p>
          </p:txBody>
        </p:sp>
      </p:grpSp>
      <p:sp>
        <p:nvSpPr>
          <p:cNvPr name="TextBox 25" id="25"/>
          <p:cNvSpPr txBox="true"/>
          <p:nvPr/>
        </p:nvSpPr>
        <p:spPr>
          <a:xfrm rot="0">
            <a:off x="1011230" y="3611368"/>
            <a:ext cx="6225994" cy="4685382"/>
          </a:xfrm>
          <a:prstGeom prst="rect">
            <a:avLst/>
          </a:prstGeom>
        </p:spPr>
        <p:txBody>
          <a:bodyPr anchor="t" rtlCol="false" tIns="0" lIns="0" bIns="0" rIns="0">
            <a:spAutoFit/>
          </a:bodyPr>
          <a:lstStyle/>
          <a:p>
            <a:pPr algn="ctr">
              <a:lnSpc>
                <a:spcPts val="5300"/>
              </a:lnSpc>
            </a:pPr>
            <a:r>
              <a:rPr lang="en-US" b="true" sz="3786" spc="-212">
                <a:solidFill>
                  <a:srgbClr val="000000"/>
                </a:solidFill>
                <a:latin typeface="Poppins Bold"/>
                <a:ea typeface="Poppins Bold"/>
                <a:cs typeface="Poppins Bold"/>
                <a:sym typeface="Poppins Bold"/>
              </a:rPr>
              <a:t>TF-IDF</a:t>
            </a:r>
            <a:r>
              <a:rPr lang="en-US" sz="3786" spc="-212">
                <a:solidFill>
                  <a:srgbClr val="000000"/>
                </a:solidFill>
                <a:latin typeface="Poppins"/>
                <a:ea typeface="Poppins"/>
                <a:cs typeface="Poppins"/>
                <a:sym typeface="Poppins"/>
              </a:rPr>
              <a:t> stands for </a:t>
            </a:r>
            <a:r>
              <a:rPr lang="en-US" b="true" sz="3786" spc="-212">
                <a:solidFill>
                  <a:srgbClr val="000000"/>
                </a:solidFill>
                <a:latin typeface="Poppins Bold"/>
                <a:ea typeface="Poppins Bold"/>
                <a:cs typeface="Poppins Bold"/>
                <a:sym typeface="Poppins Bold"/>
              </a:rPr>
              <a:t>Term Frequency-Inverse Document Frequency.</a:t>
            </a:r>
            <a:r>
              <a:rPr lang="en-US" sz="3786" spc="-212">
                <a:solidFill>
                  <a:srgbClr val="000000"/>
                </a:solidFill>
                <a:latin typeface="Poppins"/>
                <a:ea typeface="Poppins"/>
                <a:cs typeface="Poppins"/>
                <a:sym typeface="Poppins"/>
              </a:rPr>
              <a:t> It's a numerical statistic that measures how important a word is in a document relative to other documents.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896946" y="689408"/>
            <a:ext cx="16406044" cy="874401"/>
            <a:chOff x="0" y="0"/>
            <a:chExt cx="21874726" cy="1165868"/>
          </a:xfrm>
        </p:grpSpPr>
        <p:grpSp>
          <p:nvGrpSpPr>
            <p:cNvPr name="Group 6" id="6"/>
            <p:cNvGrpSpPr/>
            <p:nvPr/>
          </p:nvGrpSpPr>
          <p:grpSpPr>
            <a:xfrm rot="0">
              <a:off x="0" y="0"/>
              <a:ext cx="326716" cy="1115076"/>
              <a:chOff x="0" y="0"/>
              <a:chExt cx="64536" cy="220262"/>
            </a:xfrm>
          </p:grpSpPr>
          <p:sp>
            <p:nvSpPr>
              <p:cNvPr name="Freeform 7" id="7"/>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8" id="8"/>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9" id="9"/>
            <p:cNvSpPr txBox="true"/>
            <p:nvPr/>
          </p:nvSpPr>
          <p:spPr>
            <a:xfrm rot="0">
              <a:off x="1043541" y="80230"/>
              <a:ext cx="20831185"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WHY WE USE</a:t>
              </a:r>
              <a:r>
                <a:rPr lang="en-US" b="true" sz="5499" spc="-318" strike="noStrike" u="none">
                  <a:solidFill>
                    <a:srgbClr val="000000"/>
                  </a:solidFill>
                  <a:latin typeface="Poppins Bold"/>
                  <a:ea typeface="Poppins Bold"/>
                  <a:cs typeface="Poppins Bold"/>
                  <a:sym typeface="Poppins Bold"/>
                </a:rPr>
                <a:t> TF-IDF?</a:t>
              </a:r>
            </a:p>
          </p:txBody>
        </p:sp>
      </p:grpSp>
      <p:grpSp>
        <p:nvGrpSpPr>
          <p:cNvPr name="Group 10" id="10"/>
          <p:cNvGrpSpPr/>
          <p:nvPr/>
        </p:nvGrpSpPr>
        <p:grpSpPr>
          <a:xfrm rot="0">
            <a:off x="544689" y="6539549"/>
            <a:ext cx="17110558" cy="3236783"/>
            <a:chOff x="0" y="0"/>
            <a:chExt cx="3829155" cy="724356"/>
          </a:xfrm>
        </p:grpSpPr>
        <p:sp>
          <p:nvSpPr>
            <p:cNvPr name="Freeform 11" id="11"/>
            <p:cNvSpPr/>
            <p:nvPr/>
          </p:nvSpPr>
          <p:spPr>
            <a:xfrm flipH="false" flipV="false" rot="0">
              <a:off x="0" y="0"/>
              <a:ext cx="3829155" cy="724356"/>
            </a:xfrm>
            <a:custGeom>
              <a:avLst/>
              <a:gdLst/>
              <a:ahLst/>
              <a:cxnLst/>
              <a:rect r="r" b="b" t="t" l="l"/>
              <a:pathLst>
                <a:path h="724356" w="3829155">
                  <a:moveTo>
                    <a:pt x="23076" y="0"/>
                  </a:moveTo>
                  <a:lnTo>
                    <a:pt x="3806079" y="0"/>
                  </a:lnTo>
                  <a:cubicBezTo>
                    <a:pt x="3818824" y="0"/>
                    <a:pt x="3829155" y="10331"/>
                    <a:pt x="3829155" y="23076"/>
                  </a:cubicBezTo>
                  <a:lnTo>
                    <a:pt x="3829155" y="701281"/>
                  </a:lnTo>
                  <a:cubicBezTo>
                    <a:pt x="3829155" y="707401"/>
                    <a:pt x="3826724" y="713270"/>
                    <a:pt x="3822396" y="717598"/>
                  </a:cubicBezTo>
                  <a:cubicBezTo>
                    <a:pt x="3818069" y="721925"/>
                    <a:pt x="3812199" y="724356"/>
                    <a:pt x="3806079" y="724356"/>
                  </a:cubicBezTo>
                  <a:lnTo>
                    <a:pt x="23076" y="724356"/>
                  </a:lnTo>
                  <a:cubicBezTo>
                    <a:pt x="10331" y="724356"/>
                    <a:pt x="0" y="714025"/>
                    <a:pt x="0" y="701281"/>
                  </a:cubicBezTo>
                  <a:lnTo>
                    <a:pt x="0" y="23076"/>
                  </a:lnTo>
                  <a:cubicBezTo>
                    <a:pt x="0" y="10331"/>
                    <a:pt x="10331" y="0"/>
                    <a:pt x="23076" y="0"/>
                  </a:cubicBezTo>
                  <a:close/>
                </a:path>
              </a:pathLst>
            </a:custGeom>
            <a:solidFill>
              <a:srgbClr val="FE8989"/>
            </a:solidFill>
          </p:spPr>
        </p:sp>
        <p:sp>
          <p:nvSpPr>
            <p:cNvPr name="TextBox 12" id="12"/>
            <p:cNvSpPr txBox="true"/>
            <p:nvPr/>
          </p:nvSpPr>
          <p:spPr>
            <a:xfrm>
              <a:off x="0" y="-66675"/>
              <a:ext cx="3829155" cy="791031"/>
            </a:xfrm>
            <a:prstGeom prst="rect">
              <a:avLst/>
            </a:prstGeom>
          </p:spPr>
          <p:txBody>
            <a:bodyPr anchor="ctr" rtlCol="false" tIns="50800" lIns="50800" bIns="50800" rIns="50800"/>
            <a:lstStyle/>
            <a:p>
              <a:pPr algn="ctr">
                <a:lnSpc>
                  <a:spcPts val="2800"/>
                </a:lnSpc>
              </a:pPr>
            </a:p>
          </p:txBody>
        </p:sp>
      </p:grpSp>
      <p:grpSp>
        <p:nvGrpSpPr>
          <p:cNvPr name="Group 13" id="13"/>
          <p:cNvGrpSpPr/>
          <p:nvPr/>
        </p:nvGrpSpPr>
        <p:grpSpPr>
          <a:xfrm rot="0">
            <a:off x="544689" y="1944809"/>
            <a:ext cx="17110558" cy="2951765"/>
            <a:chOff x="0" y="0"/>
            <a:chExt cx="3829155" cy="660573"/>
          </a:xfrm>
        </p:grpSpPr>
        <p:sp>
          <p:nvSpPr>
            <p:cNvPr name="Freeform 14" id="14"/>
            <p:cNvSpPr/>
            <p:nvPr/>
          </p:nvSpPr>
          <p:spPr>
            <a:xfrm flipH="false" flipV="false" rot="0">
              <a:off x="0" y="0"/>
              <a:ext cx="3829155" cy="660573"/>
            </a:xfrm>
            <a:custGeom>
              <a:avLst/>
              <a:gdLst/>
              <a:ahLst/>
              <a:cxnLst/>
              <a:rect r="r" b="b" t="t" l="l"/>
              <a:pathLst>
                <a:path h="660573" w="3829155">
                  <a:moveTo>
                    <a:pt x="23076" y="0"/>
                  </a:moveTo>
                  <a:lnTo>
                    <a:pt x="3806079" y="0"/>
                  </a:lnTo>
                  <a:cubicBezTo>
                    <a:pt x="3818824" y="0"/>
                    <a:pt x="3829155" y="10331"/>
                    <a:pt x="3829155" y="23076"/>
                  </a:cubicBezTo>
                  <a:lnTo>
                    <a:pt x="3829155" y="637497"/>
                  </a:lnTo>
                  <a:cubicBezTo>
                    <a:pt x="3829155" y="643617"/>
                    <a:pt x="3826724" y="649486"/>
                    <a:pt x="3822396" y="653814"/>
                  </a:cubicBezTo>
                  <a:cubicBezTo>
                    <a:pt x="3818069" y="658141"/>
                    <a:pt x="3812199" y="660573"/>
                    <a:pt x="3806079" y="660573"/>
                  </a:cubicBezTo>
                  <a:lnTo>
                    <a:pt x="23076" y="660573"/>
                  </a:lnTo>
                  <a:cubicBezTo>
                    <a:pt x="10331" y="660573"/>
                    <a:pt x="0" y="650241"/>
                    <a:pt x="0" y="637497"/>
                  </a:cubicBezTo>
                  <a:lnTo>
                    <a:pt x="0" y="23076"/>
                  </a:lnTo>
                  <a:cubicBezTo>
                    <a:pt x="0" y="10331"/>
                    <a:pt x="10331" y="0"/>
                    <a:pt x="23076" y="0"/>
                  </a:cubicBezTo>
                  <a:close/>
                </a:path>
              </a:pathLst>
            </a:custGeom>
            <a:solidFill>
              <a:srgbClr val="7281FE"/>
            </a:solidFill>
          </p:spPr>
        </p:sp>
        <p:sp>
          <p:nvSpPr>
            <p:cNvPr name="TextBox 15" id="15"/>
            <p:cNvSpPr txBox="true"/>
            <p:nvPr/>
          </p:nvSpPr>
          <p:spPr>
            <a:xfrm>
              <a:off x="0" y="-66675"/>
              <a:ext cx="3829155" cy="727248"/>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896946" y="2104160"/>
            <a:ext cx="16248070" cy="2528287"/>
          </a:xfrm>
          <a:prstGeom prst="rect">
            <a:avLst/>
          </a:prstGeom>
        </p:spPr>
        <p:txBody>
          <a:bodyPr anchor="t" rtlCol="false" tIns="0" lIns="0" bIns="0" rIns="0">
            <a:spAutoFit/>
          </a:bodyPr>
          <a:lstStyle/>
          <a:p>
            <a:pPr algn="l" marL="774251" indent="-387125" lvl="1">
              <a:lnSpc>
                <a:spcPts val="5020"/>
              </a:lnSpc>
              <a:buFont typeface="Arial"/>
              <a:buChar char="•"/>
            </a:pPr>
            <a:r>
              <a:rPr lang="en-US" b="true" sz="3586" spc="-200">
                <a:solidFill>
                  <a:srgbClr val="000000"/>
                </a:solidFill>
                <a:latin typeface="Poppins Bold"/>
                <a:ea typeface="Poppins Bold"/>
                <a:cs typeface="Poppins Bold"/>
                <a:sym typeface="Poppins Bold"/>
              </a:rPr>
              <a:t>Detects Exact Copying:</a:t>
            </a:r>
            <a:r>
              <a:rPr lang="en-US" sz="3586" spc="-200">
                <a:solidFill>
                  <a:srgbClr val="000000"/>
                </a:solidFill>
                <a:latin typeface="Poppins"/>
                <a:ea typeface="Poppins"/>
                <a:cs typeface="Poppins"/>
                <a:sym typeface="Poppins"/>
              </a:rPr>
              <a:t> Excellent at finding identical or nearly identical words</a:t>
            </a:r>
          </a:p>
          <a:p>
            <a:pPr algn="l" marL="774251" indent="-387125" lvl="1">
              <a:lnSpc>
                <a:spcPts val="5020"/>
              </a:lnSpc>
              <a:buFont typeface="Arial"/>
              <a:buChar char="•"/>
            </a:pPr>
            <a:r>
              <a:rPr lang="en-US" b="true" sz="3586" spc="-200">
                <a:solidFill>
                  <a:srgbClr val="000000"/>
                </a:solidFill>
                <a:latin typeface="Poppins Bold"/>
                <a:ea typeface="Poppins Bold"/>
                <a:cs typeface="Poppins Bold"/>
                <a:sym typeface="Poppins Bold"/>
              </a:rPr>
              <a:t>Fast P</a:t>
            </a:r>
            <a:r>
              <a:rPr lang="en-US" b="true" sz="3586" spc="-200">
                <a:solidFill>
                  <a:srgbClr val="000000"/>
                </a:solidFill>
                <a:latin typeface="Poppins Bold"/>
                <a:ea typeface="Poppins Bold"/>
                <a:cs typeface="Poppins Bold"/>
                <a:sym typeface="Poppins Bold"/>
              </a:rPr>
              <a:t>rocessing: </a:t>
            </a:r>
            <a:r>
              <a:rPr lang="en-US" sz="3586" spc="-200">
                <a:solidFill>
                  <a:srgbClr val="000000"/>
                </a:solidFill>
                <a:latin typeface="Poppins"/>
                <a:ea typeface="Poppins"/>
                <a:cs typeface="Poppins"/>
                <a:sym typeface="Poppins"/>
              </a:rPr>
              <a:t>Computationally efficient</a:t>
            </a:r>
          </a:p>
          <a:p>
            <a:pPr algn="l" marL="774251" indent="-387125" lvl="1">
              <a:lnSpc>
                <a:spcPts val="5020"/>
              </a:lnSpc>
              <a:buFont typeface="Arial"/>
              <a:buChar char="•"/>
            </a:pPr>
            <a:r>
              <a:rPr lang="en-US" b="true" sz="3586" spc="-200">
                <a:solidFill>
                  <a:srgbClr val="000000"/>
                </a:solidFill>
                <a:latin typeface="Poppins Bold"/>
                <a:ea typeface="Poppins Bold"/>
                <a:cs typeface="Poppins Bold"/>
                <a:sym typeface="Poppins Bold"/>
              </a:rPr>
              <a:t>Handles Direct Plagiarism:</a:t>
            </a:r>
            <a:r>
              <a:rPr lang="en-US" sz="3586" spc="-200">
                <a:solidFill>
                  <a:srgbClr val="000000"/>
                </a:solidFill>
                <a:latin typeface="Poppins"/>
                <a:ea typeface="Poppins"/>
                <a:cs typeface="Poppins"/>
                <a:sym typeface="Poppins"/>
              </a:rPr>
              <a:t> Catches students who copy text word-for-word</a:t>
            </a:r>
          </a:p>
        </p:txBody>
      </p:sp>
      <p:grpSp>
        <p:nvGrpSpPr>
          <p:cNvPr name="Group 17" id="17"/>
          <p:cNvGrpSpPr/>
          <p:nvPr/>
        </p:nvGrpSpPr>
        <p:grpSpPr>
          <a:xfrm rot="0">
            <a:off x="896946" y="5280861"/>
            <a:ext cx="16112497" cy="874401"/>
            <a:chOff x="0" y="0"/>
            <a:chExt cx="21483329" cy="1165868"/>
          </a:xfrm>
        </p:grpSpPr>
        <p:grpSp>
          <p:nvGrpSpPr>
            <p:cNvPr name="Group 18" id="18"/>
            <p:cNvGrpSpPr/>
            <p:nvPr/>
          </p:nvGrpSpPr>
          <p:grpSpPr>
            <a:xfrm rot="0">
              <a:off x="0" y="0"/>
              <a:ext cx="326716" cy="1115076"/>
              <a:chOff x="0" y="0"/>
              <a:chExt cx="64536" cy="220262"/>
            </a:xfrm>
          </p:grpSpPr>
          <p:sp>
            <p:nvSpPr>
              <p:cNvPr name="Freeform 19" id="19"/>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20" id="20"/>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21" id="21"/>
            <p:cNvSpPr txBox="true"/>
            <p:nvPr/>
          </p:nvSpPr>
          <p:spPr>
            <a:xfrm rot="0">
              <a:off x="1043541" y="80230"/>
              <a:ext cx="20439788"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ALTHOUGH, IT HAVE LIMITATIONS...</a:t>
              </a:r>
            </a:p>
          </p:txBody>
        </p:sp>
      </p:grpSp>
      <p:sp>
        <p:nvSpPr>
          <p:cNvPr name="TextBox 22" id="22"/>
          <p:cNvSpPr txBox="true"/>
          <p:nvPr/>
        </p:nvSpPr>
        <p:spPr>
          <a:xfrm rot="0">
            <a:off x="975933" y="6684564"/>
            <a:ext cx="16248070" cy="2832452"/>
          </a:xfrm>
          <a:prstGeom prst="rect">
            <a:avLst/>
          </a:prstGeom>
        </p:spPr>
        <p:txBody>
          <a:bodyPr anchor="t" rtlCol="false" tIns="0" lIns="0" bIns="0" rIns="0">
            <a:spAutoFit/>
          </a:bodyPr>
          <a:lstStyle/>
          <a:p>
            <a:pPr algn="l" marL="860609" indent="-430304" lvl="1">
              <a:lnSpc>
                <a:spcPts val="5580"/>
              </a:lnSpc>
              <a:buFont typeface="Arial"/>
              <a:buChar char="•"/>
            </a:pPr>
            <a:r>
              <a:rPr lang="en-US" b="true" sz="3986" spc="-223">
                <a:solidFill>
                  <a:srgbClr val="000000"/>
                </a:solidFill>
                <a:latin typeface="Poppins Bold"/>
                <a:ea typeface="Poppins Bold"/>
                <a:cs typeface="Poppins Bold"/>
                <a:sym typeface="Poppins Bold"/>
              </a:rPr>
              <a:t>Cannot Detect Paraphrasing:</a:t>
            </a:r>
            <a:r>
              <a:rPr lang="en-US" sz="3986" spc="-223">
                <a:solidFill>
                  <a:srgbClr val="000000"/>
                </a:solidFill>
                <a:latin typeface="Poppins"/>
                <a:ea typeface="Poppins"/>
                <a:cs typeface="Poppins"/>
                <a:sym typeface="Poppins"/>
              </a:rPr>
              <a:t> If a sentence is rephrased with different words bu</a:t>
            </a:r>
            <a:r>
              <a:rPr lang="en-US" sz="3986" spc="-223">
                <a:solidFill>
                  <a:srgbClr val="000000"/>
                </a:solidFill>
                <a:latin typeface="Poppins"/>
                <a:ea typeface="Poppins"/>
                <a:cs typeface="Poppins"/>
                <a:sym typeface="Poppins"/>
              </a:rPr>
              <a:t>t sam</a:t>
            </a:r>
            <a:r>
              <a:rPr lang="en-US" sz="3986" spc="-223">
                <a:solidFill>
                  <a:srgbClr val="000000"/>
                </a:solidFill>
                <a:latin typeface="Poppins"/>
                <a:ea typeface="Poppins"/>
                <a:cs typeface="Poppins"/>
                <a:sym typeface="Poppins"/>
              </a:rPr>
              <a:t>e meaning, TF-IDF misses it</a:t>
            </a:r>
          </a:p>
          <a:p>
            <a:pPr algn="l" marL="860609" indent="-430304" lvl="1">
              <a:lnSpc>
                <a:spcPts val="5580"/>
              </a:lnSpc>
              <a:buFont typeface="Arial"/>
              <a:buChar char="•"/>
            </a:pPr>
            <a:r>
              <a:rPr lang="en-US" b="true" sz="3986" spc="-223">
                <a:solidFill>
                  <a:srgbClr val="000000"/>
                </a:solidFill>
                <a:latin typeface="Poppins Bold"/>
                <a:ea typeface="Poppins Bold"/>
                <a:cs typeface="Poppins Bold"/>
                <a:sym typeface="Poppins Bold"/>
              </a:rPr>
              <a:t>No Context Understanding:</a:t>
            </a:r>
            <a:r>
              <a:rPr lang="en-US" sz="3986" spc="-223">
                <a:solidFill>
                  <a:srgbClr val="000000"/>
                </a:solidFill>
                <a:latin typeface="Poppins"/>
                <a:ea typeface="Poppins"/>
                <a:cs typeface="Poppins"/>
                <a:sym typeface="Poppins"/>
              </a:rPr>
              <a:t> Treats all words equally, doesn't understand meaning</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5553419" y="6719816"/>
            <a:ext cx="6713220" cy="7505700"/>
            <a:chOff x="0" y="0"/>
            <a:chExt cx="1768091" cy="1976810"/>
          </a:xfrm>
        </p:grpSpPr>
        <p:sp>
          <p:nvSpPr>
            <p:cNvPr name="Freeform 3" id="3"/>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4" id="4"/>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5190404" y="7275504"/>
            <a:ext cx="6950011" cy="695001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7" id="7"/>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806613" y="7694080"/>
            <a:ext cx="647546" cy="566602"/>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0" id="10"/>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8400859"/>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9107638"/>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6083461" y="3815292"/>
            <a:ext cx="6101202" cy="2656415"/>
            <a:chOff x="0" y="0"/>
            <a:chExt cx="1008236" cy="438978"/>
          </a:xfrm>
        </p:grpSpPr>
        <p:sp>
          <p:nvSpPr>
            <p:cNvPr name="Freeform 18" id="18"/>
            <p:cNvSpPr/>
            <p:nvPr/>
          </p:nvSpPr>
          <p:spPr>
            <a:xfrm flipH="false" flipV="false" rot="0">
              <a:off x="0" y="0"/>
              <a:ext cx="1008237" cy="438978"/>
            </a:xfrm>
            <a:custGeom>
              <a:avLst/>
              <a:gdLst/>
              <a:ahLst/>
              <a:cxnLst/>
              <a:rect r="r" b="b" t="t" l="l"/>
              <a:pathLst>
                <a:path h="438978" w="1008237">
                  <a:moveTo>
                    <a:pt x="64715" y="0"/>
                  </a:moveTo>
                  <a:lnTo>
                    <a:pt x="943522" y="0"/>
                  </a:lnTo>
                  <a:cubicBezTo>
                    <a:pt x="979263" y="0"/>
                    <a:pt x="1008237" y="28974"/>
                    <a:pt x="1008237" y="64715"/>
                  </a:cubicBezTo>
                  <a:lnTo>
                    <a:pt x="1008237" y="374263"/>
                  </a:lnTo>
                  <a:cubicBezTo>
                    <a:pt x="1008237" y="391427"/>
                    <a:pt x="1001418" y="407887"/>
                    <a:pt x="989282" y="420024"/>
                  </a:cubicBezTo>
                  <a:cubicBezTo>
                    <a:pt x="977146" y="432160"/>
                    <a:pt x="960685" y="438978"/>
                    <a:pt x="943522" y="438978"/>
                  </a:cubicBezTo>
                  <a:lnTo>
                    <a:pt x="64715" y="438978"/>
                  </a:lnTo>
                  <a:cubicBezTo>
                    <a:pt x="28974" y="438978"/>
                    <a:pt x="0" y="410004"/>
                    <a:pt x="0" y="374263"/>
                  </a:cubicBezTo>
                  <a:lnTo>
                    <a:pt x="0" y="64715"/>
                  </a:lnTo>
                  <a:cubicBezTo>
                    <a:pt x="0" y="28974"/>
                    <a:pt x="28974" y="0"/>
                    <a:pt x="64715" y="0"/>
                  </a:cubicBezTo>
                  <a:close/>
                </a:path>
              </a:pathLst>
            </a:custGeom>
            <a:solidFill>
              <a:srgbClr val="FEB389"/>
            </a:solidFill>
          </p:spPr>
        </p:sp>
        <p:sp>
          <p:nvSpPr>
            <p:cNvPr name="TextBox 19" id="19"/>
            <p:cNvSpPr txBox="true"/>
            <p:nvPr/>
          </p:nvSpPr>
          <p:spPr>
            <a:xfrm>
              <a:off x="0" y="-57150"/>
              <a:ext cx="1008236" cy="496128"/>
            </a:xfrm>
            <a:prstGeom prst="rect">
              <a:avLst/>
            </a:prstGeom>
          </p:spPr>
          <p:txBody>
            <a:bodyPr anchor="ctr" rtlCol="false" tIns="68795" lIns="68795" bIns="68795" rIns="68795"/>
            <a:lstStyle/>
            <a:p>
              <a:pPr algn="ctr">
                <a:lnSpc>
                  <a:spcPts val="2799"/>
                </a:lnSpc>
              </a:pPr>
            </a:p>
          </p:txBody>
        </p:sp>
      </p:grpSp>
      <p:grpSp>
        <p:nvGrpSpPr>
          <p:cNvPr name="Group 20" id="20"/>
          <p:cNvGrpSpPr/>
          <p:nvPr/>
        </p:nvGrpSpPr>
        <p:grpSpPr>
          <a:xfrm rot="0">
            <a:off x="6093399" y="3951783"/>
            <a:ext cx="6101202" cy="2383435"/>
            <a:chOff x="0" y="0"/>
            <a:chExt cx="8134936" cy="3177913"/>
          </a:xfrm>
        </p:grpSpPr>
        <p:sp>
          <p:nvSpPr>
            <p:cNvPr name="TextBox 21" id="21"/>
            <p:cNvSpPr txBox="true"/>
            <p:nvPr/>
          </p:nvSpPr>
          <p:spPr>
            <a:xfrm rot="0">
              <a:off x="0" y="57150"/>
              <a:ext cx="8123363" cy="2008782"/>
            </a:xfrm>
            <a:prstGeom prst="rect">
              <a:avLst/>
            </a:prstGeom>
          </p:spPr>
          <p:txBody>
            <a:bodyPr anchor="t" rtlCol="false" tIns="0" lIns="0" bIns="0" rIns="0">
              <a:spAutoFit/>
            </a:bodyPr>
            <a:lstStyle/>
            <a:p>
              <a:pPr algn="ctr" marL="0" indent="0" lvl="0">
                <a:lnSpc>
                  <a:spcPts val="10643"/>
                </a:lnSpc>
                <a:spcBef>
                  <a:spcPct val="0"/>
                </a:spcBef>
              </a:pPr>
              <a:r>
                <a:rPr lang="en-US" sz="10233" spc="-593">
                  <a:solidFill>
                    <a:srgbClr val="000000"/>
                  </a:solidFill>
                  <a:latin typeface="Poppins"/>
                  <a:ea typeface="Poppins"/>
                  <a:cs typeface="Poppins"/>
                  <a:sym typeface="Poppins"/>
                </a:rPr>
                <a:t>BERT</a:t>
              </a:r>
            </a:p>
          </p:txBody>
        </p:sp>
        <p:sp>
          <p:nvSpPr>
            <p:cNvPr name="TextBox 22" id="22"/>
            <p:cNvSpPr txBox="true"/>
            <p:nvPr/>
          </p:nvSpPr>
          <p:spPr>
            <a:xfrm rot="0">
              <a:off x="11573" y="2094507"/>
              <a:ext cx="8123363" cy="1083406"/>
            </a:xfrm>
            <a:prstGeom prst="rect">
              <a:avLst/>
            </a:prstGeom>
          </p:spPr>
          <p:txBody>
            <a:bodyPr anchor="t" rtlCol="false" tIns="0" lIns="0" bIns="0" rIns="0">
              <a:spAutoFit/>
            </a:bodyPr>
            <a:lstStyle/>
            <a:p>
              <a:pPr algn="ctr" marL="0" indent="0" lvl="0">
                <a:lnSpc>
                  <a:spcPts val="5713"/>
                </a:lnSpc>
                <a:spcBef>
                  <a:spcPct val="0"/>
                </a:spcBef>
              </a:pPr>
              <a:r>
                <a:rPr lang="en-US" sz="5494" spc="-318">
                  <a:solidFill>
                    <a:srgbClr val="000000"/>
                  </a:solidFill>
                  <a:latin typeface="Poppins"/>
                  <a:ea typeface="Poppins"/>
                  <a:cs typeface="Poppins"/>
                  <a:sym typeface="Poppins"/>
                </a:rPr>
                <a:t>(60% WEIGHT)</a:t>
              </a:r>
            </a:p>
          </p:txBody>
        </p:sp>
      </p:grpSp>
    </p:spTree>
  </p:cSld>
  <p:clrMapOvr>
    <a:masterClrMapping/>
  </p:clrMapOvr>
</p:sld>
</file>

<file path=ppt/slides/slide17.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1011230" y="1902602"/>
            <a:ext cx="6190596" cy="874401"/>
            <a:chOff x="0" y="0"/>
            <a:chExt cx="8254128" cy="1165868"/>
          </a:xfrm>
        </p:grpSpPr>
        <p:grpSp>
          <p:nvGrpSpPr>
            <p:cNvPr name="Group 9" id="9"/>
            <p:cNvGrpSpPr/>
            <p:nvPr/>
          </p:nvGrpSpPr>
          <p:grpSpPr>
            <a:xfrm rot="0">
              <a:off x="0" y="0"/>
              <a:ext cx="326716" cy="1115076"/>
              <a:chOff x="0" y="0"/>
              <a:chExt cx="64536" cy="220262"/>
            </a:xfrm>
          </p:grpSpPr>
          <p:sp>
            <p:nvSpPr>
              <p:cNvPr name="Freeform 10" id="10"/>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11" id="11"/>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12" id="12"/>
            <p:cNvSpPr txBox="true"/>
            <p:nvPr/>
          </p:nvSpPr>
          <p:spPr>
            <a:xfrm rot="0">
              <a:off x="1043541" y="80230"/>
              <a:ext cx="7210588"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WHA</a:t>
              </a:r>
              <a:r>
                <a:rPr lang="en-US" b="true" sz="5499" spc="-318" strike="noStrike" u="none">
                  <a:solidFill>
                    <a:srgbClr val="000000"/>
                  </a:solidFill>
                  <a:latin typeface="Poppins Bold"/>
                  <a:ea typeface="Poppins Bold"/>
                  <a:cs typeface="Poppins Bold"/>
                  <a:sym typeface="Poppins Bold"/>
                </a:rPr>
                <a:t>T</a:t>
              </a:r>
              <a:r>
                <a:rPr lang="en-US" b="true" sz="5499" spc="-318" strike="noStrike" u="none">
                  <a:solidFill>
                    <a:srgbClr val="000000"/>
                  </a:solidFill>
                  <a:latin typeface="Poppins Bold"/>
                  <a:ea typeface="Poppins Bold"/>
                  <a:cs typeface="Poppins Bold"/>
                  <a:sym typeface="Poppins Bold"/>
                </a:rPr>
                <a:t> IS BERT?</a:t>
              </a:r>
            </a:p>
          </p:txBody>
        </p:sp>
      </p:grpSp>
      <p:grpSp>
        <p:nvGrpSpPr>
          <p:cNvPr name="Group 13" id="13"/>
          <p:cNvGrpSpPr/>
          <p:nvPr/>
        </p:nvGrpSpPr>
        <p:grpSpPr>
          <a:xfrm rot="0">
            <a:off x="7895450" y="1902602"/>
            <a:ext cx="9759797" cy="8020504"/>
            <a:chOff x="0" y="0"/>
            <a:chExt cx="2184135" cy="1794901"/>
          </a:xfrm>
        </p:grpSpPr>
        <p:sp>
          <p:nvSpPr>
            <p:cNvPr name="Freeform 14" id="14"/>
            <p:cNvSpPr/>
            <p:nvPr/>
          </p:nvSpPr>
          <p:spPr>
            <a:xfrm flipH="false" flipV="false" rot="0">
              <a:off x="0" y="0"/>
              <a:ext cx="2184135" cy="1794901"/>
            </a:xfrm>
            <a:custGeom>
              <a:avLst/>
              <a:gdLst/>
              <a:ahLst/>
              <a:cxnLst/>
              <a:rect r="r" b="b" t="t" l="l"/>
              <a:pathLst>
                <a:path h="1794901" w="2184135">
                  <a:moveTo>
                    <a:pt x="40456" y="0"/>
                  </a:moveTo>
                  <a:lnTo>
                    <a:pt x="2143680" y="0"/>
                  </a:lnTo>
                  <a:cubicBezTo>
                    <a:pt x="2166023" y="0"/>
                    <a:pt x="2184135" y="18113"/>
                    <a:pt x="2184135" y="40456"/>
                  </a:cubicBezTo>
                  <a:lnTo>
                    <a:pt x="2184135" y="1754445"/>
                  </a:lnTo>
                  <a:cubicBezTo>
                    <a:pt x="2184135" y="1765175"/>
                    <a:pt x="2179873" y="1775465"/>
                    <a:pt x="2172286" y="1783052"/>
                  </a:cubicBezTo>
                  <a:cubicBezTo>
                    <a:pt x="2164699" y="1790638"/>
                    <a:pt x="2154409" y="1794901"/>
                    <a:pt x="2143680" y="1794901"/>
                  </a:cubicBezTo>
                  <a:lnTo>
                    <a:pt x="40456" y="1794901"/>
                  </a:lnTo>
                  <a:cubicBezTo>
                    <a:pt x="29726" y="1794901"/>
                    <a:pt x="19436" y="1790638"/>
                    <a:pt x="11849" y="1783052"/>
                  </a:cubicBezTo>
                  <a:cubicBezTo>
                    <a:pt x="4262" y="1775465"/>
                    <a:pt x="0" y="1765175"/>
                    <a:pt x="0" y="1754445"/>
                  </a:cubicBezTo>
                  <a:lnTo>
                    <a:pt x="0" y="40456"/>
                  </a:lnTo>
                  <a:cubicBezTo>
                    <a:pt x="0" y="29726"/>
                    <a:pt x="4262" y="19436"/>
                    <a:pt x="11849" y="11849"/>
                  </a:cubicBezTo>
                  <a:cubicBezTo>
                    <a:pt x="19436" y="4262"/>
                    <a:pt x="29726" y="0"/>
                    <a:pt x="40456" y="0"/>
                  </a:cubicBezTo>
                  <a:close/>
                </a:path>
              </a:pathLst>
            </a:custGeom>
            <a:solidFill>
              <a:srgbClr val="FEB389"/>
            </a:solidFill>
          </p:spPr>
        </p:sp>
        <p:sp>
          <p:nvSpPr>
            <p:cNvPr name="TextBox 15" id="15"/>
            <p:cNvSpPr txBox="true"/>
            <p:nvPr/>
          </p:nvSpPr>
          <p:spPr>
            <a:xfrm>
              <a:off x="0" y="-66675"/>
              <a:ext cx="2184135" cy="1861576"/>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7895450" y="2179513"/>
            <a:ext cx="9073403" cy="7352382"/>
          </a:xfrm>
          <a:prstGeom prst="rect">
            <a:avLst/>
          </a:prstGeom>
        </p:spPr>
        <p:txBody>
          <a:bodyPr anchor="t" rtlCol="false" tIns="0" lIns="0" bIns="0" rIns="0">
            <a:spAutoFit/>
          </a:bodyPr>
          <a:lstStyle/>
          <a:p>
            <a:pPr algn="l" marL="817430" indent="-408715" lvl="1">
              <a:lnSpc>
                <a:spcPts val="5300"/>
              </a:lnSpc>
              <a:buAutoNum type="arabicPeriod" startAt="1"/>
            </a:pPr>
            <a:r>
              <a:rPr lang="en-US" b="true" sz="3786" spc="-212">
                <a:solidFill>
                  <a:srgbClr val="000000"/>
                </a:solidFill>
                <a:latin typeface="Poppins Bold"/>
                <a:ea typeface="Poppins Bold"/>
                <a:cs typeface="Poppins Bold"/>
                <a:sym typeface="Poppins Bold"/>
              </a:rPr>
              <a:t>Deep Learning:</a:t>
            </a:r>
            <a:r>
              <a:rPr lang="en-US" sz="3786" spc="-212">
                <a:solidFill>
                  <a:srgbClr val="000000"/>
                </a:solidFill>
                <a:latin typeface="Poppins"/>
                <a:ea typeface="Poppins"/>
                <a:cs typeface="Poppins"/>
                <a:sym typeface="Poppins"/>
              </a:rPr>
              <a:t> Uses neural networks to understand language patterns</a:t>
            </a:r>
          </a:p>
          <a:p>
            <a:pPr algn="l" marL="817430" indent="-408715" lvl="1">
              <a:lnSpc>
                <a:spcPts val="5300"/>
              </a:lnSpc>
              <a:buAutoNum type="arabicPeriod" startAt="1"/>
            </a:pPr>
            <a:r>
              <a:rPr lang="en-US" b="true" sz="3786" spc="-212">
                <a:solidFill>
                  <a:srgbClr val="000000"/>
                </a:solidFill>
                <a:latin typeface="Poppins Bold"/>
                <a:ea typeface="Poppins Bold"/>
                <a:cs typeface="Poppins Bold"/>
                <a:sym typeface="Poppins Bold"/>
              </a:rPr>
              <a:t>Semantic Embeddings:</a:t>
            </a:r>
            <a:r>
              <a:rPr lang="en-US" sz="3786" spc="-212">
                <a:solidFill>
                  <a:srgbClr val="000000"/>
                </a:solidFill>
                <a:latin typeface="Poppins"/>
                <a:ea typeface="Poppins"/>
                <a:cs typeface="Poppins"/>
                <a:sym typeface="Poppins"/>
              </a:rPr>
              <a:t> Converts text into numerical representations that capture meaning</a:t>
            </a:r>
          </a:p>
          <a:p>
            <a:pPr algn="l" marL="817430" indent="-408715" lvl="1">
              <a:lnSpc>
                <a:spcPts val="5300"/>
              </a:lnSpc>
              <a:buAutoNum type="arabicPeriod" startAt="1"/>
            </a:pPr>
            <a:r>
              <a:rPr lang="en-US" b="true" sz="3786" spc="-212">
                <a:solidFill>
                  <a:srgbClr val="000000"/>
                </a:solidFill>
                <a:latin typeface="Poppins Bold"/>
                <a:ea typeface="Poppins Bold"/>
                <a:cs typeface="Poppins Bold"/>
                <a:sym typeface="Poppins Bold"/>
              </a:rPr>
              <a:t>Contextual Analysis:</a:t>
            </a:r>
            <a:r>
              <a:rPr lang="en-US" sz="3786" spc="-212">
                <a:solidFill>
                  <a:srgbClr val="000000"/>
                </a:solidFill>
                <a:latin typeface="Poppins"/>
                <a:ea typeface="Poppins"/>
                <a:cs typeface="Poppins"/>
                <a:sym typeface="Poppins"/>
              </a:rPr>
              <a:t> Understands that different words can mean the same thing</a:t>
            </a:r>
          </a:p>
          <a:p>
            <a:pPr algn="l" marL="817430" indent="-408715" lvl="1">
              <a:lnSpc>
                <a:spcPts val="5300"/>
              </a:lnSpc>
              <a:buAutoNum type="arabicPeriod" startAt="1"/>
            </a:pPr>
            <a:r>
              <a:rPr lang="en-US" b="true" sz="3786" spc="-212">
                <a:solidFill>
                  <a:srgbClr val="000000"/>
                </a:solidFill>
                <a:latin typeface="Poppins Bold"/>
                <a:ea typeface="Poppins Bold"/>
                <a:cs typeface="Poppins Bold"/>
                <a:sym typeface="Poppins Bold"/>
              </a:rPr>
              <a:t>Similarity Matching:</a:t>
            </a:r>
            <a:r>
              <a:rPr lang="en-US" sz="3786" spc="-212">
                <a:solidFill>
                  <a:srgbClr val="000000"/>
                </a:solidFill>
                <a:latin typeface="Poppins"/>
                <a:ea typeface="Poppins"/>
                <a:cs typeface="Poppins"/>
                <a:sym typeface="Poppins"/>
              </a:rPr>
              <a:t> Compares the semantic meaning between documents</a:t>
            </a:r>
          </a:p>
        </p:txBody>
      </p:sp>
      <p:grpSp>
        <p:nvGrpSpPr>
          <p:cNvPr name="Group 17" id="17"/>
          <p:cNvGrpSpPr/>
          <p:nvPr/>
        </p:nvGrpSpPr>
        <p:grpSpPr>
          <a:xfrm rot="0">
            <a:off x="632753" y="3156083"/>
            <a:ext cx="6982948" cy="5798316"/>
            <a:chOff x="0" y="0"/>
            <a:chExt cx="1562707" cy="1297599"/>
          </a:xfrm>
        </p:grpSpPr>
        <p:sp>
          <p:nvSpPr>
            <p:cNvPr name="Freeform 18" id="18"/>
            <p:cNvSpPr/>
            <p:nvPr/>
          </p:nvSpPr>
          <p:spPr>
            <a:xfrm flipH="false" flipV="false" rot="0">
              <a:off x="0" y="0"/>
              <a:ext cx="1562707" cy="1297599"/>
            </a:xfrm>
            <a:custGeom>
              <a:avLst/>
              <a:gdLst/>
              <a:ahLst/>
              <a:cxnLst/>
              <a:rect r="r" b="b" t="t" l="l"/>
              <a:pathLst>
                <a:path h="1297599" w="1562707">
                  <a:moveTo>
                    <a:pt x="56543" y="0"/>
                  </a:moveTo>
                  <a:lnTo>
                    <a:pt x="1506164" y="0"/>
                  </a:lnTo>
                  <a:cubicBezTo>
                    <a:pt x="1521160" y="0"/>
                    <a:pt x="1535542" y="5957"/>
                    <a:pt x="1546146" y="16561"/>
                  </a:cubicBezTo>
                  <a:cubicBezTo>
                    <a:pt x="1556750" y="27165"/>
                    <a:pt x="1562707" y="41547"/>
                    <a:pt x="1562707" y="56543"/>
                  </a:cubicBezTo>
                  <a:lnTo>
                    <a:pt x="1562707" y="1241056"/>
                  </a:lnTo>
                  <a:cubicBezTo>
                    <a:pt x="1562707" y="1272284"/>
                    <a:pt x="1537392" y="1297599"/>
                    <a:pt x="1506164" y="1297599"/>
                  </a:cubicBezTo>
                  <a:lnTo>
                    <a:pt x="56543" y="1297599"/>
                  </a:lnTo>
                  <a:cubicBezTo>
                    <a:pt x="25315" y="1297599"/>
                    <a:pt x="0" y="1272284"/>
                    <a:pt x="0" y="1241056"/>
                  </a:cubicBezTo>
                  <a:lnTo>
                    <a:pt x="0" y="56543"/>
                  </a:lnTo>
                  <a:cubicBezTo>
                    <a:pt x="0" y="25315"/>
                    <a:pt x="25315" y="0"/>
                    <a:pt x="56543" y="0"/>
                  </a:cubicBezTo>
                  <a:close/>
                </a:path>
              </a:pathLst>
            </a:custGeom>
            <a:solidFill>
              <a:srgbClr val="7281FE"/>
            </a:solidFill>
          </p:spPr>
        </p:sp>
        <p:sp>
          <p:nvSpPr>
            <p:cNvPr name="TextBox 19" id="19"/>
            <p:cNvSpPr txBox="true"/>
            <p:nvPr/>
          </p:nvSpPr>
          <p:spPr>
            <a:xfrm>
              <a:off x="0" y="-66675"/>
              <a:ext cx="1562707" cy="1364274"/>
            </a:xfrm>
            <a:prstGeom prst="rect">
              <a:avLst/>
            </a:prstGeom>
          </p:spPr>
          <p:txBody>
            <a:bodyPr anchor="ctr" rtlCol="false" tIns="50800" lIns="50800" bIns="50800" rIns="50800"/>
            <a:lstStyle/>
            <a:p>
              <a:pPr algn="ctr">
                <a:lnSpc>
                  <a:spcPts val="2800"/>
                </a:lnSpc>
              </a:pPr>
            </a:p>
          </p:txBody>
        </p:sp>
      </p:grpSp>
      <p:grpSp>
        <p:nvGrpSpPr>
          <p:cNvPr name="Group 20" id="20"/>
          <p:cNvGrpSpPr/>
          <p:nvPr/>
        </p:nvGrpSpPr>
        <p:grpSpPr>
          <a:xfrm rot="0">
            <a:off x="9680050" y="746875"/>
            <a:ext cx="6190596" cy="874401"/>
            <a:chOff x="0" y="0"/>
            <a:chExt cx="8254128" cy="1165868"/>
          </a:xfrm>
        </p:grpSpPr>
        <p:grpSp>
          <p:nvGrpSpPr>
            <p:cNvPr name="Group 21" id="21"/>
            <p:cNvGrpSpPr/>
            <p:nvPr/>
          </p:nvGrpSpPr>
          <p:grpSpPr>
            <a:xfrm rot="0">
              <a:off x="0" y="0"/>
              <a:ext cx="326716" cy="1115076"/>
              <a:chOff x="0" y="0"/>
              <a:chExt cx="64536" cy="220262"/>
            </a:xfrm>
          </p:grpSpPr>
          <p:sp>
            <p:nvSpPr>
              <p:cNvPr name="Freeform 22" id="22"/>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23" id="23"/>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24" id="24"/>
            <p:cNvSpPr txBox="true"/>
            <p:nvPr/>
          </p:nvSpPr>
          <p:spPr>
            <a:xfrm rot="0">
              <a:off x="1043541" y="80230"/>
              <a:ext cx="7210588"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HOW IT WORKS</a:t>
              </a:r>
            </a:p>
          </p:txBody>
        </p:sp>
      </p:grpSp>
      <p:sp>
        <p:nvSpPr>
          <p:cNvPr name="TextBox 25" id="25"/>
          <p:cNvSpPr txBox="true"/>
          <p:nvPr/>
        </p:nvSpPr>
        <p:spPr>
          <a:xfrm rot="0">
            <a:off x="1028700" y="3329453"/>
            <a:ext cx="6225994" cy="5352132"/>
          </a:xfrm>
          <a:prstGeom prst="rect">
            <a:avLst/>
          </a:prstGeom>
        </p:spPr>
        <p:txBody>
          <a:bodyPr anchor="t" rtlCol="false" tIns="0" lIns="0" bIns="0" rIns="0">
            <a:spAutoFit/>
          </a:bodyPr>
          <a:lstStyle/>
          <a:p>
            <a:pPr algn="ctr">
              <a:lnSpc>
                <a:spcPts val="5300"/>
              </a:lnSpc>
            </a:pPr>
            <a:r>
              <a:rPr lang="en-US" b="true" sz="3786" spc="-212">
                <a:solidFill>
                  <a:srgbClr val="000000"/>
                </a:solidFill>
                <a:latin typeface="Poppins Bold"/>
                <a:ea typeface="Poppins Bold"/>
                <a:cs typeface="Poppins Bold"/>
                <a:sym typeface="Poppins Bold"/>
              </a:rPr>
              <a:t>BERT</a:t>
            </a:r>
            <a:r>
              <a:rPr lang="en-US" sz="3786" spc="-212">
                <a:solidFill>
                  <a:srgbClr val="000000"/>
                </a:solidFill>
                <a:latin typeface="Poppins"/>
                <a:ea typeface="Poppins"/>
                <a:cs typeface="Poppins"/>
                <a:sym typeface="Poppins"/>
              </a:rPr>
              <a:t> stands for </a:t>
            </a:r>
            <a:r>
              <a:rPr lang="en-US" b="true" sz="3786" spc="-212">
                <a:solidFill>
                  <a:srgbClr val="000000"/>
                </a:solidFill>
                <a:latin typeface="Poppins Bold"/>
                <a:ea typeface="Poppins Bold"/>
                <a:cs typeface="Poppins Bold"/>
                <a:sym typeface="Poppins Bold"/>
              </a:rPr>
              <a:t>Bidirectional Encoder Representations from Transformers</a:t>
            </a:r>
            <a:r>
              <a:rPr lang="en-US" sz="3786" spc="-212">
                <a:solidFill>
                  <a:srgbClr val="000000"/>
                </a:solidFill>
                <a:latin typeface="Poppins"/>
                <a:ea typeface="Poppins"/>
                <a:cs typeface="Poppins"/>
                <a:sym typeface="Poppins"/>
              </a:rPr>
              <a:t>. It's an advanced artificial intelligence model developed by Google that understands the meaning and context of text.</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896946" y="689408"/>
            <a:ext cx="16406044" cy="874401"/>
            <a:chOff x="0" y="0"/>
            <a:chExt cx="21874726" cy="1165868"/>
          </a:xfrm>
        </p:grpSpPr>
        <p:grpSp>
          <p:nvGrpSpPr>
            <p:cNvPr name="Group 6" id="6"/>
            <p:cNvGrpSpPr/>
            <p:nvPr/>
          </p:nvGrpSpPr>
          <p:grpSpPr>
            <a:xfrm rot="0">
              <a:off x="0" y="0"/>
              <a:ext cx="326716" cy="1115076"/>
              <a:chOff x="0" y="0"/>
              <a:chExt cx="64536" cy="220262"/>
            </a:xfrm>
          </p:grpSpPr>
          <p:sp>
            <p:nvSpPr>
              <p:cNvPr name="Freeform 7" id="7"/>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8" id="8"/>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9" id="9"/>
            <p:cNvSpPr txBox="true"/>
            <p:nvPr/>
          </p:nvSpPr>
          <p:spPr>
            <a:xfrm rot="0">
              <a:off x="1043541" y="80230"/>
              <a:ext cx="20831185"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WHY WE USE</a:t>
              </a:r>
              <a:r>
                <a:rPr lang="en-US" b="true" sz="5499" spc="-318" strike="noStrike" u="none">
                  <a:solidFill>
                    <a:srgbClr val="000000"/>
                  </a:solidFill>
                  <a:latin typeface="Poppins Bold"/>
                  <a:ea typeface="Poppins Bold"/>
                  <a:cs typeface="Poppins Bold"/>
                  <a:sym typeface="Poppins Bold"/>
                </a:rPr>
                <a:t> BERT?</a:t>
              </a:r>
            </a:p>
          </p:txBody>
        </p:sp>
      </p:grpSp>
      <p:grpSp>
        <p:nvGrpSpPr>
          <p:cNvPr name="Group 10" id="10"/>
          <p:cNvGrpSpPr/>
          <p:nvPr/>
        </p:nvGrpSpPr>
        <p:grpSpPr>
          <a:xfrm rot="0">
            <a:off x="544689" y="6539549"/>
            <a:ext cx="17110558" cy="3236783"/>
            <a:chOff x="0" y="0"/>
            <a:chExt cx="3829155" cy="724356"/>
          </a:xfrm>
        </p:grpSpPr>
        <p:sp>
          <p:nvSpPr>
            <p:cNvPr name="Freeform 11" id="11"/>
            <p:cNvSpPr/>
            <p:nvPr/>
          </p:nvSpPr>
          <p:spPr>
            <a:xfrm flipH="false" flipV="false" rot="0">
              <a:off x="0" y="0"/>
              <a:ext cx="3829155" cy="724356"/>
            </a:xfrm>
            <a:custGeom>
              <a:avLst/>
              <a:gdLst/>
              <a:ahLst/>
              <a:cxnLst/>
              <a:rect r="r" b="b" t="t" l="l"/>
              <a:pathLst>
                <a:path h="724356" w="3829155">
                  <a:moveTo>
                    <a:pt x="23076" y="0"/>
                  </a:moveTo>
                  <a:lnTo>
                    <a:pt x="3806079" y="0"/>
                  </a:lnTo>
                  <a:cubicBezTo>
                    <a:pt x="3818824" y="0"/>
                    <a:pt x="3829155" y="10331"/>
                    <a:pt x="3829155" y="23076"/>
                  </a:cubicBezTo>
                  <a:lnTo>
                    <a:pt x="3829155" y="701281"/>
                  </a:lnTo>
                  <a:cubicBezTo>
                    <a:pt x="3829155" y="707401"/>
                    <a:pt x="3826724" y="713270"/>
                    <a:pt x="3822396" y="717598"/>
                  </a:cubicBezTo>
                  <a:cubicBezTo>
                    <a:pt x="3818069" y="721925"/>
                    <a:pt x="3812199" y="724356"/>
                    <a:pt x="3806079" y="724356"/>
                  </a:cubicBezTo>
                  <a:lnTo>
                    <a:pt x="23076" y="724356"/>
                  </a:lnTo>
                  <a:cubicBezTo>
                    <a:pt x="10331" y="724356"/>
                    <a:pt x="0" y="714025"/>
                    <a:pt x="0" y="701281"/>
                  </a:cubicBezTo>
                  <a:lnTo>
                    <a:pt x="0" y="23076"/>
                  </a:lnTo>
                  <a:cubicBezTo>
                    <a:pt x="0" y="10331"/>
                    <a:pt x="10331" y="0"/>
                    <a:pt x="23076" y="0"/>
                  </a:cubicBezTo>
                  <a:close/>
                </a:path>
              </a:pathLst>
            </a:custGeom>
            <a:solidFill>
              <a:srgbClr val="FE8989"/>
            </a:solidFill>
          </p:spPr>
        </p:sp>
        <p:sp>
          <p:nvSpPr>
            <p:cNvPr name="TextBox 12" id="12"/>
            <p:cNvSpPr txBox="true"/>
            <p:nvPr/>
          </p:nvSpPr>
          <p:spPr>
            <a:xfrm>
              <a:off x="0" y="-66675"/>
              <a:ext cx="3829155" cy="791031"/>
            </a:xfrm>
            <a:prstGeom prst="rect">
              <a:avLst/>
            </a:prstGeom>
          </p:spPr>
          <p:txBody>
            <a:bodyPr anchor="ctr" rtlCol="false" tIns="50800" lIns="50800" bIns="50800" rIns="50800"/>
            <a:lstStyle/>
            <a:p>
              <a:pPr algn="ctr">
                <a:lnSpc>
                  <a:spcPts val="2800"/>
                </a:lnSpc>
              </a:pPr>
            </a:p>
          </p:txBody>
        </p:sp>
      </p:grpSp>
      <p:grpSp>
        <p:nvGrpSpPr>
          <p:cNvPr name="Group 13" id="13"/>
          <p:cNvGrpSpPr/>
          <p:nvPr/>
        </p:nvGrpSpPr>
        <p:grpSpPr>
          <a:xfrm rot="0">
            <a:off x="544689" y="1944809"/>
            <a:ext cx="17110558" cy="2951765"/>
            <a:chOff x="0" y="0"/>
            <a:chExt cx="3829155" cy="660573"/>
          </a:xfrm>
        </p:grpSpPr>
        <p:sp>
          <p:nvSpPr>
            <p:cNvPr name="Freeform 14" id="14"/>
            <p:cNvSpPr/>
            <p:nvPr/>
          </p:nvSpPr>
          <p:spPr>
            <a:xfrm flipH="false" flipV="false" rot="0">
              <a:off x="0" y="0"/>
              <a:ext cx="3829155" cy="660573"/>
            </a:xfrm>
            <a:custGeom>
              <a:avLst/>
              <a:gdLst/>
              <a:ahLst/>
              <a:cxnLst/>
              <a:rect r="r" b="b" t="t" l="l"/>
              <a:pathLst>
                <a:path h="660573" w="3829155">
                  <a:moveTo>
                    <a:pt x="23076" y="0"/>
                  </a:moveTo>
                  <a:lnTo>
                    <a:pt x="3806079" y="0"/>
                  </a:lnTo>
                  <a:cubicBezTo>
                    <a:pt x="3818824" y="0"/>
                    <a:pt x="3829155" y="10331"/>
                    <a:pt x="3829155" y="23076"/>
                  </a:cubicBezTo>
                  <a:lnTo>
                    <a:pt x="3829155" y="637497"/>
                  </a:lnTo>
                  <a:cubicBezTo>
                    <a:pt x="3829155" y="643617"/>
                    <a:pt x="3826724" y="649486"/>
                    <a:pt x="3822396" y="653814"/>
                  </a:cubicBezTo>
                  <a:cubicBezTo>
                    <a:pt x="3818069" y="658141"/>
                    <a:pt x="3812199" y="660573"/>
                    <a:pt x="3806079" y="660573"/>
                  </a:cubicBezTo>
                  <a:lnTo>
                    <a:pt x="23076" y="660573"/>
                  </a:lnTo>
                  <a:cubicBezTo>
                    <a:pt x="10331" y="660573"/>
                    <a:pt x="0" y="650241"/>
                    <a:pt x="0" y="637497"/>
                  </a:cubicBezTo>
                  <a:lnTo>
                    <a:pt x="0" y="23076"/>
                  </a:lnTo>
                  <a:cubicBezTo>
                    <a:pt x="0" y="10331"/>
                    <a:pt x="10331" y="0"/>
                    <a:pt x="23076" y="0"/>
                  </a:cubicBezTo>
                  <a:close/>
                </a:path>
              </a:pathLst>
            </a:custGeom>
            <a:solidFill>
              <a:srgbClr val="7281FE"/>
            </a:solidFill>
          </p:spPr>
        </p:sp>
        <p:sp>
          <p:nvSpPr>
            <p:cNvPr name="TextBox 15" id="15"/>
            <p:cNvSpPr txBox="true"/>
            <p:nvPr/>
          </p:nvSpPr>
          <p:spPr>
            <a:xfrm>
              <a:off x="0" y="-66675"/>
              <a:ext cx="3829155" cy="727248"/>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896946" y="2104160"/>
            <a:ext cx="16248070" cy="2528287"/>
          </a:xfrm>
          <a:prstGeom prst="rect">
            <a:avLst/>
          </a:prstGeom>
        </p:spPr>
        <p:txBody>
          <a:bodyPr anchor="t" rtlCol="false" tIns="0" lIns="0" bIns="0" rIns="0">
            <a:spAutoFit/>
          </a:bodyPr>
          <a:lstStyle/>
          <a:p>
            <a:pPr algn="l" marL="774251" indent="-387125" lvl="1">
              <a:lnSpc>
                <a:spcPts val="5020"/>
              </a:lnSpc>
              <a:buFont typeface="Arial"/>
              <a:buChar char="•"/>
            </a:pPr>
            <a:r>
              <a:rPr lang="en-US" b="true" sz="3586" spc="-200">
                <a:solidFill>
                  <a:srgbClr val="000000"/>
                </a:solidFill>
                <a:latin typeface="Poppins Bold"/>
                <a:ea typeface="Poppins Bold"/>
                <a:cs typeface="Poppins Bold"/>
                <a:sym typeface="Poppins Bold"/>
              </a:rPr>
              <a:t>Detects Paraphrasing: </a:t>
            </a:r>
            <a:r>
              <a:rPr lang="en-US" sz="3586" spc="-200">
                <a:solidFill>
                  <a:srgbClr val="000000"/>
                </a:solidFill>
                <a:latin typeface="Poppins"/>
                <a:ea typeface="Poppins"/>
                <a:cs typeface="Poppins"/>
                <a:sym typeface="Poppins"/>
              </a:rPr>
              <a:t>Catches plagiarism even when words are changed</a:t>
            </a:r>
          </a:p>
          <a:p>
            <a:pPr algn="l" marL="774251" indent="-387125" lvl="1">
              <a:lnSpc>
                <a:spcPts val="5020"/>
              </a:lnSpc>
              <a:buFont typeface="Arial"/>
              <a:buChar char="•"/>
            </a:pPr>
            <a:r>
              <a:rPr lang="en-US" b="true" sz="3586" spc="-200">
                <a:solidFill>
                  <a:srgbClr val="000000"/>
                </a:solidFill>
                <a:latin typeface="Poppins Bold"/>
                <a:ea typeface="Poppins Bold"/>
                <a:cs typeface="Poppins Bold"/>
                <a:sym typeface="Poppins Bold"/>
              </a:rPr>
              <a:t>Semantic Underst</a:t>
            </a:r>
            <a:r>
              <a:rPr lang="en-US" b="true" sz="3586" spc="-200">
                <a:solidFill>
                  <a:srgbClr val="000000"/>
                </a:solidFill>
                <a:latin typeface="Poppins Bold"/>
                <a:ea typeface="Poppins Bold"/>
                <a:cs typeface="Poppins Bold"/>
                <a:sym typeface="Poppins Bold"/>
              </a:rPr>
              <a:t>and</a:t>
            </a:r>
            <a:r>
              <a:rPr lang="en-US" b="true" sz="3586" spc="-200">
                <a:solidFill>
                  <a:srgbClr val="000000"/>
                </a:solidFill>
                <a:latin typeface="Poppins Bold"/>
                <a:ea typeface="Poppins Bold"/>
                <a:cs typeface="Poppins Bold"/>
                <a:sym typeface="Poppins Bold"/>
              </a:rPr>
              <a:t>ing:</a:t>
            </a:r>
            <a:r>
              <a:rPr lang="en-US" sz="3586" spc="-200">
                <a:solidFill>
                  <a:srgbClr val="000000"/>
                </a:solidFill>
                <a:latin typeface="Poppins"/>
                <a:ea typeface="Poppins"/>
                <a:cs typeface="Poppins"/>
                <a:sym typeface="Poppins"/>
              </a:rPr>
              <a:t> Recognizes that "car" and "vehicle" mean the same thing</a:t>
            </a:r>
          </a:p>
          <a:p>
            <a:pPr algn="l" marL="774251" indent="-387125" lvl="1">
              <a:lnSpc>
                <a:spcPts val="5020"/>
              </a:lnSpc>
              <a:buFont typeface="Arial"/>
              <a:buChar char="•"/>
            </a:pPr>
            <a:r>
              <a:rPr lang="en-US" b="true" sz="3586" spc="-200">
                <a:solidFill>
                  <a:srgbClr val="000000"/>
                </a:solidFill>
                <a:latin typeface="Poppins Bold"/>
                <a:ea typeface="Poppins Bold"/>
                <a:cs typeface="Poppins Bold"/>
                <a:sym typeface="Poppins Bold"/>
              </a:rPr>
              <a:t>Context Awareness: </a:t>
            </a:r>
            <a:r>
              <a:rPr lang="en-US" sz="3586" spc="-200">
                <a:solidFill>
                  <a:srgbClr val="000000"/>
                </a:solidFill>
                <a:latin typeface="Poppins"/>
                <a:ea typeface="Poppins"/>
                <a:cs typeface="Poppins"/>
                <a:sym typeface="Poppins"/>
              </a:rPr>
              <a:t>Understands meaning based on surrounding words</a:t>
            </a:r>
          </a:p>
        </p:txBody>
      </p:sp>
      <p:grpSp>
        <p:nvGrpSpPr>
          <p:cNvPr name="Group 17" id="17"/>
          <p:cNvGrpSpPr/>
          <p:nvPr/>
        </p:nvGrpSpPr>
        <p:grpSpPr>
          <a:xfrm rot="0">
            <a:off x="896946" y="5280861"/>
            <a:ext cx="16112497" cy="874401"/>
            <a:chOff x="0" y="0"/>
            <a:chExt cx="21483329" cy="1165868"/>
          </a:xfrm>
        </p:grpSpPr>
        <p:grpSp>
          <p:nvGrpSpPr>
            <p:cNvPr name="Group 18" id="18"/>
            <p:cNvGrpSpPr/>
            <p:nvPr/>
          </p:nvGrpSpPr>
          <p:grpSpPr>
            <a:xfrm rot="0">
              <a:off x="0" y="0"/>
              <a:ext cx="326716" cy="1115076"/>
              <a:chOff x="0" y="0"/>
              <a:chExt cx="64536" cy="220262"/>
            </a:xfrm>
          </p:grpSpPr>
          <p:sp>
            <p:nvSpPr>
              <p:cNvPr name="Freeform 19" id="19"/>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20" id="20"/>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21" id="21"/>
            <p:cNvSpPr txBox="true"/>
            <p:nvPr/>
          </p:nvSpPr>
          <p:spPr>
            <a:xfrm rot="0">
              <a:off x="1043541" y="80230"/>
              <a:ext cx="20439788"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ALTHOUGH, IT HAVE LIMITATIONS...</a:t>
              </a:r>
            </a:p>
          </p:txBody>
        </p:sp>
      </p:grpSp>
      <p:sp>
        <p:nvSpPr>
          <p:cNvPr name="TextBox 22" id="22"/>
          <p:cNvSpPr txBox="true"/>
          <p:nvPr/>
        </p:nvSpPr>
        <p:spPr>
          <a:xfrm rot="0">
            <a:off x="975933" y="6684564"/>
            <a:ext cx="16248070" cy="2832452"/>
          </a:xfrm>
          <a:prstGeom prst="rect">
            <a:avLst/>
          </a:prstGeom>
        </p:spPr>
        <p:txBody>
          <a:bodyPr anchor="t" rtlCol="false" tIns="0" lIns="0" bIns="0" rIns="0">
            <a:spAutoFit/>
          </a:bodyPr>
          <a:lstStyle/>
          <a:p>
            <a:pPr algn="l" marL="860609" indent="-430304" lvl="1">
              <a:lnSpc>
                <a:spcPts val="5580"/>
              </a:lnSpc>
              <a:buFont typeface="Arial"/>
              <a:buChar char="•"/>
            </a:pPr>
            <a:r>
              <a:rPr lang="en-US" b="true" sz="3986" spc="-223">
                <a:solidFill>
                  <a:srgbClr val="000000"/>
                </a:solidFill>
                <a:latin typeface="Poppins Bold"/>
                <a:ea typeface="Poppins Bold"/>
                <a:cs typeface="Poppins Bold"/>
                <a:sym typeface="Poppins Bold"/>
              </a:rPr>
              <a:t>More Complex:</a:t>
            </a:r>
            <a:r>
              <a:rPr lang="en-US" sz="3986" spc="-223">
                <a:solidFill>
                  <a:srgbClr val="000000"/>
                </a:solidFill>
                <a:latin typeface="Poppins"/>
                <a:ea typeface="Poppins"/>
                <a:cs typeface="Poppins"/>
                <a:sym typeface="Poppins"/>
              </a:rPr>
              <a:t> Requires more computational power</a:t>
            </a:r>
          </a:p>
          <a:p>
            <a:pPr algn="l" marL="860609" indent="-430304" lvl="1">
              <a:lnSpc>
                <a:spcPts val="5580"/>
              </a:lnSpc>
              <a:buFont typeface="Arial"/>
              <a:buChar char="•"/>
            </a:pPr>
            <a:r>
              <a:rPr lang="en-US" b="true" sz="3986" spc="-223">
                <a:solidFill>
                  <a:srgbClr val="000000"/>
                </a:solidFill>
                <a:latin typeface="Poppins Bold"/>
                <a:ea typeface="Poppins Bold"/>
                <a:cs typeface="Poppins Bold"/>
                <a:sym typeface="Poppins Bold"/>
              </a:rPr>
              <a:t>Slower Processing: </a:t>
            </a:r>
            <a:r>
              <a:rPr lang="en-US" sz="3986" spc="-223">
                <a:solidFill>
                  <a:srgbClr val="000000"/>
                </a:solidFill>
                <a:latin typeface="Poppins"/>
                <a:ea typeface="Poppins"/>
                <a:cs typeface="Poppins"/>
                <a:sym typeface="Poppins"/>
              </a:rPr>
              <a:t>Takes more </a:t>
            </a:r>
            <a:r>
              <a:rPr lang="en-US" sz="3986" spc="-223">
                <a:solidFill>
                  <a:srgbClr val="000000"/>
                </a:solidFill>
                <a:latin typeface="Poppins"/>
                <a:ea typeface="Poppins"/>
                <a:cs typeface="Poppins"/>
                <a:sym typeface="Poppins"/>
              </a:rPr>
              <a:t>tim</a:t>
            </a:r>
            <a:r>
              <a:rPr lang="en-US" sz="3986" spc="-223">
                <a:solidFill>
                  <a:srgbClr val="000000"/>
                </a:solidFill>
                <a:latin typeface="Poppins"/>
                <a:ea typeface="Poppins"/>
                <a:cs typeface="Poppins"/>
                <a:sym typeface="Poppins"/>
              </a:rPr>
              <a:t>e than TF-IDF</a:t>
            </a:r>
          </a:p>
          <a:p>
            <a:pPr algn="l" marL="860609" indent="-430304" lvl="1">
              <a:lnSpc>
                <a:spcPts val="5580"/>
              </a:lnSpc>
              <a:buFont typeface="Arial"/>
              <a:buChar char="•"/>
            </a:pPr>
            <a:r>
              <a:rPr lang="en-US" b="true" sz="3986" spc="-223">
                <a:solidFill>
                  <a:srgbClr val="000000"/>
                </a:solidFill>
                <a:latin typeface="Poppins Bold"/>
                <a:ea typeface="Poppins Bold"/>
                <a:cs typeface="Poppins Bold"/>
                <a:sym typeface="Poppins Bold"/>
              </a:rPr>
              <a:t>Ov</a:t>
            </a:r>
            <a:r>
              <a:rPr lang="en-US" b="true" sz="3986" spc="-223">
                <a:solidFill>
                  <a:srgbClr val="000000"/>
                </a:solidFill>
                <a:latin typeface="Poppins Bold"/>
                <a:ea typeface="Poppins Bold"/>
                <a:cs typeface="Poppins Bold"/>
                <a:sym typeface="Poppins Bold"/>
              </a:rPr>
              <a:t>er-Matching Risk:</a:t>
            </a:r>
            <a:r>
              <a:rPr lang="en-US" sz="3986" spc="-223">
                <a:solidFill>
                  <a:srgbClr val="000000"/>
                </a:solidFill>
                <a:latin typeface="Poppins"/>
                <a:ea typeface="Poppins"/>
                <a:cs typeface="Poppins"/>
                <a:sym typeface="Poppins"/>
              </a:rPr>
              <a:t> Might match similar concepts that aren't plagiarism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454159" y="3411639"/>
            <a:ext cx="203751" cy="1863440"/>
            <a:chOff x="0" y="0"/>
            <a:chExt cx="53663" cy="490783"/>
          </a:xfrm>
        </p:grpSpPr>
        <p:sp>
          <p:nvSpPr>
            <p:cNvPr name="Freeform 3" id="3"/>
            <p:cNvSpPr/>
            <p:nvPr/>
          </p:nvSpPr>
          <p:spPr>
            <a:xfrm flipH="false" flipV="false" rot="0">
              <a:off x="0" y="0"/>
              <a:ext cx="53663" cy="490783"/>
            </a:xfrm>
            <a:custGeom>
              <a:avLst/>
              <a:gdLst/>
              <a:ahLst/>
              <a:cxnLst/>
              <a:rect r="r" b="b" t="t" l="l"/>
              <a:pathLst>
                <a:path h="490783" w="53663">
                  <a:moveTo>
                    <a:pt x="0" y="0"/>
                  </a:moveTo>
                  <a:lnTo>
                    <a:pt x="53663" y="0"/>
                  </a:lnTo>
                  <a:lnTo>
                    <a:pt x="53663" y="490783"/>
                  </a:lnTo>
                  <a:lnTo>
                    <a:pt x="0" y="490783"/>
                  </a:lnTo>
                  <a:close/>
                </a:path>
              </a:pathLst>
            </a:custGeom>
            <a:solidFill>
              <a:srgbClr val="7281FE"/>
            </a:solidFill>
          </p:spPr>
        </p:sp>
        <p:sp>
          <p:nvSpPr>
            <p:cNvPr name="TextBox 4" id="4"/>
            <p:cNvSpPr txBox="true"/>
            <p:nvPr/>
          </p:nvSpPr>
          <p:spPr>
            <a:xfrm>
              <a:off x="0" y="-66675"/>
              <a:ext cx="53663" cy="557458"/>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5553419" y="6719816"/>
            <a:ext cx="6713220" cy="7505700"/>
            <a:chOff x="0" y="0"/>
            <a:chExt cx="1768091" cy="1976810"/>
          </a:xfrm>
        </p:grpSpPr>
        <p:sp>
          <p:nvSpPr>
            <p:cNvPr name="Freeform 6" id="6"/>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7" id="7"/>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15190404" y="7275504"/>
            <a:ext cx="6950011" cy="69500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10" id="10"/>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7694080"/>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8400859"/>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806613" y="9107638"/>
            <a:ext cx="647546" cy="566602"/>
            <a:chOff x="0" y="0"/>
            <a:chExt cx="812800" cy="711200"/>
          </a:xfrm>
        </p:grpSpPr>
        <p:sp>
          <p:nvSpPr>
            <p:cNvPr name="Freeform 18" id="1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9" id="19"/>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sp>
        <p:nvSpPr>
          <p:cNvPr name="Freeform 20" id="20"/>
          <p:cNvSpPr/>
          <p:nvPr/>
        </p:nvSpPr>
        <p:spPr>
          <a:xfrm flipH="false" flipV="false" rot="0">
            <a:off x="8626978" y="6937611"/>
            <a:ext cx="2433673" cy="2433673"/>
          </a:xfrm>
          <a:custGeom>
            <a:avLst/>
            <a:gdLst/>
            <a:ahLst/>
            <a:cxnLst/>
            <a:rect r="r" b="b" t="t" l="l"/>
            <a:pathLst>
              <a:path h="2433673" w="2433673">
                <a:moveTo>
                  <a:pt x="0" y="0"/>
                </a:moveTo>
                <a:lnTo>
                  <a:pt x="2433673" y="0"/>
                </a:lnTo>
                <a:lnTo>
                  <a:pt x="2433673" y="2433674"/>
                </a:lnTo>
                <a:lnTo>
                  <a:pt x="0" y="24336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1864802" y="3262646"/>
            <a:ext cx="6168721" cy="2087132"/>
          </a:xfrm>
          <a:prstGeom prst="rect">
            <a:avLst/>
          </a:prstGeom>
        </p:spPr>
        <p:txBody>
          <a:bodyPr anchor="t" rtlCol="false" tIns="0" lIns="0" bIns="0" rIns="0">
            <a:spAutoFit/>
          </a:bodyPr>
          <a:lstStyle/>
          <a:p>
            <a:pPr algn="l" marL="0" indent="0" lvl="0">
              <a:lnSpc>
                <a:spcPts val="7859"/>
              </a:lnSpc>
              <a:spcBef>
                <a:spcPct val="0"/>
              </a:spcBef>
            </a:pPr>
            <a:r>
              <a:rPr lang="en-US" b="true" sz="7556" spc="-438">
                <a:solidFill>
                  <a:srgbClr val="000000"/>
                </a:solidFill>
                <a:latin typeface="Poppins Bold"/>
                <a:ea typeface="Poppins Bold"/>
                <a:cs typeface="Poppins Bold"/>
                <a:sym typeface="Poppins Bold"/>
              </a:rPr>
              <a:t>TECHNIQUES IMPLEMENTED</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2485898"/>
            <a:ext cx="203751" cy="836307"/>
            <a:chOff x="0" y="0"/>
            <a:chExt cx="53663" cy="220262"/>
          </a:xfrm>
        </p:grpSpPr>
        <p:sp>
          <p:nvSpPr>
            <p:cNvPr name="Freeform 9" id="9"/>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0" id="10"/>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632753" y="3935991"/>
            <a:ext cx="17022494" cy="3903205"/>
            <a:chOff x="0" y="0"/>
            <a:chExt cx="6631238" cy="1520522"/>
          </a:xfrm>
        </p:grpSpPr>
        <p:sp>
          <p:nvSpPr>
            <p:cNvPr name="Freeform 12" id="12"/>
            <p:cNvSpPr/>
            <p:nvPr/>
          </p:nvSpPr>
          <p:spPr>
            <a:xfrm flipH="false" flipV="false" rot="0">
              <a:off x="0" y="0"/>
              <a:ext cx="6631238" cy="1520522"/>
            </a:xfrm>
            <a:custGeom>
              <a:avLst/>
              <a:gdLst/>
              <a:ahLst/>
              <a:cxnLst/>
              <a:rect r="r" b="b" t="t" l="l"/>
              <a:pathLst>
                <a:path h="1520522" w="6631238">
                  <a:moveTo>
                    <a:pt x="8641" y="0"/>
                  </a:moveTo>
                  <a:lnTo>
                    <a:pt x="6622597" y="0"/>
                  </a:lnTo>
                  <a:cubicBezTo>
                    <a:pt x="6624889" y="0"/>
                    <a:pt x="6627086" y="910"/>
                    <a:pt x="6628707" y="2531"/>
                  </a:cubicBezTo>
                  <a:cubicBezTo>
                    <a:pt x="6630327" y="4152"/>
                    <a:pt x="6631238" y="6349"/>
                    <a:pt x="6631238" y="8641"/>
                  </a:cubicBezTo>
                  <a:lnTo>
                    <a:pt x="6631238" y="1511881"/>
                  </a:lnTo>
                  <a:cubicBezTo>
                    <a:pt x="6631238" y="1514173"/>
                    <a:pt x="6630327" y="1516371"/>
                    <a:pt x="6628707" y="1517991"/>
                  </a:cubicBezTo>
                  <a:cubicBezTo>
                    <a:pt x="6627086" y="1519612"/>
                    <a:pt x="6624889" y="1520522"/>
                    <a:pt x="6622597" y="1520522"/>
                  </a:cubicBezTo>
                  <a:lnTo>
                    <a:pt x="8641" y="1520522"/>
                  </a:lnTo>
                  <a:cubicBezTo>
                    <a:pt x="6349" y="1520522"/>
                    <a:pt x="4152" y="1519612"/>
                    <a:pt x="2531" y="1517991"/>
                  </a:cubicBezTo>
                  <a:cubicBezTo>
                    <a:pt x="910" y="1516371"/>
                    <a:pt x="0" y="1514173"/>
                    <a:pt x="0" y="1511881"/>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13" id="13"/>
            <p:cNvSpPr txBox="true"/>
            <p:nvPr/>
          </p:nvSpPr>
          <p:spPr>
            <a:xfrm>
              <a:off x="0" y="-66675"/>
              <a:ext cx="6631238" cy="1587197"/>
            </a:xfrm>
            <a:prstGeom prst="rect">
              <a:avLst/>
            </a:prstGeom>
          </p:spPr>
          <p:txBody>
            <a:bodyPr anchor="ctr" rtlCol="false" tIns="50800" lIns="50800" bIns="50800" rIns="50800"/>
            <a:lstStyle/>
            <a:p>
              <a:pPr algn="ctr">
                <a:lnSpc>
                  <a:spcPts val="3359"/>
                </a:lnSpc>
              </a:pPr>
            </a:p>
          </p:txBody>
        </p:sp>
      </p:grpSp>
      <p:sp>
        <p:nvSpPr>
          <p:cNvPr name="TextBox 14" id="14"/>
          <p:cNvSpPr txBox="true"/>
          <p:nvPr/>
        </p:nvSpPr>
        <p:spPr>
          <a:xfrm rot="0">
            <a:off x="1047305" y="2476379"/>
            <a:ext cx="14742913" cy="883920"/>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TECHNICAL DEEP DIVE</a:t>
            </a:r>
          </a:p>
        </p:txBody>
      </p:sp>
      <p:sp>
        <p:nvSpPr>
          <p:cNvPr name="TextBox 15" id="15"/>
          <p:cNvSpPr txBox="true"/>
          <p:nvPr/>
        </p:nvSpPr>
        <p:spPr>
          <a:xfrm rot="0">
            <a:off x="836504" y="4106534"/>
            <a:ext cx="16478508" cy="3536951"/>
          </a:xfrm>
          <a:prstGeom prst="rect">
            <a:avLst/>
          </a:prstGeom>
        </p:spPr>
        <p:txBody>
          <a:bodyPr anchor="t" rtlCol="false" tIns="0" lIns="0" bIns="0" rIns="0">
            <a:spAutoFit/>
          </a:bodyPr>
          <a:lstStyle/>
          <a:p>
            <a:pPr algn="just" marL="0" indent="0" lvl="0">
              <a:lnSpc>
                <a:spcPts val="5599"/>
              </a:lnSpc>
              <a:spcBef>
                <a:spcPct val="0"/>
              </a:spcBef>
            </a:pPr>
            <a:r>
              <a:rPr lang="en-US" sz="3999" spc="-223">
                <a:solidFill>
                  <a:srgbClr val="000000"/>
                </a:solidFill>
                <a:latin typeface="Poppins"/>
                <a:ea typeface="Poppins"/>
                <a:cs typeface="Poppins"/>
                <a:sym typeface="Poppins"/>
              </a:rPr>
              <a:t>4Real employs a so</a:t>
            </a:r>
            <a:r>
              <a:rPr lang="en-US" sz="3999" spc="-223">
                <a:solidFill>
                  <a:srgbClr val="000000"/>
                </a:solidFill>
                <a:latin typeface="Poppins"/>
                <a:ea typeface="Poppins"/>
                <a:cs typeface="Poppins"/>
                <a:sym typeface="Poppins"/>
              </a:rPr>
              <a:t>p</a:t>
            </a:r>
            <a:r>
              <a:rPr lang="en-US" sz="3999" spc="-223">
                <a:solidFill>
                  <a:srgbClr val="000000"/>
                </a:solidFill>
                <a:latin typeface="Poppins"/>
                <a:ea typeface="Poppins"/>
                <a:cs typeface="Poppins"/>
                <a:sym typeface="Poppins"/>
              </a:rPr>
              <a:t>his</a:t>
            </a:r>
            <a:r>
              <a:rPr lang="en-US" sz="3999" spc="-223">
                <a:solidFill>
                  <a:srgbClr val="000000"/>
                </a:solidFill>
                <a:latin typeface="Poppins"/>
                <a:ea typeface="Poppins"/>
                <a:cs typeface="Poppins"/>
                <a:sym typeface="Poppins"/>
              </a:rPr>
              <a:t>ti</a:t>
            </a:r>
            <a:r>
              <a:rPr lang="en-US" sz="3999" spc="-223">
                <a:solidFill>
                  <a:srgbClr val="000000"/>
                </a:solidFill>
                <a:latin typeface="Poppins"/>
                <a:ea typeface="Poppins"/>
                <a:cs typeface="Poppins"/>
                <a:sym typeface="Poppins"/>
              </a:rPr>
              <a:t>cat</a:t>
            </a:r>
            <a:r>
              <a:rPr lang="en-US" sz="3999" spc="-223">
                <a:solidFill>
                  <a:srgbClr val="000000"/>
                </a:solidFill>
                <a:latin typeface="Poppins"/>
                <a:ea typeface="Poppins"/>
                <a:cs typeface="Poppins"/>
                <a:sym typeface="Poppins"/>
              </a:rPr>
              <a:t>ed</a:t>
            </a:r>
            <a:r>
              <a:rPr lang="en-US" sz="3999" spc="-223">
                <a:solidFill>
                  <a:srgbClr val="000000"/>
                </a:solidFill>
                <a:latin typeface="Poppins"/>
                <a:ea typeface="Poppins"/>
                <a:cs typeface="Poppins"/>
                <a:sym typeface="Poppins"/>
              </a:rPr>
              <a:t> </a:t>
            </a:r>
            <a:r>
              <a:rPr lang="en-US" b="true" sz="3999" spc="-223">
                <a:solidFill>
                  <a:srgbClr val="000000"/>
                </a:solidFill>
                <a:latin typeface="Poppins Bold"/>
                <a:ea typeface="Poppins Bold"/>
                <a:cs typeface="Poppins Bold"/>
                <a:sym typeface="Poppins Bold"/>
              </a:rPr>
              <a:t>hybrid plagiarism detection architecture</a:t>
            </a:r>
            <a:r>
              <a:rPr lang="en-US" sz="3999" spc="-223">
                <a:solidFill>
                  <a:srgbClr val="000000"/>
                </a:solidFill>
                <a:latin typeface="Poppins"/>
                <a:ea typeface="Poppins"/>
                <a:cs typeface="Poppins"/>
                <a:sym typeface="Poppins"/>
              </a:rPr>
              <a:t> that combines two complementary NLP techniques. This section provides a detailed technical explanation of each algorithm, how they work individually, and how they combine to</a:t>
            </a:r>
            <a:r>
              <a:rPr lang="en-US" sz="3999" spc="-223">
                <a:solidFill>
                  <a:srgbClr val="000000"/>
                </a:solidFill>
                <a:latin typeface="Poppins"/>
                <a:ea typeface="Poppins"/>
                <a:cs typeface="Poppins"/>
                <a:sym typeface="Poppins"/>
              </a:rPr>
              <a:t> achieve rob</a:t>
            </a:r>
            <a:r>
              <a:rPr lang="en-US" sz="3999" spc="-223">
                <a:solidFill>
                  <a:srgbClr val="000000"/>
                </a:solidFill>
                <a:latin typeface="Poppins"/>
                <a:ea typeface="Poppins"/>
                <a:cs typeface="Poppins"/>
                <a:sym typeface="Poppins"/>
              </a:rPr>
              <a:t>u</a:t>
            </a:r>
            <a:r>
              <a:rPr lang="en-US" sz="3999" spc="-223">
                <a:solidFill>
                  <a:srgbClr val="000000"/>
                </a:solidFill>
                <a:latin typeface="Poppins"/>
                <a:ea typeface="Poppins"/>
                <a:cs typeface="Poppins"/>
                <a:sym typeface="Poppins"/>
              </a:rPr>
              <a:t>st plagia</a:t>
            </a:r>
            <a:r>
              <a:rPr lang="en-US" sz="3999" spc="-223">
                <a:solidFill>
                  <a:srgbClr val="000000"/>
                </a:solidFill>
                <a:latin typeface="Poppins"/>
                <a:ea typeface="Poppins"/>
                <a:cs typeface="Poppins"/>
                <a:sym typeface="Poppins"/>
              </a:rPr>
              <a:t>rism</a:t>
            </a:r>
            <a:r>
              <a:rPr lang="en-US" sz="3999" spc="-223">
                <a:solidFill>
                  <a:srgbClr val="000000"/>
                </a:solidFill>
                <a:latin typeface="Poppins"/>
                <a:ea typeface="Poppins"/>
                <a:cs typeface="Poppins"/>
                <a:sym typeface="Poppins"/>
              </a:rPr>
              <a:t> det</a:t>
            </a:r>
            <a:r>
              <a:rPr lang="en-US" sz="3999" spc="-223">
                <a:solidFill>
                  <a:srgbClr val="000000"/>
                </a:solidFill>
                <a:latin typeface="Poppins"/>
                <a:ea typeface="Poppins"/>
                <a:cs typeface="Poppins"/>
                <a:sym typeface="Poppins"/>
              </a:rPr>
              <a:t>ect</a:t>
            </a:r>
            <a:r>
              <a:rPr lang="en-US" sz="3999" spc="-223">
                <a:solidFill>
                  <a:srgbClr val="000000"/>
                </a:solidFill>
                <a:latin typeface="Poppins"/>
                <a:ea typeface="Poppins"/>
                <a:cs typeface="Poppins"/>
                <a:sym typeface="Poppins"/>
              </a:rPr>
              <a:t>ion</a:t>
            </a:r>
            <a:r>
              <a:rPr lang="en-US" sz="3999" spc="-223">
                <a:solidFill>
                  <a:srgbClr val="000000"/>
                </a:solidFill>
                <a:latin typeface="Poppins"/>
                <a:ea typeface="Poppins"/>
                <a:cs typeface="Poppins"/>
                <a:sym typeface="Poppins"/>
              </a:rPr>
              <a:t>.</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5553419" y="6719816"/>
            <a:ext cx="6713220" cy="7505700"/>
            <a:chOff x="0" y="0"/>
            <a:chExt cx="1768091" cy="1976810"/>
          </a:xfrm>
        </p:grpSpPr>
        <p:sp>
          <p:nvSpPr>
            <p:cNvPr name="Freeform 3" id="3"/>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4" id="4"/>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5190404" y="7275504"/>
            <a:ext cx="6950011" cy="695001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7" id="7"/>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806613" y="7694080"/>
            <a:ext cx="647546" cy="566602"/>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0" id="10"/>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8400859"/>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9107638"/>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1860319" y="3815292"/>
            <a:ext cx="14576041" cy="2656415"/>
            <a:chOff x="0" y="0"/>
            <a:chExt cx="2408721" cy="438978"/>
          </a:xfrm>
        </p:grpSpPr>
        <p:sp>
          <p:nvSpPr>
            <p:cNvPr name="Freeform 18" id="18"/>
            <p:cNvSpPr/>
            <p:nvPr/>
          </p:nvSpPr>
          <p:spPr>
            <a:xfrm flipH="false" flipV="false" rot="0">
              <a:off x="0" y="0"/>
              <a:ext cx="2408722" cy="438978"/>
            </a:xfrm>
            <a:custGeom>
              <a:avLst/>
              <a:gdLst/>
              <a:ahLst/>
              <a:cxnLst/>
              <a:rect r="r" b="b" t="t" l="l"/>
              <a:pathLst>
                <a:path h="438978" w="2408722">
                  <a:moveTo>
                    <a:pt x="27088" y="0"/>
                  </a:moveTo>
                  <a:lnTo>
                    <a:pt x="2381634" y="0"/>
                  </a:lnTo>
                  <a:cubicBezTo>
                    <a:pt x="2388818" y="0"/>
                    <a:pt x="2395708" y="2854"/>
                    <a:pt x="2400788" y="7934"/>
                  </a:cubicBezTo>
                  <a:cubicBezTo>
                    <a:pt x="2405868" y="13014"/>
                    <a:pt x="2408722" y="19904"/>
                    <a:pt x="2408722" y="27088"/>
                  </a:cubicBezTo>
                  <a:lnTo>
                    <a:pt x="2408722" y="411890"/>
                  </a:lnTo>
                  <a:cubicBezTo>
                    <a:pt x="2408722" y="419074"/>
                    <a:pt x="2405868" y="425964"/>
                    <a:pt x="2400788" y="431044"/>
                  </a:cubicBezTo>
                  <a:cubicBezTo>
                    <a:pt x="2395708" y="436124"/>
                    <a:pt x="2388818" y="438978"/>
                    <a:pt x="2381634" y="438978"/>
                  </a:cubicBezTo>
                  <a:lnTo>
                    <a:pt x="27088" y="438978"/>
                  </a:lnTo>
                  <a:cubicBezTo>
                    <a:pt x="19904" y="438978"/>
                    <a:pt x="13014" y="436124"/>
                    <a:pt x="7934" y="431044"/>
                  </a:cubicBezTo>
                  <a:cubicBezTo>
                    <a:pt x="2854" y="425964"/>
                    <a:pt x="0" y="419074"/>
                    <a:pt x="0" y="411890"/>
                  </a:cubicBezTo>
                  <a:lnTo>
                    <a:pt x="0" y="27088"/>
                  </a:lnTo>
                  <a:cubicBezTo>
                    <a:pt x="0" y="19904"/>
                    <a:pt x="2854" y="13014"/>
                    <a:pt x="7934" y="7934"/>
                  </a:cubicBezTo>
                  <a:cubicBezTo>
                    <a:pt x="13014" y="2854"/>
                    <a:pt x="19904" y="0"/>
                    <a:pt x="27088" y="0"/>
                  </a:cubicBezTo>
                  <a:close/>
                </a:path>
              </a:pathLst>
            </a:custGeom>
            <a:solidFill>
              <a:srgbClr val="89CDFE"/>
            </a:solidFill>
          </p:spPr>
        </p:sp>
        <p:sp>
          <p:nvSpPr>
            <p:cNvPr name="TextBox 19" id="19"/>
            <p:cNvSpPr txBox="true"/>
            <p:nvPr/>
          </p:nvSpPr>
          <p:spPr>
            <a:xfrm>
              <a:off x="0" y="-57150"/>
              <a:ext cx="2408721" cy="496128"/>
            </a:xfrm>
            <a:prstGeom prst="rect">
              <a:avLst/>
            </a:prstGeom>
          </p:spPr>
          <p:txBody>
            <a:bodyPr anchor="ctr" rtlCol="false" tIns="68795" lIns="68795" bIns="68795" rIns="68795"/>
            <a:lstStyle/>
            <a:p>
              <a:pPr algn="ctr">
                <a:lnSpc>
                  <a:spcPts val="2799"/>
                </a:lnSpc>
              </a:pPr>
            </a:p>
          </p:txBody>
        </p:sp>
      </p:grpSp>
      <p:grpSp>
        <p:nvGrpSpPr>
          <p:cNvPr name="Group 20" id="20"/>
          <p:cNvGrpSpPr/>
          <p:nvPr/>
        </p:nvGrpSpPr>
        <p:grpSpPr>
          <a:xfrm rot="0">
            <a:off x="1860319" y="3951783"/>
            <a:ext cx="14576041" cy="2383435"/>
            <a:chOff x="0" y="0"/>
            <a:chExt cx="19434721" cy="3177913"/>
          </a:xfrm>
        </p:grpSpPr>
        <p:sp>
          <p:nvSpPr>
            <p:cNvPr name="TextBox 21" id="21"/>
            <p:cNvSpPr txBox="true"/>
            <p:nvPr/>
          </p:nvSpPr>
          <p:spPr>
            <a:xfrm rot="0">
              <a:off x="0" y="57150"/>
              <a:ext cx="19434721" cy="2008782"/>
            </a:xfrm>
            <a:prstGeom prst="rect">
              <a:avLst/>
            </a:prstGeom>
          </p:spPr>
          <p:txBody>
            <a:bodyPr anchor="t" rtlCol="false" tIns="0" lIns="0" bIns="0" rIns="0">
              <a:spAutoFit/>
            </a:bodyPr>
            <a:lstStyle/>
            <a:p>
              <a:pPr algn="ctr" marL="0" indent="0" lvl="0">
                <a:lnSpc>
                  <a:spcPts val="10643"/>
                </a:lnSpc>
                <a:spcBef>
                  <a:spcPct val="0"/>
                </a:spcBef>
              </a:pPr>
              <a:r>
                <a:rPr lang="en-US" sz="10233" spc="-593">
                  <a:solidFill>
                    <a:srgbClr val="000000"/>
                  </a:solidFill>
                  <a:latin typeface="Poppins"/>
                  <a:ea typeface="Poppins"/>
                  <a:cs typeface="Poppins"/>
                  <a:sym typeface="Poppins"/>
                </a:rPr>
                <a:t>HYBRID SCORING SYSTEM</a:t>
              </a:r>
            </a:p>
          </p:txBody>
        </p:sp>
        <p:sp>
          <p:nvSpPr>
            <p:cNvPr name="TextBox 22" id="22"/>
            <p:cNvSpPr txBox="true"/>
            <p:nvPr/>
          </p:nvSpPr>
          <p:spPr>
            <a:xfrm rot="0">
              <a:off x="4540199" y="2094507"/>
              <a:ext cx="10354323" cy="1083406"/>
            </a:xfrm>
            <a:prstGeom prst="rect">
              <a:avLst/>
            </a:prstGeom>
          </p:spPr>
          <p:txBody>
            <a:bodyPr anchor="t" rtlCol="false" tIns="0" lIns="0" bIns="0" rIns="0">
              <a:spAutoFit/>
            </a:bodyPr>
            <a:lstStyle/>
            <a:p>
              <a:pPr algn="ctr" marL="0" indent="0" lvl="0">
                <a:lnSpc>
                  <a:spcPts val="5713"/>
                </a:lnSpc>
                <a:spcBef>
                  <a:spcPct val="0"/>
                </a:spcBef>
              </a:pPr>
              <a:r>
                <a:rPr lang="en-US" sz="5494" spc="-318">
                  <a:solidFill>
                    <a:srgbClr val="000000"/>
                  </a:solidFill>
                  <a:latin typeface="Poppins"/>
                  <a:ea typeface="Poppins"/>
                  <a:cs typeface="Poppins"/>
                  <a:sym typeface="Poppins"/>
                </a:rPr>
                <a:t>(40% TF-IDF + 60% BERT)</a:t>
              </a:r>
            </a:p>
          </p:txBody>
        </p:sp>
      </p:grpSp>
    </p:spTree>
  </p:cSld>
  <p:clrMapOvr>
    <a:masterClrMapping/>
  </p:clrMapOvr>
</p:sld>
</file>

<file path=ppt/slides/slide22.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746875"/>
            <a:ext cx="17022494" cy="874401"/>
            <a:chOff x="0" y="0"/>
            <a:chExt cx="22696658" cy="1165868"/>
          </a:xfrm>
        </p:grpSpPr>
        <p:grpSp>
          <p:nvGrpSpPr>
            <p:cNvPr name="Group 9" id="9"/>
            <p:cNvGrpSpPr/>
            <p:nvPr/>
          </p:nvGrpSpPr>
          <p:grpSpPr>
            <a:xfrm rot="0">
              <a:off x="0" y="0"/>
              <a:ext cx="326716" cy="1115076"/>
              <a:chOff x="0" y="0"/>
              <a:chExt cx="64536" cy="220262"/>
            </a:xfrm>
          </p:grpSpPr>
          <p:sp>
            <p:nvSpPr>
              <p:cNvPr name="Freeform 10" id="10"/>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11" id="11"/>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12" id="12"/>
            <p:cNvSpPr txBox="true"/>
            <p:nvPr/>
          </p:nvSpPr>
          <p:spPr>
            <a:xfrm rot="0">
              <a:off x="1043541" y="80230"/>
              <a:ext cx="21653117"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WHY THIS COMBINATION?</a:t>
              </a:r>
            </a:p>
          </p:txBody>
        </p:sp>
      </p:grpSp>
      <p:grpSp>
        <p:nvGrpSpPr>
          <p:cNvPr name="Group 13" id="13"/>
          <p:cNvGrpSpPr/>
          <p:nvPr/>
        </p:nvGrpSpPr>
        <p:grpSpPr>
          <a:xfrm rot="0">
            <a:off x="9686155" y="2246087"/>
            <a:ext cx="7969092" cy="7530245"/>
            <a:chOff x="0" y="0"/>
            <a:chExt cx="1783395" cy="1685186"/>
          </a:xfrm>
        </p:grpSpPr>
        <p:sp>
          <p:nvSpPr>
            <p:cNvPr name="Freeform 14" id="14"/>
            <p:cNvSpPr/>
            <p:nvPr/>
          </p:nvSpPr>
          <p:spPr>
            <a:xfrm flipH="false" flipV="false" rot="0">
              <a:off x="0" y="0"/>
              <a:ext cx="1783395" cy="1685186"/>
            </a:xfrm>
            <a:custGeom>
              <a:avLst/>
              <a:gdLst/>
              <a:ahLst/>
              <a:cxnLst/>
              <a:rect r="r" b="b" t="t" l="l"/>
              <a:pathLst>
                <a:path h="1685186" w="1783395">
                  <a:moveTo>
                    <a:pt x="49546" y="0"/>
                  </a:moveTo>
                  <a:lnTo>
                    <a:pt x="1733849" y="0"/>
                  </a:lnTo>
                  <a:cubicBezTo>
                    <a:pt x="1746990" y="0"/>
                    <a:pt x="1759592" y="5220"/>
                    <a:pt x="1768884" y="14512"/>
                  </a:cubicBezTo>
                  <a:cubicBezTo>
                    <a:pt x="1778175" y="23803"/>
                    <a:pt x="1783395" y="36406"/>
                    <a:pt x="1783395" y="49546"/>
                  </a:cubicBezTo>
                  <a:lnTo>
                    <a:pt x="1783395" y="1635640"/>
                  </a:lnTo>
                  <a:cubicBezTo>
                    <a:pt x="1783395" y="1648780"/>
                    <a:pt x="1778175" y="1661383"/>
                    <a:pt x="1768884" y="1670674"/>
                  </a:cubicBezTo>
                  <a:cubicBezTo>
                    <a:pt x="1759592" y="1679966"/>
                    <a:pt x="1746990" y="1685186"/>
                    <a:pt x="1733849" y="1685186"/>
                  </a:cubicBezTo>
                  <a:lnTo>
                    <a:pt x="49546" y="1685186"/>
                  </a:lnTo>
                  <a:cubicBezTo>
                    <a:pt x="22183" y="1685186"/>
                    <a:pt x="0" y="1663004"/>
                    <a:pt x="0" y="1635640"/>
                  </a:cubicBezTo>
                  <a:lnTo>
                    <a:pt x="0" y="49546"/>
                  </a:lnTo>
                  <a:cubicBezTo>
                    <a:pt x="0" y="36406"/>
                    <a:pt x="5220" y="23803"/>
                    <a:pt x="14512" y="14512"/>
                  </a:cubicBezTo>
                  <a:cubicBezTo>
                    <a:pt x="23803" y="5220"/>
                    <a:pt x="36406" y="0"/>
                    <a:pt x="49546" y="0"/>
                  </a:cubicBezTo>
                  <a:close/>
                </a:path>
              </a:pathLst>
            </a:custGeom>
            <a:solidFill>
              <a:srgbClr val="FEB389"/>
            </a:solidFill>
          </p:spPr>
        </p:sp>
        <p:sp>
          <p:nvSpPr>
            <p:cNvPr name="TextBox 15" id="15"/>
            <p:cNvSpPr txBox="true"/>
            <p:nvPr/>
          </p:nvSpPr>
          <p:spPr>
            <a:xfrm>
              <a:off x="0" y="-66675"/>
              <a:ext cx="1783395" cy="1751861"/>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10035245" y="2662703"/>
            <a:ext cx="7224055" cy="6685632"/>
          </a:xfrm>
          <a:prstGeom prst="rect">
            <a:avLst/>
          </a:prstGeom>
        </p:spPr>
        <p:txBody>
          <a:bodyPr anchor="t" rtlCol="false" tIns="0" lIns="0" bIns="0" rIns="0">
            <a:spAutoFit/>
          </a:bodyPr>
          <a:lstStyle/>
          <a:p>
            <a:pPr algn="l">
              <a:lnSpc>
                <a:spcPts val="5300"/>
              </a:lnSpc>
            </a:pPr>
            <a:r>
              <a:rPr lang="en-US" sz="3786" spc="-212" b="true">
                <a:solidFill>
                  <a:srgbClr val="000000"/>
                </a:solidFill>
                <a:latin typeface="Poppins Bold"/>
                <a:ea typeface="Poppins Bold"/>
                <a:cs typeface="Poppins Bold"/>
                <a:sym typeface="Poppins Bold"/>
              </a:rPr>
              <a:t>60% BERT (AI Understanding):</a:t>
            </a:r>
          </a:p>
          <a:p>
            <a:pPr algn="l" marL="817430" indent="-408715" lvl="1">
              <a:lnSpc>
                <a:spcPts val="5300"/>
              </a:lnSpc>
              <a:buFont typeface="Arial"/>
              <a:buChar char="•"/>
            </a:pPr>
            <a:r>
              <a:rPr lang="en-US" sz="3786" spc="-212">
                <a:solidFill>
                  <a:srgbClr val="000000"/>
                </a:solidFill>
                <a:latin typeface="Poppins"/>
                <a:ea typeface="Poppins"/>
                <a:cs typeface="Poppins"/>
                <a:sym typeface="Poppins"/>
              </a:rPr>
              <a:t>Catches sophisticated paraphrasing</a:t>
            </a:r>
          </a:p>
          <a:p>
            <a:pPr algn="l" marL="817430" indent="-408715" lvl="1">
              <a:lnSpc>
                <a:spcPts val="5300"/>
              </a:lnSpc>
              <a:buFont typeface="Arial"/>
              <a:buChar char="•"/>
            </a:pPr>
            <a:r>
              <a:rPr lang="en-US" sz="3786" spc="-212">
                <a:solidFill>
                  <a:srgbClr val="000000"/>
                </a:solidFill>
                <a:latin typeface="Poppins"/>
                <a:ea typeface="Poppins"/>
                <a:cs typeface="Poppins"/>
                <a:sym typeface="Poppins"/>
              </a:rPr>
              <a:t>Understands meaning and context</a:t>
            </a:r>
          </a:p>
          <a:p>
            <a:pPr algn="l" marL="817430" indent="-408715" lvl="1">
              <a:lnSpc>
                <a:spcPts val="5300"/>
              </a:lnSpc>
              <a:buFont typeface="Arial"/>
              <a:buChar char="•"/>
            </a:pPr>
            <a:r>
              <a:rPr lang="en-US" sz="3786" spc="-212">
                <a:solidFill>
                  <a:srgbClr val="000000"/>
                </a:solidFill>
                <a:latin typeface="Poppins"/>
                <a:ea typeface="Poppins"/>
                <a:cs typeface="Poppins"/>
                <a:sym typeface="Poppins"/>
              </a:rPr>
              <a:t>Provides more accurate semantic similarity</a:t>
            </a:r>
          </a:p>
          <a:p>
            <a:pPr algn="l" marL="817430" indent="-408715" lvl="1">
              <a:lnSpc>
                <a:spcPts val="5300"/>
              </a:lnSpc>
              <a:buFont typeface="Arial"/>
              <a:buChar char="•"/>
            </a:pPr>
            <a:r>
              <a:rPr lang="en-US" sz="3786" spc="-212">
                <a:solidFill>
                  <a:srgbClr val="000000"/>
                </a:solidFill>
                <a:latin typeface="Poppins"/>
                <a:ea typeface="Poppins"/>
                <a:cs typeface="Poppins"/>
                <a:sym typeface="Poppins"/>
              </a:rPr>
              <a:t>Weighted higher because paraphrasing is harder to detect</a:t>
            </a:r>
          </a:p>
        </p:txBody>
      </p:sp>
      <p:grpSp>
        <p:nvGrpSpPr>
          <p:cNvPr name="Group 17" id="17"/>
          <p:cNvGrpSpPr/>
          <p:nvPr/>
        </p:nvGrpSpPr>
        <p:grpSpPr>
          <a:xfrm rot="0">
            <a:off x="632753" y="2246087"/>
            <a:ext cx="8511247" cy="6120545"/>
            <a:chOff x="0" y="0"/>
            <a:chExt cx="11348329" cy="8160727"/>
          </a:xfrm>
        </p:grpSpPr>
        <p:grpSp>
          <p:nvGrpSpPr>
            <p:cNvPr name="Group 18" id="18"/>
            <p:cNvGrpSpPr/>
            <p:nvPr/>
          </p:nvGrpSpPr>
          <p:grpSpPr>
            <a:xfrm rot="0">
              <a:off x="0" y="0"/>
              <a:ext cx="11348329" cy="8160727"/>
              <a:chOff x="0" y="0"/>
              <a:chExt cx="1904724" cy="1369711"/>
            </a:xfrm>
          </p:grpSpPr>
          <p:sp>
            <p:nvSpPr>
              <p:cNvPr name="Freeform 19" id="19"/>
              <p:cNvSpPr/>
              <p:nvPr/>
            </p:nvSpPr>
            <p:spPr>
              <a:xfrm flipH="false" flipV="false" rot="0">
                <a:off x="0" y="0"/>
                <a:ext cx="1904723" cy="1369711"/>
              </a:xfrm>
              <a:custGeom>
                <a:avLst/>
                <a:gdLst/>
                <a:ahLst/>
                <a:cxnLst/>
                <a:rect r="r" b="b" t="t" l="l"/>
                <a:pathLst>
                  <a:path h="1369711" w="1904723">
                    <a:moveTo>
                      <a:pt x="46390" y="0"/>
                    </a:moveTo>
                    <a:lnTo>
                      <a:pt x="1858333" y="0"/>
                    </a:lnTo>
                    <a:cubicBezTo>
                      <a:pt x="1870637" y="0"/>
                      <a:pt x="1882436" y="4888"/>
                      <a:pt x="1891136" y="13587"/>
                    </a:cubicBezTo>
                    <a:cubicBezTo>
                      <a:pt x="1899836" y="22287"/>
                      <a:pt x="1904723" y="34087"/>
                      <a:pt x="1904723" y="46390"/>
                    </a:cubicBezTo>
                    <a:lnTo>
                      <a:pt x="1904723" y="1323321"/>
                    </a:lnTo>
                    <a:cubicBezTo>
                      <a:pt x="1904723" y="1335624"/>
                      <a:pt x="1899836" y="1347424"/>
                      <a:pt x="1891136" y="1356123"/>
                    </a:cubicBezTo>
                    <a:cubicBezTo>
                      <a:pt x="1882436" y="1364823"/>
                      <a:pt x="1870637" y="1369711"/>
                      <a:pt x="1858333" y="1369711"/>
                    </a:cubicBezTo>
                    <a:lnTo>
                      <a:pt x="46390" y="1369711"/>
                    </a:lnTo>
                    <a:cubicBezTo>
                      <a:pt x="20770" y="1369711"/>
                      <a:pt x="0" y="1348941"/>
                      <a:pt x="0" y="1323321"/>
                    </a:cubicBezTo>
                    <a:lnTo>
                      <a:pt x="0" y="46390"/>
                    </a:lnTo>
                    <a:cubicBezTo>
                      <a:pt x="0" y="34087"/>
                      <a:pt x="4888" y="22287"/>
                      <a:pt x="13587" y="13587"/>
                    </a:cubicBezTo>
                    <a:cubicBezTo>
                      <a:pt x="22287" y="4888"/>
                      <a:pt x="34087" y="0"/>
                      <a:pt x="46390" y="0"/>
                    </a:cubicBezTo>
                    <a:close/>
                  </a:path>
                </a:pathLst>
              </a:custGeom>
              <a:solidFill>
                <a:srgbClr val="7281FE"/>
              </a:solidFill>
            </p:spPr>
          </p:sp>
          <p:sp>
            <p:nvSpPr>
              <p:cNvPr name="TextBox 20" id="20"/>
              <p:cNvSpPr txBox="true"/>
              <p:nvPr/>
            </p:nvSpPr>
            <p:spPr>
              <a:xfrm>
                <a:off x="0" y="-66675"/>
                <a:ext cx="1904724" cy="1436386"/>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0">
              <a:off x="515098" y="744299"/>
              <a:ext cx="10318132" cy="6557829"/>
            </a:xfrm>
            <a:prstGeom prst="rect">
              <a:avLst/>
            </a:prstGeom>
          </p:spPr>
          <p:txBody>
            <a:bodyPr anchor="t" rtlCol="false" tIns="0" lIns="0" bIns="0" rIns="0">
              <a:spAutoFit/>
            </a:bodyPr>
            <a:lstStyle/>
            <a:p>
              <a:pPr algn="l">
                <a:lnSpc>
                  <a:spcPts val="5583"/>
                </a:lnSpc>
              </a:pPr>
              <a:r>
                <a:rPr lang="en-US" sz="3988" spc="-223" b="true">
                  <a:solidFill>
                    <a:srgbClr val="000000"/>
                  </a:solidFill>
                  <a:latin typeface="Poppins Bold"/>
                  <a:ea typeface="Poppins Bold"/>
                  <a:cs typeface="Poppins Bold"/>
                  <a:sym typeface="Poppins Bold"/>
                </a:rPr>
                <a:t>40% TF-IDF (Word-Matching):</a:t>
              </a:r>
            </a:p>
            <a:p>
              <a:pPr algn="l" marL="861078" indent="-430539" lvl="1">
                <a:lnSpc>
                  <a:spcPts val="5583"/>
                </a:lnSpc>
                <a:buFont typeface="Arial"/>
                <a:buChar char="•"/>
              </a:pPr>
              <a:r>
                <a:rPr lang="en-US" sz="3988" spc="-223">
                  <a:solidFill>
                    <a:srgbClr val="000000"/>
                  </a:solidFill>
                  <a:latin typeface="Poppins"/>
                  <a:ea typeface="Poppins"/>
                  <a:cs typeface="Poppins"/>
                  <a:sym typeface="Poppins"/>
                </a:rPr>
                <a:t>Catches direct plagiarism with exact word matches</a:t>
              </a:r>
            </a:p>
            <a:p>
              <a:pPr algn="l" marL="861078" indent="-430539" lvl="1">
                <a:lnSpc>
                  <a:spcPts val="5583"/>
                </a:lnSpc>
                <a:buFont typeface="Arial"/>
                <a:buChar char="•"/>
              </a:pPr>
              <a:r>
                <a:rPr lang="en-US" sz="3988" spc="-223">
                  <a:solidFill>
                    <a:srgbClr val="000000"/>
                  </a:solidFill>
                  <a:latin typeface="Poppins"/>
                  <a:ea typeface="Poppins"/>
                  <a:cs typeface="Poppins"/>
                  <a:sym typeface="Poppins"/>
                </a:rPr>
                <a:t>P</a:t>
              </a:r>
              <a:r>
                <a:rPr lang="en-US" sz="3988" spc="-223">
                  <a:solidFill>
                    <a:srgbClr val="000000"/>
                  </a:solidFill>
                  <a:latin typeface="Poppins"/>
                  <a:ea typeface="Poppins"/>
                  <a:cs typeface="Poppins"/>
                  <a:sym typeface="Poppins"/>
                </a:rPr>
                <a:t>rovides baseline similarity check</a:t>
              </a:r>
            </a:p>
            <a:p>
              <a:pPr algn="l" marL="861078" indent="-430539" lvl="1">
                <a:lnSpc>
                  <a:spcPts val="5583"/>
                </a:lnSpc>
                <a:buFont typeface="Arial"/>
                <a:buChar char="•"/>
              </a:pPr>
              <a:r>
                <a:rPr lang="en-US" sz="3988" spc="-223">
                  <a:solidFill>
                    <a:srgbClr val="000000"/>
                  </a:solidFill>
                  <a:latin typeface="Poppins"/>
                  <a:ea typeface="Poppins"/>
                  <a:cs typeface="Poppins"/>
                  <a:sym typeface="Poppins"/>
                </a:rPr>
                <a:t>Ensures we don't miss obvious copying</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632753" y="616986"/>
            <a:ext cx="203751" cy="836307"/>
            <a:chOff x="0" y="0"/>
            <a:chExt cx="53663" cy="220262"/>
          </a:xfrm>
        </p:grpSpPr>
        <p:sp>
          <p:nvSpPr>
            <p:cNvPr name="Freeform 6" id="6"/>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7" id="7"/>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1944809"/>
            <a:ext cx="17022494" cy="2386531"/>
            <a:chOff x="0" y="0"/>
            <a:chExt cx="6631238" cy="929691"/>
          </a:xfrm>
        </p:grpSpPr>
        <p:sp>
          <p:nvSpPr>
            <p:cNvPr name="Freeform 9" id="9"/>
            <p:cNvSpPr/>
            <p:nvPr/>
          </p:nvSpPr>
          <p:spPr>
            <a:xfrm flipH="false" flipV="false" rot="0">
              <a:off x="0" y="0"/>
              <a:ext cx="6631238" cy="929691"/>
            </a:xfrm>
            <a:custGeom>
              <a:avLst/>
              <a:gdLst/>
              <a:ahLst/>
              <a:cxnLst/>
              <a:rect r="r" b="b" t="t" l="l"/>
              <a:pathLst>
                <a:path h="929691" w="6631238">
                  <a:moveTo>
                    <a:pt x="8641" y="0"/>
                  </a:moveTo>
                  <a:lnTo>
                    <a:pt x="6622597" y="0"/>
                  </a:lnTo>
                  <a:cubicBezTo>
                    <a:pt x="6624889" y="0"/>
                    <a:pt x="6627086" y="910"/>
                    <a:pt x="6628707" y="2531"/>
                  </a:cubicBezTo>
                  <a:cubicBezTo>
                    <a:pt x="6630327" y="4152"/>
                    <a:pt x="6631238" y="6349"/>
                    <a:pt x="6631238" y="8641"/>
                  </a:cubicBezTo>
                  <a:lnTo>
                    <a:pt x="6631238" y="921049"/>
                  </a:lnTo>
                  <a:cubicBezTo>
                    <a:pt x="6631238" y="923341"/>
                    <a:pt x="6630327" y="925539"/>
                    <a:pt x="6628707" y="927160"/>
                  </a:cubicBezTo>
                  <a:cubicBezTo>
                    <a:pt x="6627086" y="928780"/>
                    <a:pt x="6624889" y="929691"/>
                    <a:pt x="6622597" y="929691"/>
                  </a:cubicBezTo>
                  <a:lnTo>
                    <a:pt x="8641" y="929691"/>
                  </a:lnTo>
                  <a:cubicBezTo>
                    <a:pt x="6349" y="929691"/>
                    <a:pt x="4152" y="928780"/>
                    <a:pt x="2531" y="927160"/>
                  </a:cubicBezTo>
                  <a:cubicBezTo>
                    <a:pt x="910" y="925539"/>
                    <a:pt x="0" y="923341"/>
                    <a:pt x="0" y="921049"/>
                  </a:cubicBezTo>
                  <a:lnTo>
                    <a:pt x="0" y="8641"/>
                  </a:lnTo>
                  <a:cubicBezTo>
                    <a:pt x="0" y="6349"/>
                    <a:pt x="910" y="4152"/>
                    <a:pt x="2531" y="2531"/>
                  </a:cubicBezTo>
                  <a:cubicBezTo>
                    <a:pt x="4152" y="910"/>
                    <a:pt x="6349" y="0"/>
                    <a:pt x="8641" y="0"/>
                  </a:cubicBezTo>
                  <a:close/>
                </a:path>
              </a:pathLst>
            </a:custGeom>
            <a:solidFill>
              <a:srgbClr val="89CDFE"/>
            </a:solidFill>
            <a:ln cap="sq">
              <a:noFill/>
              <a:prstDash val="solid"/>
              <a:miter/>
            </a:ln>
          </p:spPr>
        </p:sp>
        <p:sp>
          <p:nvSpPr>
            <p:cNvPr name="TextBox 10" id="10"/>
            <p:cNvSpPr txBox="true"/>
            <p:nvPr/>
          </p:nvSpPr>
          <p:spPr>
            <a:xfrm>
              <a:off x="0" y="-66675"/>
              <a:ext cx="6631238" cy="996366"/>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632753" y="4826633"/>
            <a:ext cx="203751" cy="836307"/>
            <a:chOff x="0" y="0"/>
            <a:chExt cx="53663" cy="220262"/>
          </a:xfrm>
        </p:grpSpPr>
        <p:sp>
          <p:nvSpPr>
            <p:cNvPr name="Freeform 12" id="12"/>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3" id="13"/>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graphicFrame>
        <p:nvGraphicFramePr>
          <p:cNvPr name="Object 14" id="14"/>
          <p:cNvGraphicFramePr/>
          <p:nvPr/>
        </p:nvGraphicFramePr>
        <p:xfrm>
          <a:off x="734629" y="6158234"/>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15" id="15"/>
          <p:cNvSpPr txBox="true"/>
          <p:nvPr/>
        </p:nvSpPr>
        <p:spPr>
          <a:xfrm rot="0">
            <a:off x="1047305" y="607467"/>
            <a:ext cx="14742913" cy="883920"/>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CALCULATION FORMULA</a:t>
            </a:r>
          </a:p>
        </p:txBody>
      </p:sp>
      <p:sp>
        <p:nvSpPr>
          <p:cNvPr name="TextBox 16" id="16"/>
          <p:cNvSpPr txBox="true"/>
          <p:nvPr/>
        </p:nvSpPr>
        <p:spPr>
          <a:xfrm rot="0">
            <a:off x="836504" y="1972930"/>
            <a:ext cx="16478508" cy="2127251"/>
          </a:xfrm>
          <a:prstGeom prst="rect">
            <a:avLst/>
          </a:prstGeom>
        </p:spPr>
        <p:txBody>
          <a:bodyPr anchor="t" rtlCol="false" tIns="0" lIns="0" bIns="0" rIns="0">
            <a:spAutoFit/>
          </a:bodyPr>
          <a:lstStyle/>
          <a:p>
            <a:pPr algn="just">
              <a:lnSpc>
                <a:spcPts val="5599"/>
              </a:lnSpc>
            </a:pPr>
            <a:r>
              <a:rPr lang="en-US" sz="3999" spc="-223">
                <a:solidFill>
                  <a:srgbClr val="000000"/>
                </a:solidFill>
                <a:latin typeface="Poppins"/>
                <a:ea typeface="Poppins"/>
                <a:cs typeface="Poppins"/>
                <a:sym typeface="Poppins"/>
              </a:rPr>
              <a:t>Final Similarity Score </a:t>
            </a:r>
          </a:p>
          <a:p>
            <a:pPr algn="just">
              <a:lnSpc>
                <a:spcPts val="5599"/>
              </a:lnSpc>
            </a:pPr>
            <a:r>
              <a:rPr lang="en-US" sz="3999" spc="-223">
                <a:solidFill>
                  <a:srgbClr val="000000"/>
                </a:solidFill>
                <a:latin typeface="Poppins"/>
                <a:ea typeface="Poppins"/>
                <a:cs typeface="Poppins"/>
                <a:sym typeface="Poppins"/>
              </a:rPr>
              <a:t>= (TF-IDF Score × 0.4) + (BERT Score × 0.6)  </a:t>
            </a:r>
          </a:p>
          <a:p>
            <a:pPr algn="just" marL="0" indent="0" lvl="0">
              <a:lnSpc>
                <a:spcPts val="5599"/>
              </a:lnSpc>
              <a:spcBef>
                <a:spcPct val="0"/>
              </a:spcBef>
            </a:pPr>
            <a:r>
              <a:rPr lang="en-US" sz="3999" spc="-223">
                <a:solidFill>
                  <a:srgbClr val="000000"/>
                </a:solidFill>
                <a:latin typeface="Poppins"/>
                <a:ea typeface="Poppins"/>
                <a:cs typeface="Poppins"/>
                <a:sym typeface="Poppins"/>
              </a:rPr>
              <a:t>= (Exact Matching × 0.4) + (Sem</a:t>
            </a:r>
            <a:r>
              <a:rPr lang="en-US" sz="3999" spc="-223">
                <a:solidFill>
                  <a:srgbClr val="000000"/>
                </a:solidFill>
                <a:latin typeface="Poppins"/>
                <a:ea typeface="Poppins"/>
                <a:cs typeface="Poppins"/>
                <a:sym typeface="Poppins"/>
              </a:rPr>
              <a:t>an</a:t>
            </a:r>
            <a:r>
              <a:rPr lang="en-US" sz="3999" spc="-223">
                <a:solidFill>
                  <a:srgbClr val="000000"/>
                </a:solidFill>
                <a:latin typeface="Poppins"/>
                <a:ea typeface="Poppins"/>
                <a:cs typeface="Poppins"/>
                <a:sym typeface="Poppins"/>
              </a:rPr>
              <a:t>ti</a:t>
            </a:r>
            <a:r>
              <a:rPr lang="en-US" sz="3999" spc="-223">
                <a:solidFill>
                  <a:srgbClr val="000000"/>
                </a:solidFill>
                <a:latin typeface="Poppins"/>
                <a:ea typeface="Poppins"/>
                <a:cs typeface="Poppins"/>
                <a:sym typeface="Poppins"/>
              </a:rPr>
              <a:t>c Unders</a:t>
            </a:r>
            <a:r>
              <a:rPr lang="en-US" sz="3999" spc="-223">
                <a:solidFill>
                  <a:srgbClr val="000000"/>
                </a:solidFill>
                <a:latin typeface="Poppins"/>
                <a:ea typeface="Poppins"/>
                <a:cs typeface="Poppins"/>
                <a:sym typeface="Poppins"/>
              </a:rPr>
              <a:t>t</a:t>
            </a:r>
            <a:r>
              <a:rPr lang="en-US" sz="3999" spc="-223">
                <a:solidFill>
                  <a:srgbClr val="000000"/>
                </a:solidFill>
                <a:latin typeface="Poppins"/>
                <a:ea typeface="Poppins"/>
                <a:cs typeface="Poppins"/>
                <a:sym typeface="Poppins"/>
              </a:rPr>
              <a:t>an</a:t>
            </a:r>
            <a:r>
              <a:rPr lang="en-US" sz="3999" spc="-223">
                <a:solidFill>
                  <a:srgbClr val="000000"/>
                </a:solidFill>
                <a:latin typeface="Poppins"/>
                <a:ea typeface="Poppins"/>
                <a:cs typeface="Poppins"/>
                <a:sym typeface="Poppins"/>
              </a:rPr>
              <a:t>d</a:t>
            </a:r>
            <a:r>
              <a:rPr lang="en-US" sz="3999" spc="-223">
                <a:solidFill>
                  <a:srgbClr val="000000"/>
                </a:solidFill>
                <a:latin typeface="Poppins"/>
                <a:ea typeface="Poppins"/>
                <a:cs typeface="Poppins"/>
                <a:sym typeface="Poppins"/>
              </a:rPr>
              <a:t>ing × 0</a:t>
            </a:r>
            <a:r>
              <a:rPr lang="en-US" sz="3999" spc="-223">
                <a:solidFill>
                  <a:srgbClr val="000000"/>
                </a:solidFill>
                <a:latin typeface="Poppins"/>
                <a:ea typeface="Poppins"/>
                <a:cs typeface="Poppins"/>
                <a:sym typeface="Poppins"/>
              </a:rPr>
              <a:t>.6)</a:t>
            </a:r>
          </a:p>
        </p:txBody>
      </p:sp>
      <p:sp>
        <p:nvSpPr>
          <p:cNvPr name="TextBox 17" id="17"/>
          <p:cNvSpPr txBox="true"/>
          <p:nvPr/>
        </p:nvSpPr>
        <p:spPr>
          <a:xfrm rot="0">
            <a:off x="1047305" y="4817114"/>
            <a:ext cx="14742913" cy="883920"/>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RESULT INTERPRETATION</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896946" y="335654"/>
            <a:ext cx="16406044" cy="874401"/>
            <a:chOff x="0" y="0"/>
            <a:chExt cx="21874726" cy="1165868"/>
          </a:xfrm>
        </p:grpSpPr>
        <p:grpSp>
          <p:nvGrpSpPr>
            <p:cNvPr name="Group 6" id="6"/>
            <p:cNvGrpSpPr/>
            <p:nvPr/>
          </p:nvGrpSpPr>
          <p:grpSpPr>
            <a:xfrm rot="0">
              <a:off x="0" y="0"/>
              <a:ext cx="326716" cy="1115076"/>
              <a:chOff x="0" y="0"/>
              <a:chExt cx="64536" cy="220262"/>
            </a:xfrm>
          </p:grpSpPr>
          <p:sp>
            <p:nvSpPr>
              <p:cNvPr name="Freeform 7" id="7"/>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8" id="8"/>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9" id="9"/>
            <p:cNvSpPr txBox="true"/>
            <p:nvPr/>
          </p:nvSpPr>
          <p:spPr>
            <a:xfrm rot="0">
              <a:off x="1043541" y="80230"/>
              <a:ext cx="20831185"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WHY THIS ARCHITECTURE</a:t>
              </a:r>
              <a:r>
                <a:rPr lang="en-US" b="true" sz="5499" spc="-318" strike="noStrike" u="none">
                  <a:solidFill>
                    <a:srgbClr val="000000"/>
                  </a:solidFill>
                  <a:latin typeface="Poppins Bold"/>
                  <a:ea typeface="Poppins Bold"/>
                  <a:cs typeface="Poppins Bold"/>
                  <a:sym typeface="Poppins Bold"/>
                </a:rPr>
                <a:t> </a:t>
              </a:r>
              <a:r>
                <a:rPr lang="en-US" b="true" sz="5499" spc="-318" strike="noStrike" u="none">
                  <a:solidFill>
                    <a:srgbClr val="000000"/>
                  </a:solidFill>
                  <a:latin typeface="Poppins Bold"/>
                  <a:ea typeface="Poppins Bold"/>
                  <a:cs typeface="Poppins Bold"/>
                  <a:sym typeface="Poppins Bold"/>
                </a:rPr>
                <a:t>WO</a:t>
              </a:r>
              <a:r>
                <a:rPr lang="en-US" b="true" sz="5499" spc="-318" strike="noStrike" u="none">
                  <a:solidFill>
                    <a:srgbClr val="000000"/>
                  </a:solidFill>
                  <a:latin typeface="Poppins Bold"/>
                  <a:ea typeface="Poppins Bold"/>
                  <a:cs typeface="Poppins Bold"/>
                  <a:sym typeface="Poppins Bold"/>
                </a:rPr>
                <a:t>R</a:t>
              </a:r>
              <a:r>
                <a:rPr lang="en-US" b="true" sz="5499" spc="-318" strike="noStrike" u="none">
                  <a:solidFill>
                    <a:srgbClr val="000000"/>
                  </a:solidFill>
                  <a:latin typeface="Poppins Bold"/>
                  <a:ea typeface="Poppins Bold"/>
                  <a:cs typeface="Poppins Bold"/>
                  <a:sym typeface="Poppins Bold"/>
                </a:rPr>
                <a:t>KS?</a:t>
              </a:r>
            </a:p>
          </p:txBody>
        </p:sp>
      </p:grpSp>
      <p:grpSp>
        <p:nvGrpSpPr>
          <p:cNvPr name="Group 10" id="10"/>
          <p:cNvGrpSpPr/>
          <p:nvPr/>
        </p:nvGrpSpPr>
        <p:grpSpPr>
          <a:xfrm rot="0">
            <a:off x="588721" y="1320293"/>
            <a:ext cx="17110558" cy="2687572"/>
            <a:chOff x="0" y="0"/>
            <a:chExt cx="3829155" cy="601449"/>
          </a:xfrm>
        </p:grpSpPr>
        <p:sp>
          <p:nvSpPr>
            <p:cNvPr name="Freeform 11" id="11"/>
            <p:cNvSpPr/>
            <p:nvPr/>
          </p:nvSpPr>
          <p:spPr>
            <a:xfrm flipH="false" flipV="false" rot="0">
              <a:off x="0" y="0"/>
              <a:ext cx="3829155" cy="601449"/>
            </a:xfrm>
            <a:custGeom>
              <a:avLst/>
              <a:gdLst/>
              <a:ahLst/>
              <a:cxnLst/>
              <a:rect r="r" b="b" t="t" l="l"/>
              <a:pathLst>
                <a:path h="601449" w="3829155">
                  <a:moveTo>
                    <a:pt x="23076" y="0"/>
                  </a:moveTo>
                  <a:lnTo>
                    <a:pt x="3806079" y="0"/>
                  </a:lnTo>
                  <a:cubicBezTo>
                    <a:pt x="3818824" y="0"/>
                    <a:pt x="3829155" y="10331"/>
                    <a:pt x="3829155" y="23076"/>
                  </a:cubicBezTo>
                  <a:lnTo>
                    <a:pt x="3829155" y="578374"/>
                  </a:lnTo>
                  <a:cubicBezTo>
                    <a:pt x="3829155" y="584494"/>
                    <a:pt x="3826724" y="590363"/>
                    <a:pt x="3822396" y="594690"/>
                  </a:cubicBezTo>
                  <a:cubicBezTo>
                    <a:pt x="3818069" y="599018"/>
                    <a:pt x="3812199" y="601449"/>
                    <a:pt x="3806079" y="601449"/>
                  </a:cubicBezTo>
                  <a:lnTo>
                    <a:pt x="23076" y="601449"/>
                  </a:lnTo>
                  <a:cubicBezTo>
                    <a:pt x="10331" y="601449"/>
                    <a:pt x="0" y="591118"/>
                    <a:pt x="0" y="578374"/>
                  </a:cubicBezTo>
                  <a:lnTo>
                    <a:pt x="0" y="23076"/>
                  </a:lnTo>
                  <a:cubicBezTo>
                    <a:pt x="0" y="10331"/>
                    <a:pt x="10331" y="0"/>
                    <a:pt x="23076" y="0"/>
                  </a:cubicBezTo>
                  <a:close/>
                </a:path>
              </a:pathLst>
            </a:custGeom>
            <a:solidFill>
              <a:srgbClr val="7281FE"/>
            </a:solidFill>
          </p:spPr>
        </p:sp>
        <p:sp>
          <p:nvSpPr>
            <p:cNvPr name="TextBox 12" id="12"/>
            <p:cNvSpPr txBox="true"/>
            <p:nvPr/>
          </p:nvSpPr>
          <p:spPr>
            <a:xfrm>
              <a:off x="0" y="-66675"/>
              <a:ext cx="3829155" cy="668124"/>
            </a:xfrm>
            <a:prstGeom prst="rect">
              <a:avLst/>
            </a:prstGeom>
          </p:spPr>
          <p:txBody>
            <a:bodyPr anchor="ctr" rtlCol="false" tIns="50800" lIns="50800" bIns="50800" rIns="50800"/>
            <a:lstStyle/>
            <a:p>
              <a:pPr algn="ctr">
                <a:lnSpc>
                  <a:spcPts val="2800"/>
                </a:lnSpc>
              </a:pPr>
            </a:p>
          </p:txBody>
        </p:sp>
      </p:grpSp>
      <p:sp>
        <p:nvSpPr>
          <p:cNvPr name="TextBox 13" id="13"/>
          <p:cNvSpPr txBox="true"/>
          <p:nvPr/>
        </p:nvSpPr>
        <p:spPr>
          <a:xfrm rot="0">
            <a:off x="940978" y="1498694"/>
            <a:ext cx="16248070" cy="2252696"/>
          </a:xfrm>
          <a:prstGeom prst="rect">
            <a:avLst/>
          </a:prstGeom>
        </p:spPr>
        <p:txBody>
          <a:bodyPr anchor="t" rtlCol="false" tIns="0" lIns="0" bIns="0" rIns="0">
            <a:spAutoFit/>
          </a:bodyPr>
          <a:lstStyle/>
          <a:p>
            <a:pPr algn="just">
              <a:lnSpc>
                <a:spcPts val="4460"/>
              </a:lnSpc>
            </a:pPr>
            <a:r>
              <a:rPr lang="en-US" b="true" sz="3186" spc="-178">
                <a:solidFill>
                  <a:srgbClr val="000000"/>
                </a:solidFill>
                <a:latin typeface="Poppins Bold"/>
                <a:ea typeface="Poppins Bold"/>
                <a:cs typeface="Poppins Bold"/>
                <a:sym typeface="Poppins Bold"/>
              </a:rPr>
              <a:t>Comprehensive Detection:</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Two-pronged approach </a:t>
            </a:r>
            <a:r>
              <a:rPr lang="en-US" sz="3186" spc="-178">
                <a:solidFill>
                  <a:srgbClr val="000000"/>
                </a:solidFill>
                <a:latin typeface="Poppins"/>
                <a:ea typeface="Poppins"/>
                <a:cs typeface="Poppins"/>
                <a:sym typeface="Poppins"/>
              </a:rPr>
              <a:t>catches both direct copying and paraphrasing</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Bal</a:t>
            </a:r>
            <a:r>
              <a:rPr lang="en-US" b="true" sz="3186" spc="-178">
                <a:solidFill>
                  <a:srgbClr val="000000"/>
                </a:solidFill>
                <a:latin typeface="Poppins Bold"/>
                <a:ea typeface="Poppins Bold"/>
                <a:cs typeface="Poppins Bold"/>
                <a:sym typeface="Poppins Bold"/>
              </a:rPr>
              <a:t>an</a:t>
            </a:r>
            <a:r>
              <a:rPr lang="en-US" b="true" sz="3186" spc="-178">
                <a:solidFill>
                  <a:srgbClr val="000000"/>
                </a:solidFill>
                <a:latin typeface="Poppins Bold"/>
                <a:ea typeface="Poppins Bold"/>
                <a:cs typeface="Poppins Bold"/>
                <a:sym typeface="Poppins Bold"/>
              </a:rPr>
              <a:t>ces accuracy</a:t>
            </a:r>
            <a:r>
              <a:rPr lang="en-US" sz="3186" spc="-178">
                <a:solidFill>
                  <a:srgbClr val="000000"/>
                </a:solidFill>
                <a:latin typeface="Poppins"/>
                <a:ea typeface="Poppins"/>
                <a:cs typeface="Poppins"/>
                <a:sym typeface="Poppins"/>
              </a:rPr>
              <a:t> between statistical and AI-based methods</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Reduces false positives</a:t>
            </a:r>
            <a:r>
              <a:rPr lang="en-US" sz="3186" spc="-178">
                <a:solidFill>
                  <a:srgbClr val="000000"/>
                </a:solidFill>
                <a:latin typeface="Poppins"/>
                <a:ea typeface="Poppins"/>
                <a:cs typeface="Poppins"/>
                <a:sym typeface="Poppins"/>
              </a:rPr>
              <a:t> through hybrid confirmation</a:t>
            </a:r>
          </a:p>
        </p:txBody>
      </p:sp>
      <p:grpSp>
        <p:nvGrpSpPr>
          <p:cNvPr name="Group 14" id="14"/>
          <p:cNvGrpSpPr/>
          <p:nvPr/>
        </p:nvGrpSpPr>
        <p:grpSpPr>
          <a:xfrm rot="0">
            <a:off x="588721" y="4122165"/>
            <a:ext cx="17110558" cy="2687572"/>
            <a:chOff x="0" y="0"/>
            <a:chExt cx="3829155" cy="601449"/>
          </a:xfrm>
        </p:grpSpPr>
        <p:sp>
          <p:nvSpPr>
            <p:cNvPr name="Freeform 15" id="15"/>
            <p:cNvSpPr/>
            <p:nvPr/>
          </p:nvSpPr>
          <p:spPr>
            <a:xfrm flipH="false" flipV="false" rot="0">
              <a:off x="0" y="0"/>
              <a:ext cx="3829155" cy="601449"/>
            </a:xfrm>
            <a:custGeom>
              <a:avLst/>
              <a:gdLst/>
              <a:ahLst/>
              <a:cxnLst/>
              <a:rect r="r" b="b" t="t" l="l"/>
              <a:pathLst>
                <a:path h="601449" w="3829155">
                  <a:moveTo>
                    <a:pt x="23076" y="0"/>
                  </a:moveTo>
                  <a:lnTo>
                    <a:pt x="3806079" y="0"/>
                  </a:lnTo>
                  <a:cubicBezTo>
                    <a:pt x="3818824" y="0"/>
                    <a:pt x="3829155" y="10331"/>
                    <a:pt x="3829155" y="23076"/>
                  </a:cubicBezTo>
                  <a:lnTo>
                    <a:pt x="3829155" y="578374"/>
                  </a:lnTo>
                  <a:cubicBezTo>
                    <a:pt x="3829155" y="584494"/>
                    <a:pt x="3826724" y="590363"/>
                    <a:pt x="3822396" y="594690"/>
                  </a:cubicBezTo>
                  <a:cubicBezTo>
                    <a:pt x="3818069" y="599018"/>
                    <a:pt x="3812199" y="601449"/>
                    <a:pt x="3806079" y="601449"/>
                  </a:cubicBezTo>
                  <a:lnTo>
                    <a:pt x="23076" y="601449"/>
                  </a:lnTo>
                  <a:cubicBezTo>
                    <a:pt x="10331" y="601449"/>
                    <a:pt x="0" y="591118"/>
                    <a:pt x="0" y="578374"/>
                  </a:cubicBezTo>
                  <a:lnTo>
                    <a:pt x="0" y="23076"/>
                  </a:lnTo>
                  <a:cubicBezTo>
                    <a:pt x="0" y="10331"/>
                    <a:pt x="10331" y="0"/>
                    <a:pt x="23076" y="0"/>
                  </a:cubicBezTo>
                  <a:close/>
                </a:path>
              </a:pathLst>
            </a:custGeom>
            <a:solidFill>
              <a:srgbClr val="FEB389"/>
            </a:solidFill>
          </p:spPr>
        </p:sp>
        <p:sp>
          <p:nvSpPr>
            <p:cNvPr name="TextBox 16" id="16"/>
            <p:cNvSpPr txBox="true"/>
            <p:nvPr/>
          </p:nvSpPr>
          <p:spPr>
            <a:xfrm>
              <a:off x="0" y="-66675"/>
              <a:ext cx="3829155" cy="668124"/>
            </a:xfrm>
            <a:prstGeom prst="rect">
              <a:avLst/>
            </a:prstGeom>
          </p:spPr>
          <p:txBody>
            <a:bodyPr anchor="ctr" rtlCol="false" tIns="50800" lIns="50800" bIns="50800" rIns="50800"/>
            <a:lstStyle/>
            <a:p>
              <a:pPr algn="ctr">
                <a:lnSpc>
                  <a:spcPts val="2800"/>
                </a:lnSpc>
              </a:pPr>
            </a:p>
          </p:txBody>
        </p:sp>
      </p:grpSp>
      <p:sp>
        <p:nvSpPr>
          <p:cNvPr name="TextBox 17" id="17"/>
          <p:cNvSpPr txBox="true"/>
          <p:nvPr/>
        </p:nvSpPr>
        <p:spPr>
          <a:xfrm rot="0">
            <a:off x="940978" y="4300567"/>
            <a:ext cx="16248070" cy="2252696"/>
          </a:xfrm>
          <a:prstGeom prst="rect">
            <a:avLst/>
          </a:prstGeom>
        </p:spPr>
        <p:txBody>
          <a:bodyPr anchor="t" rtlCol="false" tIns="0" lIns="0" bIns="0" rIns="0">
            <a:spAutoFit/>
          </a:bodyPr>
          <a:lstStyle/>
          <a:p>
            <a:pPr algn="just">
              <a:lnSpc>
                <a:spcPts val="4460"/>
              </a:lnSpc>
            </a:pPr>
            <a:r>
              <a:rPr lang="en-US" b="true" sz="3186" spc="-178">
                <a:solidFill>
                  <a:srgbClr val="000000"/>
                </a:solidFill>
                <a:latin typeface="Poppins Bold"/>
                <a:ea typeface="Poppins Bold"/>
                <a:cs typeface="Poppins Bold"/>
                <a:sym typeface="Poppins Bold"/>
              </a:rPr>
              <a:t>Efficient Processing:</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TF-IDF</a:t>
            </a:r>
            <a:r>
              <a:rPr lang="en-US" sz="3186" spc="-178">
                <a:solidFill>
                  <a:srgbClr val="000000"/>
                </a:solidFill>
                <a:latin typeface="Poppins"/>
                <a:ea typeface="Poppins"/>
                <a:cs typeface="Poppins"/>
                <a:sym typeface="Poppins"/>
              </a:rPr>
              <a:t> provides quick baseline check</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BERT</a:t>
            </a:r>
            <a:r>
              <a:rPr lang="en-US" sz="3186" spc="-178">
                <a:solidFill>
                  <a:srgbClr val="000000"/>
                </a:solidFill>
                <a:latin typeface="Poppins"/>
                <a:ea typeface="Poppins"/>
                <a:cs typeface="Poppins"/>
                <a:sym typeface="Poppins"/>
              </a:rPr>
              <a:t> refines results with semantic understanding</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Combi</a:t>
            </a:r>
            <a:r>
              <a:rPr lang="en-US" b="true" sz="3186" spc="-178">
                <a:solidFill>
                  <a:srgbClr val="000000"/>
                </a:solidFill>
                <a:latin typeface="Poppins Bold"/>
                <a:ea typeface="Poppins Bold"/>
                <a:cs typeface="Poppins Bold"/>
                <a:sym typeface="Poppins Bold"/>
              </a:rPr>
              <a:t>n</a:t>
            </a:r>
            <a:r>
              <a:rPr lang="en-US" b="true" sz="3186" spc="-178">
                <a:solidFill>
                  <a:srgbClr val="000000"/>
                </a:solidFill>
                <a:latin typeface="Poppins Bold"/>
                <a:ea typeface="Poppins Bold"/>
                <a:cs typeface="Poppins Bold"/>
                <a:sym typeface="Poppins Bold"/>
              </a:rPr>
              <a:t>ed </a:t>
            </a:r>
            <a:r>
              <a:rPr lang="en-US" sz="3186" spc="-178">
                <a:solidFill>
                  <a:srgbClr val="000000"/>
                </a:solidFill>
                <a:latin typeface="Poppins"/>
                <a:ea typeface="Poppins"/>
                <a:cs typeface="Poppins"/>
                <a:sym typeface="Poppins"/>
              </a:rPr>
              <a:t>= accurate results in 2-3 seconds</a:t>
            </a:r>
          </a:p>
        </p:txBody>
      </p:sp>
      <p:grpSp>
        <p:nvGrpSpPr>
          <p:cNvPr name="Group 18" id="18"/>
          <p:cNvGrpSpPr/>
          <p:nvPr/>
        </p:nvGrpSpPr>
        <p:grpSpPr>
          <a:xfrm rot="0">
            <a:off x="588721" y="6924038"/>
            <a:ext cx="17110558" cy="3186603"/>
            <a:chOff x="0" y="0"/>
            <a:chExt cx="3829155" cy="713127"/>
          </a:xfrm>
        </p:grpSpPr>
        <p:sp>
          <p:nvSpPr>
            <p:cNvPr name="Freeform 19" id="19"/>
            <p:cNvSpPr/>
            <p:nvPr/>
          </p:nvSpPr>
          <p:spPr>
            <a:xfrm flipH="false" flipV="false" rot="0">
              <a:off x="0" y="0"/>
              <a:ext cx="3829155" cy="713127"/>
            </a:xfrm>
            <a:custGeom>
              <a:avLst/>
              <a:gdLst/>
              <a:ahLst/>
              <a:cxnLst/>
              <a:rect r="r" b="b" t="t" l="l"/>
              <a:pathLst>
                <a:path h="713127" w="3829155">
                  <a:moveTo>
                    <a:pt x="23076" y="0"/>
                  </a:moveTo>
                  <a:lnTo>
                    <a:pt x="3806079" y="0"/>
                  </a:lnTo>
                  <a:cubicBezTo>
                    <a:pt x="3818824" y="0"/>
                    <a:pt x="3829155" y="10331"/>
                    <a:pt x="3829155" y="23076"/>
                  </a:cubicBezTo>
                  <a:lnTo>
                    <a:pt x="3829155" y="690051"/>
                  </a:lnTo>
                  <a:cubicBezTo>
                    <a:pt x="3829155" y="696171"/>
                    <a:pt x="3826724" y="702040"/>
                    <a:pt x="3822396" y="706368"/>
                  </a:cubicBezTo>
                  <a:cubicBezTo>
                    <a:pt x="3818069" y="710696"/>
                    <a:pt x="3812199" y="713127"/>
                    <a:pt x="3806079" y="713127"/>
                  </a:cubicBezTo>
                  <a:lnTo>
                    <a:pt x="23076" y="713127"/>
                  </a:lnTo>
                  <a:cubicBezTo>
                    <a:pt x="10331" y="713127"/>
                    <a:pt x="0" y="702795"/>
                    <a:pt x="0" y="690051"/>
                  </a:cubicBezTo>
                  <a:lnTo>
                    <a:pt x="0" y="23076"/>
                  </a:lnTo>
                  <a:cubicBezTo>
                    <a:pt x="0" y="10331"/>
                    <a:pt x="10331" y="0"/>
                    <a:pt x="23076" y="0"/>
                  </a:cubicBezTo>
                  <a:close/>
                </a:path>
              </a:pathLst>
            </a:custGeom>
            <a:solidFill>
              <a:srgbClr val="FFA9DC"/>
            </a:solidFill>
          </p:spPr>
        </p:sp>
        <p:sp>
          <p:nvSpPr>
            <p:cNvPr name="TextBox 20" id="20"/>
            <p:cNvSpPr txBox="true"/>
            <p:nvPr/>
          </p:nvSpPr>
          <p:spPr>
            <a:xfrm>
              <a:off x="0" y="-66675"/>
              <a:ext cx="3829155" cy="779802"/>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0">
            <a:off x="940978" y="7102439"/>
            <a:ext cx="16248070" cy="2814671"/>
          </a:xfrm>
          <a:prstGeom prst="rect">
            <a:avLst/>
          </a:prstGeom>
        </p:spPr>
        <p:txBody>
          <a:bodyPr anchor="t" rtlCol="false" tIns="0" lIns="0" bIns="0" rIns="0">
            <a:spAutoFit/>
          </a:bodyPr>
          <a:lstStyle/>
          <a:p>
            <a:pPr algn="just">
              <a:lnSpc>
                <a:spcPts val="4460"/>
              </a:lnSpc>
            </a:pPr>
            <a:r>
              <a:rPr lang="en-US" b="true" sz="3186" spc="-178">
                <a:solidFill>
                  <a:srgbClr val="000000"/>
                </a:solidFill>
                <a:latin typeface="Poppins Bold"/>
                <a:ea typeface="Poppins Bold"/>
                <a:cs typeface="Poppins Bold"/>
                <a:sym typeface="Poppins Bold"/>
              </a:rPr>
              <a:t>User-Friendly:</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Clear verdicts</a:t>
            </a:r>
            <a:r>
              <a:rPr lang="en-US" sz="3186" spc="-178">
                <a:solidFill>
                  <a:srgbClr val="000000"/>
                </a:solidFill>
                <a:latin typeface="Poppins"/>
                <a:ea typeface="Poppins"/>
                <a:cs typeface="Poppins"/>
                <a:sym typeface="Poppins"/>
              </a:rPr>
              <a:t> (Original / Low / Moderate / High)</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Color-coded results</a:t>
            </a:r>
            <a:r>
              <a:rPr lang="en-US" sz="3186" spc="-178">
                <a:solidFill>
                  <a:srgbClr val="000000"/>
                </a:solidFill>
                <a:latin typeface="Poppins"/>
                <a:ea typeface="Poppins"/>
                <a:cs typeface="Poppins"/>
                <a:sym typeface="Poppins"/>
              </a:rPr>
              <a:t> for quick understanding</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Detail</a:t>
            </a:r>
            <a:r>
              <a:rPr lang="en-US" b="true" sz="3186" spc="-178">
                <a:solidFill>
                  <a:srgbClr val="000000"/>
                </a:solidFill>
                <a:latin typeface="Poppins Bold"/>
                <a:ea typeface="Poppins Bold"/>
                <a:cs typeface="Poppins Bold"/>
                <a:sym typeface="Poppins Bold"/>
              </a:rPr>
              <a:t>ed breakdown</a:t>
            </a:r>
            <a:r>
              <a:rPr lang="en-US" sz="3186" spc="-178">
                <a:solidFill>
                  <a:srgbClr val="000000"/>
                </a:solidFill>
                <a:latin typeface="Poppins"/>
                <a:ea typeface="Poppins"/>
                <a:cs typeface="Poppins"/>
                <a:sym typeface="Poppins"/>
              </a:rPr>
              <a:t> for technical understanding</a:t>
            </a:r>
          </a:p>
          <a:p>
            <a:pPr algn="just" marL="687893" indent="-343947" lvl="1">
              <a:lnSpc>
                <a:spcPts val="4460"/>
              </a:lnSpc>
              <a:buFont typeface="Arial"/>
              <a:buChar char="•"/>
            </a:pPr>
            <a:r>
              <a:rPr lang="en-US" b="true" sz="3186" spc="-178">
                <a:solidFill>
                  <a:srgbClr val="000000"/>
                </a:solidFill>
                <a:latin typeface="Poppins Bold"/>
                <a:ea typeface="Poppins Bold"/>
                <a:cs typeface="Poppins Bold"/>
                <a:sym typeface="Poppins Bold"/>
              </a:rPr>
              <a:t>A</a:t>
            </a:r>
            <a:r>
              <a:rPr lang="en-US" b="true" sz="3186" spc="-178">
                <a:solidFill>
                  <a:srgbClr val="000000"/>
                </a:solidFill>
                <a:latin typeface="Poppins Bold"/>
                <a:ea typeface="Poppins Bold"/>
                <a:cs typeface="Poppins Bold"/>
                <a:sym typeface="Poppins Bold"/>
              </a:rPr>
              <a:t>ctionable recommendations</a:t>
            </a:r>
            <a:r>
              <a:rPr lang="en-US" sz="3186" spc="-178">
                <a:solidFill>
                  <a:srgbClr val="000000"/>
                </a:solidFill>
                <a:latin typeface="Poppins"/>
                <a:ea typeface="Poppins"/>
                <a:cs typeface="Poppins"/>
                <a:sym typeface="Poppins"/>
              </a:rPr>
              <a:t> for next steps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454159" y="3411639"/>
            <a:ext cx="203751" cy="1863440"/>
            <a:chOff x="0" y="0"/>
            <a:chExt cx="53663" cy="490783"/>
          </a:xfrm>
        </p:grpSpPr>
        <p:sp>
          <p:nvSpPr>
            <p:cNvPr name="Freeform 3" id="3"/>
            <p:cNvSpPr/>
            <p:nvPr/>
          </p:nvSpPr>
          <p:spPr>
            <a:xfrm flipH="false" flipV="false" rot="0">
              <a:off x="0" y="0"/>
              <a:ext cx="53663" cy="490783"/>
            </a:xfrm>
            <a:custGeom>
              <a:avLst/>
              <a:gdLst/>
              <a:ahLst/>
              <a:cxnLst/>
              <a:rect r="r" b="b" t="t" l="l"/>
              <a:pathLst>
                <a:path h="490783" w="53663">
                  <a:moveTo>
                    <a:pt x="0" y="0"/>
                  </a:moveTo>
                  <a:lnTo>
                    <a:pt x="53663" y="0"/>
                  </a:lnTo>
                  <a:lnTo>
                    <a:pt x="53663" y="490783"/>
                  </a:lnTo>
                  <a:lnTo>
                    <a:pt x="0" y="490783"/>
                  </a:lnTo>
                  <a:close/>
                </a:path>
              </a:pathLst>
            </a:custGeom>
            <a:solidFill>
              <a:srgbClr val="7281FE"/>
            </a:solidFill>
          </p:spPr>
        </p:sp>
        <p:sp>
          <p:nvSpPr>
            <p:cNvPr name="TextBox 4" id="4"/>
            <p:cNvSpPr txBox="true"/>
            <p:nvPr/>
          </p:nvSpPr>
          <p:spPr>
            <a:xfrm>
              <a:off x="0" y="-66675"/>
              <a:ext cx="53663" cy="557458"/>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5553419" y="6719816"/>
            <a:ext cx="6713220" cy="7505700"/>
            <a:chOff x="0" y="0"/>
            <a:chExt cx="1768091" cy="1976810"/>
          </a:xfrm>
        </p:grpSpPr>
        <p:sp>
          <p:nvSpPr>
            <p:cNvPr name="Freeform 6" id="6"/>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7" id="7"/>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15190404" y="7275504"/>
            <a:ext cx="6950011" cy="69500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10" id="10"/>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7694080"/>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8400859"/>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806613" y="9107638"/>
            <a:ext cx="647546" cy="566602"/>
            <a:chOff x="0" y="0"/>
            <a:chExt cx="812800" cy="711200"/>
          </a:xfrm>
        </p:grpSpPr>
        <p:sp>
          <p:nvSpPr>
            <p:cNvPr name="Freeform 18" id="1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9" id="19"/>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sp>
        <p:nvSpPr>
          <p:cNvPr name="Freeform 20" id="20"/>
          <p:cNvSpPr/>
          <p:nvPr/>
        </p:nvSpPr>
        <p:spPr>
          <a:xfrm flipH="false" flipV="false" rot="0">
            <a:off x="8626978" y="6937611"/>
            <a:ext cx="2433673" cy="2433673"/>
          </a:xfrm>
          <a:custGeom>
            <a:avLst/>
            <a:gdLst/>
            <a:ahLst/>
            <a:cxnLst/>
            <a:rect r="r" b="b" t="t" l="l"/>
            <a:pathLst>
              <a:path h="2433673" w="2433673">
                <a:moveTo>
                  <a:pt x="0" y="0"/>
                </a:moveTo>
                <a:lnTo>
                  <a:pt x="2433673" y="0"/>
                </a:lnTo>
                <a:lnTo>
                  <a:pt x="2433673" y="2433674"/>
                </a:lnTo>
                <a:lnTo>
                  <a:pt x="0" y="24336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1864802" y="3262646"/>
            <a:ext cx="9649667" cy="2087132"/>
          </a:xfrm>
          <a:prstGeom prst="rect">
            <a:avLst/>
          </a:prstGeom>
        </p:spPr>
        <p:txBody>
          <a:bodyPr anchor="t" rtlCol="false" tIns="0" lIns="0" bIns="0" rIns="0">
            <a:spAutoFit/>
          </a:bodyPr>
          <a:lstStyle/>
          <a:p>
            <a:pPr algn="l" marL="0" indent="0" lvl="0">
              <a:lnSpc>
                <a:spcPts val="7859"/>
              </a:lnSpc>
              <a:spcBef>
                <a:spcPct val="0"/>
              </a:spcBef>
            </a:pPr>
            <a:r>
              <a:rPr lang="en-US" b="true" sz="7556" spc="-438">
                <a:solidFill>
                  <a:srgbClr val="000000"/>
                </a:solidFill>
                <a:latin typeface="Poppins Bold"/>
                <a:ea typeface="Poppins Bold"/>
                <a:cs typeface="Poppins Bold"/>
                <a:sym typeface="Poppins Bold"/>
              </a:rPr>
              <a:t>DATA COLLECTION &amp; MODEL DEVELOPMENT</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2838155"/>
            <a:ext cx="203751" cy="836307"/>
            <a:chOff x="0" y="0"/>
            <a:chExt cx="53663" cy="220262"/>
          </a:xfrm>
        </p:grpSpPr>
        <p:sp>
          <p:nvSpPr>
            <p:cNvPr name="Freeform 9" id="9"/>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0" id="10"/>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632753" y="4288248"/>
            <a:ext cx="17022494" cy="3198691"/>
            <a:chOff x="0" y="0"/>
            <a:chExt cx="6631238" cy="1246074"/>
          </a:xfrm>
        </p:grpSpPr>
        <p:sp>
          <p:nvSpPr>
            <p:cNvPr name="Freeform 12" id="12"/>
            <p:cNvSpPr/>
            <p:nvPr/>
          </p:nvSpPr>
          <p:spPr>
            <a:xfrm flipH="false" flipV="false" rot="0">
              <a:off x="0" y="0"/>
              <a:ext cx="6631238" cy="1246074"/>
            </a:xfrm>
            <a:custGeom>
              <a:avLst/>
              <a:gdLst/>
              <a:ahLst/>
              <a:cxnLst/>
              <a:rect r="r" b="b" t="t" l="l"/>
              <a:pathLst>
                <a:path h="1246074" w="6631238">
                  <a:moveTo>
                    <a:pt x="8641" y="0"/>
                  </a:moveTo>
                  <a:lnTo>
                    <a:pt x="6622597" y="0"/>
                  </a:lnTo>
                  <a:cubicBezTo>
                    <a:pt x="6624889" y="0"/>
                    <a:pt x="6627086" y="910"/>
                    <a:pt x="6628707" y="2531"/>
                  </a:cubicBezTo>
                  <a:cubicBezTo>
                    <a:pt x="6630327" y="4152"/>
                    <a:pt x="6631238" y="6349"/>
                    <a:pt x="6631238" y="8641"/>
                  </a:cubicBezTo>
                  <a:lnTo>
                    <a:pt x="6631238" y="1237432"/>
                  </a:lnTo>
                  <a:cubicBezTo>
                    <a:pt x="6631238" y="1239724"/>
                    <a:pt x="6630327" y="1241922"/>
                    <a:pt x="6628707" y="1243543"/>
                  </a:cubicBezTo>
                  <a:cubicBezTo>
                    <a:pt x="6627086" y="1245163"/>
                    <a:pt x="6624889" y="1246074"/>
                    <a:pt x="6622597" y="1246074"/>
                  </a:cubicBezTo>
                  <a:lnTo>
                    <a:pt x="8641" y="1246074"/>
                  </a:lnTo>
                  <a:cubicBezTo>
                    <a:pt x="6349" y="1246074"/>
                    <a:pt x="4152" y="1245163"/>
                    <a:pt x="2531" y="1243543"/>
                  </a:cubicBezTo>
                  <a:cubicBezTo>
                    <a:pt x="910" y="1241922"/>
                    <a:pt x="0" y="1239724"/>
                    <a:pt x="0" y="1237432"/>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13" id="13"/>
            <p:cNvSpPr txBox="true"/>
            <p:nvPr/>
          </p:nvSpPr>
          <p:spPr>
            <a:xfrm>
              <a:off x="0" y="-66675"/>
              <a:ext cx="6631238" cy="1312749"/>
            </a:xfrm>
            <a:prstGeom prst="rect">
              <a:avLst/>
            </a:prstGeom>
          </p:spPr>
          <p:txBody>
            <a:bodyPr anchor="ctr" rtlCol="false" tIns="50800" lIns="50800" bIns="50800" rIns="50800"/>
            <a:lstStyle/>
            <a:p>
              <a:pPr algn="ctr">
                <a:lnSpc>
                  <a:spcPts val="3359"/>
                </a:lnSpc>
              </a:pPr>
            </a:p>
          </p:txBody>
        </p:sp>
      </p:grpSp>
      <p:sp>
        <p:nvSpPr>
          <p:cNvPr name="TextBox 14" id="14"/>
          <p:cNvSpPr txBox="true"/>
          <p:nvPr/>
        </p:nvSpPr>
        <p:spPr>
          <a:xfrm rot="0">
            <a:off x="1047305" y="2828636"/>
            <a:ext cx="14742913" cy="883920"/>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DEVELOPMENT APPROACH</a:t>
            </a:r>
          </a:p>
        </p:txBody>
      </p:sp>
      <p:sp>
        <p:nvSpPr>
          <p:cNvPr name="TextBox 15" id="15"/>
          <p:cNvSpPr txBox="true"/>
          <p:nvPr/>
        </p:nvSpPr>
        <p:spPr>
          <a:xfrm rot="0">
            <a:off x="836504" y="4458791"/>
            <a:ext cx="16478508" cy="2832101"/>
          </a:xfrm>
          <a:prstGeom prst="rect">
            <a:avLst/>
          </a:prstGeom>
        </p:spPr>
        <p:txBody>
          <a:bodyPr anchor="t" rtlCol="false" tIns="0" lIns="0" bIns="0" rIns="0">
            <a:spAutoFit/>
          </a:bodyPr>
          <a:lstStyle/>
          <a:p>
            <a:pPr algn="just" marL="0" indent="0" lvl="0">
              <a:lnSpc>
                <a:spcPts val="5599"/>
              </a:lnSpc>
              <a:spcBef>
                <a:spcPct val="0"/>
              </a:spcBef>
            </a:pPr>
            <a:r>
              <a:rPr lang="en-US" sz="3999" spc="-223">
                <a:solidFill>
                  <a:srgbClr val="000000"/>
                </a:solidFill>
                <a:latin typeface="Poppins"/>
                <a:ea typeface="Poppins"/>
                <a:cs typeface="Poppins"/>
                <a:sym typeface="Poppins"/>
              </a:rPr>
              <a:t>4Real was developed using a </a:t>
            </a:r>
            <a:r>
              <a:rPr lang="en-US" b="true" sz="3999" spc="-223">
                <a:solidFill>
                  <a:srgbClr val="000000"/>
                </a:solidFill>
                <a:latin typeface="Poppins Bold"/>
                <a:ea typeface="Poppins Bold"/>
                <a:cs typeface="Poppins Bold"/>
                <a:sym typeface="Poppins Bold"/>
              </a:rPr>
              <a:t>pre-trained model integration approach</a:t>
            </a:r>
            <a:r>
              <a:rPr lang="en-US" sz="3999" spc="-223">
                <a:solidFill>
                  <a:srgbClr val="000000"/>
                </a:solidFill>
                <a:latin typeface="Poppins"/>
                <a:ea typeface="Poppins"/>
                <a:cs typeface="Poppins"/>
                <a:sym typeface="Poppins"/>
              </a:rPr>
              <a:t> rather than training custom models from scratch. This strategic decision allowed us to leverage state-of-the-art AI models while focusing our efforts on intelligent integration, optimiz</a:t>
            </a:r>
            <a:r>
              <a:rPr lang="en-US" sz="3999" spc="-223">
                <a:solidFill>
                  <a:srgbClr val="000000"/>
                </a:solidFill>
                <a:latin typeface="Poppins"/>
                <a:ea typeface="Poppins"/>
                <a:cs typeface="Poppins"/>
                <a:sym typeface="Poppins"/>
              </a:rPr>
              <a:t>a</a:t>
            </a:r>
            <a:r>
              <a:rPr lang="en-US" sz="3999" spc="-223">
                <a:solidFill>
                  <a:srgbClr val="000000"/>
                </a:solidFill>
                <a:latin typeface="Poppins"/>
                <a:ea typeface="Poppins"/>
                <a:cs typeface="Poppins"/>
                <a:sym typeface="Poppins"/>
              </a:rPr>
              <a:t>t</a:t>
            </a:r>
            <a:r>
              <a:rPr lang="en-US" sz="3999" spc="-223">
                <a:solidFill>
                  <a:srgbClr val="000000"/>
                </a:solidFill>
                <a:latin typeface="Poppins"/>
                <a:ea typeface="Poppins"/>
                <a:cs typeface="Poppins"/>
                <a:sym typeface="Poppins"/>
              </a:rPr>
              <a:t>i</a:t>
            </a:r>
            <a:r>
              <a:rPr lang="en-US" sz="3999" spc="-223">
                <a:solidFill>
                  <a:srgbClr val="000000"/>
                </a:solidFill>
                <a:latin typeface="Poppins"/>
                <a:ea typeface="Poppins"/>
                <a:cs typeface="Poppins"/>
                <a:sym typeface="Poppins"/>
              </a:rPr>
              <a:t>on,</a:t>
            </a:r>
            <a:r>
              <a:rPr lang="en-US" sz="3999" spc="-223">
                <a:solidFill>
                  <a:srgbClr val="000000"/>
                </a:solidFill>
                <a:latin typeface="Poppins"/>
                <a:ea typeface="Poppins"/>
                <a:cs typeface="Poppins"/>
                <a:sym typeface="Poppins"/>
              </a:rPr>
              <a:t> and </a:t>
            </a:r>
            <a:r>
              <a:rPr lang="en-US" sz="3999" spc="-223">
                <a:solidFill>
                  <a:srgbClr val="000000"/>
                </a:solidFill>
                <a:latin typeface="Poppins"/>
                <a:ea typeface="Poppins"/>
                <a:cs typeface="Poppins"/>
                <a:sym typeface="Poppins"/>
              </a:rPr>
              <a:t>u</a:t>
            </a:r>
            <a:r>
              <a:rPr lang="en-US" sz="3999" spc="-223">
                <a:solidFill>
                  <a:srgbClr val="000000"/>
                </a:solidFill>
                <a:latin typeface="Poppins"/>
                <a:ea typeface="Poppins"/>
                <a:cs typeface="Poppins"/>
                <a:sym typeface="Poppins"/>
              </a:rPr>
              <a:t>s</a:t>
            </a:r>
            <a:r>
              <a:rPr lang="en-US" sz="3999" spc="-223">
                <a:solidFill>
                  <a:srgbClr val="000000"/>
                </a:solidFill>
                <a:latin typeface="Poppins"/>
                <a:ea typeface="Poppins"/>
                <a:cs typeface="Poppins"/>
                <a:sym typeface="Poppins"/>
              </a:rPr>
              <a:t>er</a:t>
            </a:r>
            <a:r>
              <a:rPr lang="en-US" sz="3999" spc="-223">
                <a:solidFill>
                  <a:srgbClr val="000000"/>
                </a:solidFill>
                <a:latin typeface="Poppins"/>
                <a:ea typeface="Poppins"/>
                <a:cs typeface="Poppins"/>
                <a:sym typeface="Poppins"/>
              </a:rPr>
              <a:t> e</a:t>
            </a:r>
            <a:r>
              <a:rPr lang="en-US" sz="3999" spc="-223">
                <a:solidFill>
                  <a:srgbClr val="000000"/>
                </a:solidFill>
                <a:latin typeface="Poppins"/>
                <a:ea typeface="Poppins"/>
                <a:cs typeface="Poppins"/>
                <a:sym typeface="Poppins"/>
              </a:rPr>
              <a:t>xper</a:t>
            </a:r>
            <a:r>
              <a:rPr lang="en-US" sz="3999" spc="-223">
                <a:solidFill>
                  <a:srgbClr val="000000"/>
                </a:solidFill>
                <a:latin typeface="Poppins"/>
                <a:ea typeface="Poppins"/>
                <a:cs typeface="Poppins"/>
                <a:sym typeface="Poppins"/>
              </a:rPr>
              <a:t>i</a:t>
            </a:r>
            <a:r>
              <a:rPr lang="en-US" sz="3999" spc="-223">
                <a:solidFill>
                  <a:srgbClr val="000000"/>
                </a:solidFill>
                <a:latin typeface="Poppins"/>
                <a:ea typeface="Poppins"/>
                <a:cs typeface="Poppins"/>
                <a:sym typeface="Poppins"/>
              </a:rPr>
              <a:t>e</a:t>
            </a:r>
            <a:r>
              <a:rPr lang="en-US" sz="3999" spc="-223">
                <a:solidFill>
                  <a:srgbClr val="000000"/>
                </a:solidFill>
                <a:latin typeface="Poppins"/>
                <a:ea typeface="Poppins"/>
                <a:cs typeface="Poppins"/>
                <a:sym typeface="Poppins"/>
              </a:rPr>
              <a:t>n</a:t>
            </a:r>
            <a:r>
              <a:rPr lang="en-US" sz="3999" spc="-223">
                <a:solidFill>
                  <a:srgbClr val="000000"/>
                </a:solidFill>
                <a:latin typeface="Poppins"/>
                <a:ea typeface="Poppins"/>
                <a:cs typeface="Poppins"/>
                <a:sym typeface="Poppins"/>
              </a:rPr>
              <a:t>ce.</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632753" y="610546"/>
            <a:ext cx="203751" cy="836307"/>
            <a:chOff x="0" y="0"/>
            <a:chExt cx="53663" cy="220262"/>
          </a:xfrm>
        </p:grpSpPr>
        <p:sp>
          <p:nvSpPr>
            <p:cNvPr name="Freeform 6" id="6"/>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7" id="7"/>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047305" y="601028"/>
            <a:ext cx="15858393" cy="883920"/>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PART 1: MODEL SELECTION &amp; DATA SOURCES</a:t>
            </a:r>
          </a:p>
        </p:txBody>
      </p:sp>
      <p:grpSp>
        <p:nvGrpSpPr>
          <p:cNvPr name="Group 9" id="9"/>
          <p:cNvGrpSpPr/>
          <p:nvPr/>
        </p:nvGrpSpPr>
        <p:grpSpPr>
          <a:xfrm rot="0">
            <a:off x="632753" y="1730323"/>
            <a:ext cx="196639" cy="807114"/>
            <a:chOff x="0" y="0"/>
            <a:chExt cx="53663" cy="220262"/>
          </a:xfrm>
        </p:grpSpPr>
        <p:sp>
          <p:nvSpPr>
            <p:cNvPr name="Freeform 10" id="10"/>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1" id="11"/>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sp>
        <p:nvSpPr>
          <p:cNvPr name="TextBox 12" id="12"/>
          <p:cNvSpPr txBox="true"/>
          <p:nvPr/>
        </p:nvSpPr>
        <p:spPr>
          <a:xfrm rot="0">
            <a:off x="1028700" y="1816903"/>
            <a:ext cx="15304816" cy="720533"/>
          </a:xfrm>
          <a:prstGeom prst="rect">
            <a:avLst/>
          </a:prstGeom>
        </p:spPr>
        <p:txBody>
          <a:bodyPr anchor="t" rtlCol="false" tIns="0" lIns="0" bIns="0" rIns="0">
            <a:spAutoFit/>
          </a:bodyPr>
          <a:lstStyle/>
          <a:p>
            <a:pPr algn="l" marL="0" indent="0" lvl="0">
              <a:lnSpc>
                <a:spcPts val="5190"/>
              </a:lnSpc>
              <a:spcBef>
                <a:spcPct val="0"/>
              </a:spcBef>
            </a:pPr>
            <a:r>
              <a:rPr lang="en-US" b="true" sz="4990" spc="-289">
                <a:solidFill>
                  <a:srgbClr val="000000"/>
                </a:solidFill>
                <a:latin typeface="Poppins Bold"/>
                <a:ea typeface="Poppins Bold"/>
                <a:cs typeface="Poppins Bold"/>
                <a:sym typeface="Poppins Bold"/>
              </a:rPr>
              <a:t>MODELS &amp; LIBRARIES USED</a:t>
            </a:r>
          </a:p>
        </p:txBody>
      </p:sp>
      <p:grpSp>
        <p:nvGrpSpPr>
          <p:cNvPr name="Group 13" id="13"/>
          <p:cNvGrpSpPr/>
          <p:nvPr/>
        </p:nvGrpSpPr>
        <p:grpSpPr>
          <a:xfrm rot="0">
            <a:off x="632753" y="2870812"/>
            <a:ext cx="5384733" cy="6970428"/>
            <a:chOff x="0" y="0"/>
            <a:chExt cx="1418201" cy="1835833"/>
          </a:xfrm>
        </p:grpSpPr>
        <p:sp>
          <p:nvSpPr>
            <p:cNvPr name="Freeform 14" id="14"/>
            <p:cNvSpPr/>
            <p:nvPr/>
          </p:nvSpPr>
          <p:spPr>
            <a:xfrm flipH="false" flipV="false" rot="0">
              <a:off x="0" y="0"/>
              <a:ext cx="1418201" cy="1835833"/>
            </a:xfrm>
            <a:custGeom>
              <a:avLst/>
              <a:gdLst/>
              <a:ahLst/>
              <a:cxnLst/>
              <a:rect r="r" b="b" t="t" l="l"/>
              <a:pathLst>
                <a:path h="1835833" w="1418201">
                  <a:moveTo>
                    <a:pt x="73325" y="0"/>
                  </a:moveTo>
                  <a:lnTo>
                    <a:pt x="1344876" y="0"/>
                  </a:lnTo>
                  <a:cubicBezTo>
                    <a:pt x="1364323" y="0"/>
                    <a:pt x="1382974" y="7725"/>
                    <a:pt x="1396725" y="21477"/>
                  </a:cubicBezTo>
                  <a:cubicBezTo>
                    <a:pt x="1410476" y="35228"/>
                    <a:pt x="1418201" y="53878"/>
                    <a:pt x="1418201" y="73325"/>
                  </a:cubicBezTo>
                  <a:lnTo>
                    <a:pt x="1418201" y="1762508"/>
                  </a:lnTo>
                  <a:cubicBezTo>
                    <a:pt x="1418201" y="1803004"/>
                    <a:pt x="1385372" y="1835833"/>
                    <a:pt x="1344876" y="1835833"/>
                  </a:cubicBezTo>
                  <a:lnTo>
                    <a:pt x="73325" y="1835833"/>
                  </a:lnTo>
                  <a:cubicBezTo>
                    <a:pt x="53878" y="1835833"/>
                    <a:pt x="35228" y="1828108"/>
                    <a:pt x="21477" y="1814356"/>
                  </a:cubicBezTo>
                  <a:cubicBezTo>
                    <a:pt x="7725" y="1800605"/>
                    <a:pt x="0" y="1781955"/>
                    <a:pt x="0" y="1762508"/>
                  </a:cubicBezTo>
                  <a:lnTo>
                    <a:pt x="0" y="73325"/>
                  </a:lnTo>
                  <a:cubicBezTo>
                    <a:pt x="0" y="53878"/>
                    <a:pt x="7725" y="35228"/>
                    <a:pt x="21477" y="21477"/>
                  </a:cubicBezTo>
                  <a:cubicBezTo>
                    <a:pt x="35228" y="7725"/>
                    <a:pt x="53878" y="0"/>
                    <a:pt x="73325" y="0"/>
                  </a:cubicBezTo>
                  <a:close/>
                </a:path>
              </a:pathLst>
            </a:custGeom>
            <a:solidFill>
              <a:srgbClr val="7281FE"/>
            </a:solidFill>
          </p:spPr>
        </p:sp>
        <p:sp>
          <p:nvSpPr>
            <p:cNvPr name="TextBox 15" id="15"/>
            <p:cNvSpPr txBox="true"/>
            <p:nvPr/>
          </p:nvSpPr>
          <p:spPr>
            <a:xfrm>
              <a:off x="0" y="-66675"/>
              <a:ext cx="1418201" cy="1902508"/>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6480535" y="2870812"/>
            <a:ext cx="5384733" cy="6970428"/>
            <a:chOff x="0" y="0"/>
            <a:chExt cx="1418201" cy="1835833"/>
          </a:xfrm>
        </p:grpSpPr>
        <p:sp>
          <p:nvSpPr>
            <p:cNvPr name="Freeform 17" id="17"/>
            <p:cNvSpPr/>
            <p:nvPr/>
          </p:nvSpPr>
          <p:spPr>
            <a:xfrm flipH="false" flipV="false" rot="0">
              <a:off x="0" y="0"/>
              <a:ext cx="1418201" cy="1835833"/>
            </a:xfrm>
            <a:custGeom>
              <a:avLst/>
              <a:gdLst/>
              <a:ahLst/>
              <a:cxnLst/>
              <a:rect r="r" b="b" t="t" l="l"/>
              <a:pathLst>
                <a:path h="1835833" w="1418201">
                  <a:moveTo>
                    <a:pt x="73325" y="0"/>
                  </a:moveTo>
                  <a:lnTo>
                    <a:pt x="1344876" y="0"/>
                  </a:lnTo>
                  <a:cubicBezTo>
                    <a:pt x="1364323" y="0"/>
                    <a:pt x="1382974" y="7725"/>
                    <a:pt x="1396725" y="21477"/>
                  </a:cubicBezTo>
                  <a:cubicBezTo>
                    <a:pt x="1410476" y="35228"/>
                    <a:pt x="1418201" y="53878"/>
                    <a:pt x="1418201" y="73325"/>
                  </a:cubicBezTo>
                  <a:lnTo>
                    <a:pt x="1418201" y="1762508"/>
                  </a:lnTo>
                  <a:cubicBezTo>
                    <a:pt x="1418201" y="1803004"/>
                    <a:pt x="1385372" y="1835833"/>
                    <a:pt x="1344876" y="1835833"/>
                  </a:cubicBezTo>
                  <a:lnTo>
                    <a:pt x="73325" y="1835833"/>
                  </a:lnTo>
                  <a:cubicBezTo>
                    <a:pt x="53878" y="1835833"/>
                    <a:pt x="35228" y="1828108"/>
                    <a:pt x="21477" y="1814356"/>
                  </a:cubicBezTo>
                  <a:cubicBezTo>
                    <a:pt x="7725" y="1800605"/>
                    <a:pt x="0" y="1781955"/>
                    <a:pt x="0" y="1762508"/>
                  </a:cubicBezTo>
                  <a:lnTo>
                    <a:pt x="0" y="73325"/>
                  </a:lnTo>
                  <a:cubicBezTo>
                    <a:pt x="0" y="53878"/>
                    <a:pt x="7725" y="35228"/>
                    <a:pt x="21477" y="21477"/>
                  </a:cubicBezTo>
                  <a:cubicBezTo>
                    <a:pt x="35228" y="7725"/>
                    <a:pt x="53878" y="0"/>
                    <a:pt x="73325" y="0"/>
                  </a:cubicBezTo>
                  <a:close/>
                </a:path>
              </a:pathLst>
            </a:custGeom>
            <a:solidFill>
              <a:srgbClr val="FEB389"/>
            </a:solidFill>
          </p:spPr>
        </p:sp>
        <p:sp>
          <p:nvSpPr>
            <p:cNvPr name="TextBox 18" id="18"/>
            <p:cNvSpPr txBox="true"/>
            <p:nvPr/>
          </p:nvSpPr>
          <p:spPr>
            <a:xfrm>
              <a:off x="0" y="-66675"/>
              <a:ext cx="1418201" cy="1902508"/>
            </a:xfrm>
            <a:prstGeom prst="rect">
              <a:avLst/>
            </a:prstGeom>
          </p:spPr>
          <p:txBody>
            <a:bodyPr anchor="ctr" rtlCol="false" tIns="50800" lIns="50800" bIns="50800" rIns="50800"/>
            <a:lstStyle/>
            <a:p>
              <a:pPr algn="ctr">
                <a:lnSpc>
                  <a:spcPts val="2800"/>
                </a:lnSpc>
              </a:pPr>
            </a:p>
          </p:txBody>
        </p:sp>
      </p:grpSp>
      <p:grpSp>
        <p:nvGrpSpPr>
          <p:cNvPr name="Group 19" id="19"/>
          <p:cNvGrpSpPr/>
          <p:nvPr/>
        </p:nvGrpSpPr>
        <p:grpSpPr>
          <a:xfrm rot="0">
            <a:off x="12326380" y="2870812"/>
            <a:ext cx="5384733" cy="6970428"/>
            <a:chOff x="0" y="0"/>
            <a:chExt cx="1418201" cy="1835833"/>
          </a:xfrm>
        </p:grpSpPr>
        <p:sp>
          <p:nvSpPr>
            <p:cNvPr name="Freeform 20" id="20"/>
            <p:cNvSpPr/>
            <p:nvPr/>
          </p:nvSpPr>
          <p:spPr>
            <a:xfrm flipH="false" flipV="false" rot="0">
              <a:off x="0" y="0"/>
              <a:ext cx="1418201" cy="1835833"/>
            </a:xfrm>
            <a:custGeom>
              <a:avLst/>
              <a:gdLst/>
              <a:ahLst/>
              <a:cxnLst/>
              <a:rect r="r" b="b" t="t" l="l"/>
              <a:pathLst>
                <a:path h="1835833" w="1418201">
                  <a:moveTo>
                    <a:pt x="73325" y="0"/>
                  </a:moveTo>
                  <a:lnTo>
                    <a:pt x="1344876" y="0"/>
                  </a:lnTo>
                  <a:cubicBezTo>
                    <a:pt x="1364323" y="0"/>
                    <a:pt x="1382974" y="7725"/>
                    <a:pt x="1396725" y="21477"/>
                  </a:cubicBezTo>
                  <a:cubicBezTo>
                    <a:pt x="1410476" y="35228"/>
                    <a:pt x="1418201" y="53878"/>
                    <a:pt x="1418201" y="73325"/>
                  </a:cubicBezTo>
                  <a:lnTo>
                    <a:pt x="1418201" y="1762508"/>
                  </a:lnTo>
                  <a:cubicBezTo>
                    <a:pt x="1418201" y="1803004"/>
                    <a:pt x="1385372" y="1835833"/>
                    <a:pt x="1344876" y="1835833"/>
                  </a:cubicBezTo>
                  <a:lnTo>
                    <a:pt x="73325" y="1835833"/>
                  </a:lnTo>
                  <a:cubicBezTo>
                    <a:pt x="53878" y="1835833"/>
                    <a:pt x="35228" y="1828108"/>
                    <a:pt x="21477" y="1814356"/>
                  </a:cubicBezTo>
                  <a:cubicBezTo>
                    <a:pt x="7725" y="1800605"/>
                    <a:pt x="0" y="1781955"/>
                    <a:pt x="0" y="1762508"/>
                  </a:cubicBezTo>
                  <a:lnTo>
                    <a:pt x="0" y="73325"/>
                  </a:lnTo>
                  <a:cubicBezTo>
                    <a:pt x="0" y="53878"/>
                    <a:pt x="7725" y="35228"/>
                    <a:pt x="21477" y="21477"/>
                  </a:cubicBezTo>
                  <a:cubicBezTo>
                    <a:pt x="35228" y="7725"/>
                    <a:pt x="53878" y="0"/>
                    <a:pt x="73325" y="0"/>
                  </a:cubicBezTo>
                  <a:close/>
                </a:path>
              </a:pathLst>
            </a:custGeom>
            <a:solidFill>
              <a:srgbClr val="FFA9DC"/>
            </a:solidFill>
          </p:spPr>
        </p:sp>
        <p:sp>
          <p:nvSpPr>
            <p:cNvPr name="TextBox 21" id="21"/>
            <p:cNvSpPr txBox="true"/>
            <p:nvPr/>
          </p:nvSpPr>
          <p:spPr>
            <a:xfrm>
              <a:off x="0" y="-66675"/>
              <a:ext cx="1418201" cy="1902508"/>
            </a:xfrm>
            <a:prstGeom prst="rect">
              <a:avLst/>
            </a:prstGeom>
          </p:spPr>
          <p:txBody>
            <a:bodyPr anchor="ctr" rtlCol="false" tIns="50800" lIns="50800" bIns="50800" rIns="50800"/>
            <a:lstStyle/>
            <a:p>
              <a:pPr algn="ctr">
                <a:lnSpc>
                  <a:spcPts val="2800"/>
                </a:lnSpc>
              </a:pPr>
            </a:p>
          </p:txBody>
        </p:sp>
      </p:grpSp>
      <p:sp>
        <p:nvSpPr>
          <p:cNvPr name="TextBox 22" id="22"/>
          <p:cNvSpPr txBox="true"/>
          <p:nvPr/>
        </p:nvSpPr>
        <p:spPr>
          <a:xfrm rot="0">
            <a:off x="836504" y="2976416"/>
            <a:ext cx="4833033" cy="6694170"/>
          </a:xfrm>
          <a:prstGeom prst="rect">
            <a:avLst/>
          </a:prstGeom>
        </p:spPr>
        <p:txBody>
          <a:bodyPr anchor="t" rtlCol="false" tIns="0" lIns="0" bIns="0" rIns="0">
            <a:spAutoFit/>
          </a:bodyPr>
          <a:lstStyle/>
          <a:p>
            <a:pPr algn="ctr">
              <a:lnSpc>
                <a:spcPts val="4269"/>
              </a:lnSpc>
            </a:pPr>
            <a:r>
              <a:rPr lang="en-US" b="true" sz="3049" spc="-170">
                <a:solidFill>
                  <a:srgbClr val="000000"/>
                </a:solidFill>
                <a:latin typeface="Poppins Bold"/>
                <a:ea typeface="Poppins Bold"/>
                <a:cs typeface="Poppins Bold"/>
                <a:sym typeface="Poppins Bold"/>
              </a:rPr>
              <a:t>TF-IDF</a:t>
            </a:r>
          </a:p>
          <a:p>
            <a:pPr algn="l" marL="507364" indent="-253682" lvl="1">
              <a:lnSpc>
                <a:spcPts val="3289"/>
              </a:lnSpc>
              <a:buFont typeface="Arial"/>
              <a:buChar char="•"/>
            </a:pPr>
            <a:r>
              <a:rPr lang="en-US" b="true" sz="2349" spc="-131">
                <a:solidFill>
                  <a:srgbClr val="000000"/>
                </a:solidFill>
                <a:latin typeface="Poppins Bold"/>
                <a:ea typeface="Poppins Bold"/>
                <a:cs typeface="Poppins Bold"/>
                <a:sym typeface="Poppins Bold"/>
              </a:rPr>
              <a:t>Source:</a:t>
            </a:r>
            <a:r>
              <a:rPr lang="en-US" sz="2349" spc="-131">
                <a:solidFill>
                  <a:srgbClr val="000000"/>
                </a:solidFill>
                <a:latin typeface="Poppins"/>
                <a:ea typeface="Poppins"/>
                <a:cs typeface="Poppins"/>
                <a:sym typeface="Poppins"/>
              </a:rPr>
              <a:t> Scikit-learn library (Python)</a:t>
            </a:r>
          </a:p>
          <a:p>
            <a:pPr algn="l" marL="507364" indent="-253682" lvl="1">
              <a:lnSpc>
                <a:spcPts val="3289"/>
              </a:lnSpc>
              <a:buFont typeface="Arial"/>
              <a:buChar char="•"/>
            </a:pPr>
            <a:r>
              <a:rPr lang="en-US" b="true" sz="2349" spc="-131">
                <a:solidFill>
                  <a:srgbClr val="000000"/>
                </a:solidFill>
                <a:latin typeface="Poppins Bold"/>
                <a:ea typeface="Poppins Bold"/>
                <a:cs typeface="Poppins Bold"/>
                <a:sym typeface="Poppins Bold"/>
              </a:rPr>
              <a:t>Data Required:</a:t>
            </a:r>
            <a:r>
              <a:rPr lang="en-US" sz="2349" spc="-131">
                <a:solidFill>
                  <a:srgbClr val="000000"/>
                </a:solidFill>
                <a:latin typeface="Poppins"/>
                <a:ea typeface="Poppins"/>
                <a:cs typeface="Poppins"/>
                <a:sym typeface="Poppins"/>
              </a:rPr>
              <a:t> No training data needed</a:t>
            </a:r>
          </a:p>
          <a:p>
            <a:pPr algn="l" marL="507364" indent="-253682" lvl="1">
              <a:lnSpc>
                <a:spcPts val="3289"/>
              </a:lnSpc>
              <a:buFont typeface="Arial"/>
              <a:buChar char="•"/>
            </a:pPr>
            <a:r>
              <a:rPr lang="en-US" b="true" sz="2349" spc="-131">
                <a:solidFill>
                  <a:srgbClr val="000000"/>
                </a:solidFill>
                <a:latin typeface="Poppins Bold"/>
                <a:ea typeface="Poppins Bold"/>
                <a:cs typeface="Poppins Bold"/>
                <a:sym typeface="Poppins Bold"/>
              </a:rPr>
              <a:t>How It Works:</a:t>
            </a:r>
            <a:r>
              <a:rPr lang="en-US" sz="2349" spc="-131">
                <a:solidFill>
                  <a:srgbClr val="000000"/>
                </a:solidFill>
                <a:latin typeface="Poppins"/>
                <a:ea typeface="Poppins"/>
                <a:cs typeface="Poppins"/>
                <a:sym typeface="Poppins"/>
              </a:rPr>
              <a:t> Feature extraction algorithm that extracts word importance directly from input text</a:t>
            </a:r>
          </a:p>
          <a:p>
            <a:pPr algn="l" marL="507364" indent="-253682" lvl="1">
              <a:lnSpc>
                <a:spcPts val="3289"/>
              </a:lnSpc>
              <a:buFont typeface="Arial"/>
              <a:buChar char="•"/>
            </a:pPr>
            <a:r>
              <a:rPr lang="en-US" b="true" sz="2349" spc="-131">
                <a:solidFill>
                  <a:srgbClr val="000000"/>
                </a:solidFill>
                <a:latin typeface="Poppins Bold"/>
                <a:ea typeface="Poppins Bold"/>
                <a:cs typeface="Poppins Bold"/>
                <a:sym typeface="Poppins Bold"/>
              </a:rPr>
              <a:t>Deployment:</a:t>
            </a:r>
            <a:r>
              <a:rPr lang="en-US" sz="2349" spc="-131">
                <a:solidFill>
                  <a:srgbClr val="000000"/>
                </a:solidFill>
                <a:latin typeface="Poppins"/>
                <a:ea typeface="Poppins"/>
                <a:cs typeface="Poppins"/>
                <a:sym typeface="Poppins"/>
              </a:rPr>
              <a:t> Ready-to-use, direct application to any text input</a:t>
            </a:r>
          </a:p>
          <a:p>
            <a:pPr algn="l" marL="507364" indent="-253682" lvl="1">
              <a:lnSpc>
                <a:spcPts val="3289"/>
              </a:lnSpc>
              <a:buFont typeface="Arial"/>
              <a:buChar char="•"/>
            </a:pPr>
            <a:r>
              <a:rPr lang="en-US" b="true" sz="2349" spc="-131">
                <a:solidFill>
                  <a:srgbClr val="000000"/>
                </a:solidFill>
                <a:latin typeface="Poppins Bold"/>
                <a:ea typeface="Poppins Bold"/>
                <a:cs typeface="Poppins Bold"/>
                <a:sym typeface="Poppins Bold"/>
              </a:rPr>
              <a:t>Why Chosen</a:t>
            </a:r>
            <a:r>
              <a:rPr lang="en-US" sz="2349" spc="-131">
                <a:solidFill>
                  <a:srgbClr val="000000"/>
                </a:solidFill>
                <a:latin typeface="Poppins"/>
                <a:ea typeface="Poppins"/>
                <a:cs typeface="Poppins"/>
                <a:sym typeface="Poppins"/>
              </a:rPr>
              <a:t>: Fast, interpretable baseline for plagiarism detection with high precision for direct matches</a:t>
            </a:r>
          </a:p>
        </p:txBody>
      </p:sp>
      <p:sp>
        <p:nvSpPr>
          <p:cNvPr name="TextBox 23" id="23"/>
          <p:cNvSpPr txBox="true"/>
          <p:nvPr/>
        </p:nvSpPr>
        <p:spPr>
          <a:xfrm rot="0">
            <a:off x="6727483" y="2966078"/>
            <a:ext cx="4833033" cy="6707505"/>
          </a:xfrm>
          <a:prstGeom prst="rect">
            <a:avLst/>
          </a:prstGeom>
        </p:spPr>
        <p:txBody>
          <a:bodyPr anchor="t" rtlCol="false" tIns="0" lIns="0" bIns="0" rIns="0">
            <a:spAutoFit/>
          </a:bodyPr>
          <a:lstStyle/>
          <a:p>
            <a:pPr algn="ctr">
              <a:lnSpc>
                <a:spcPts val="4269"/>
              </a:lnSpc>
            </a:pPr>
            <a:r>
              <a:rPr lang="en-US" b="true" sz="3049" spc="-170">
                <a:solidFill>
                  <a:srgbClr val="000000"/>
                </a:solidFill>
                <a:latin typeface="Poppins Bold"/>
                <a:ea typeface="Poppins Bold"/>
                <a:cs typeface="Poppins Bold"/>
                <a:sym typeface="Poppins Bold"/>
              </a:rPr>
              <a:t>BERT</a:t>
            </a:r>
          </a:p>
          <a:p>
            <a:pPr algn="l" marL="442596" indent="-221298" lvl="1">
              <a:lnSpc>
                <a:spcPts val="2870"/>
              </a:lnSpc>
              <a:buFont typeface="Arial"/>
              <a:buChar char="•"/>
            </a:pPr>
            <a:r>
              <a:rPr lang="en-US" b="true" sz="2050" spc="-114">
                <a:solidFill>
                  <a:srgbClr val="000000"/>
                </a:solidFill>
                <a:latin typeface="Poppins Bold"/>
                <a:ea typeface="Poppins Bold"/>
                <a:cs typeface="Poppins Bold"/>
                <a:sym typeface="Poppins Bold"/>
              </a:rPr>
              <a:t>M</a:t>
            </a:r>
            <a:r>
              <a:rPr lang="en-US" b="true" sz="2050" spc="-114">
                <a:solidFill>
                  <a:srgbClr val="000000"/>
                </a:solidFill>
                <a:latin typeface="Poppins Bold"/>
                <a:ea typeface="Poppins Bold"/>
                <a:cs typeface="Poppins Bold"/>
                <a:sym typeface="Poppins Bold"/>
              </a:rPr>
              <a:t>odel Name:</a:t>
            </a:r>
            <a:r>
              <a:rPr lang="en-US" sz="2050" spc="-114">
                <a:solidFill>
                  <a:srgbClr val="000000"/>
                </a:solidFill>
                <a:latin typeface="Poppins"/>
                <a:ea typeface="Poppins"/>
                <a:cs typeface="Poppins"/>
                <a:sym typeface="Poppins"/>
              </a:rPr>
              <a:t> all-MiniLM-L6-v2</a:t>
            </a:r>
          </a:p>
          <a:p>
            <a:pPr algn="l" marL="442596" indent="-221298" lvl="1">
              <a:lnSpc>
                <a:spcPts val="2870"/>
              </a:lnSpc>
              <a:buFont typeface="Arial"/>
              <a:buChar char="•"/>
            </a:pPr>
            <a:r>
              <a:rPr lang="en-US" b="true" sz="2050" spc="-114">
                <a:solidFill>
                  <a:srgbClr val="000000"/>
                </a:solidFill>
                <a:latin typeface="Poppins Bold"/>
                <a:ea typeface="Poppins Bold"/>
                <a:cs typeface="Poppins Bold"/>
                <a:sym typeface="Poppins Bold"/>
              </a:rPr>
              <a:t>Pre-trained By:</a:t>
            </a:r>
            <a:r>
              <a:rPr lang="en-US" sz="2050" spc="-114">
                <a:solidFill>
                  <a:srgbClr val="000000"/>
                </a:solidFill>
                <a:latin typeface="Poppins"/>
                <a:ea typeface="Poppins"/>
                <a:cs typeface="Poppins"/>
                <a:sym typeface="Poppins"/>
              </a:rPr>
              <a:t> Sentence-Transformers (based on Google's BERT architecture)</a:t>
            </a:r>
          </a:p>
          <a:p>
            <a:pPr algn="l" marL="442596" indent="-221298" lvl="1">
              <a:lnSpc>
                <a:spcPts val="2870"/>
              </a:lnSpc>
              <a:buFont typeface="Arial"/>
              <a:buChar char="•"/>
            </a:pPr>
            <a:r>
              <a:rPr lang="en-US" b="true" sz="2050" spc="-114">
                <a:solidFill>
                  <a:srgbClr val="000000"/>
                </a:solidFill>
                <a:latin typeface="Poppins Bold"/>
                <a:ea typeface="Poppins Bold"/>
                <a:cs typeface="Poppins Bold"/>
                <a:sym typeface="Poppins Bold"/>
              </a:rPr>
              <a:t>Training Data: </a:t>
            </a:r>
            <a:r>
              <a:rPr lang="en-US" sz="2050" spc="-114">
                <a:solidFill>
                  <a:srgbClr val="000000"/>
                </a:solidFill>
                <a:latin typeface="Poppins"/>
                <a:ea typeface="Poppins"/>
                <a:cs typeface="Poppins"/>
                <a:sym typeface="Poppins"/>
              </a:rPr>
              <a:t>Pre-trained on massive corpus of English text (books, articles, web content)</a:t>
            </a:r>
          </a:p>
          <a:p>
            <a:pPr algn="l" marL="442596" indent="-221298" lvl="1">
              <a:lnSpc>
                <a:spcPts val="2870"/>
              </a:lnSpc>
              <a:buFont typeface="Arial"/>
              <a:buChar char="•"/>
            </a:pPr>
            <a:r>
              <a:rPr lang="en-US" b="true" sz="2050" spc="-114">
                <a:solidFill>
                  <a:srgbClr val="000000"/>
                </a:solidFill>
                <a:latin typeface="Poppins Bold"/>
                <a:ea typeface="Poppins Bold"/>
                <a:cs typeface="Poppins Bold"/>
                <a:sym typeface="Poppins Bold"/>
              </a:rPr>
              <a:t>Source Library: </a:t>
            </a:r>
            <a:r>
              <a:rPr lang="en-US" sz="2050" spc="-114">
                <a:solidFill>
                  <a:srgbClr val="000000"/>
                </a:solidFill>
                <a:latin typeface="Poppins"/>
                <a:ea typeface="Poppins"/>
                <a:cs typeface="Poppins"/>
                <a:sym typeface="Poppins"/>
              </a:rPr>
              <a:t>sentence-transformers package</a:t>
            </a:r>
          </a:p>
          <a:p>
            <a:pPr algn="l" marL="442596" indent="-221298" lvl="1">
              <a:lnSpc>
                <a:spcPts val="2870"/>
              </a:lnSpc>
              <a:buFont typeface="Arial"/>
              <a:buChar char="•"/>
            </a:pPr>
            <a:r>
              <a:rPr lang="en-US" b="true" sz="2050" spc="-114">
                <a:solidFill>
                  <a:srgbClr val="000000"/>
                </a:solidFill>
                <a:latin typeface="Poppins Bold"/>
                <a:ea typeface="Poppins Bold"/>
                <a:cs typeface="Poppins Bold"/>
                <a:sym typeface="Poppins Bold"/>
              </a:rPr>
              <a:t>Why Chosen:</a:t>
            </a:r>
            <a:r>
              <a:rPr lang="en-US" sz="2050" spc="-114">
                <a:solidFill>
                  <a:srgbClr val="000000"/>
                </a:solidFill>
                <a:latin typeface="Poppins"/>
                <a:ea typeface="Poppins"/>
                <a:cs typeface="Poppins"/>
                <a:sym typeface="Poppins"/>
              </a:rPr>
              <a:t> Captures semantic meaning beyond word frequency, enabling paraphrasing detection</a:t>
            </a:r>
          </a:p>
          <a:p>
            <a:pPr algn="l" marL="442596" indent="-221298" lvl="1">
              <a:lnSpc>
                <a:spcPts val="2870"/>
              </a:lnSpc>
              <a:buFont typeface="Arial"/>
              <a:buChar char="•"/>
            </a:pPr>
            <a:r>
              <a:rPr lang="en-US" b="true" sz="2050" spc="-114">
                <a:solidFill>
                  <a:srgbClr val="000000"/>
                </a:solidFill>
                <a:latin typeface="Poppins Bold"/>
                <a:ea typeface="Poppins Bold"/>
                <a:cs typeface="Poppins Bold"/>
                <a:sym typeface="Poppins Bold"/>
              </a:rPr>
              <a:t>Deployment: </a:t>
            </a:r>
            <a:r>
              <a:rPr lang="en-US" sz="2050" spc="-114">
                <a:solidFill>
                  <a:srgbClr val="000000"/>
                </a:solidFill>
                <a:latin typeface="Poppins"/>
                <a:ea typeface="Poppins"/>
                <a:cs typeface="Poppins"/>
                <a:sym typeface="Poppins"/>
              </a:rPr>
              <a:t>Ready-to-use model, no fine-tuning required</a:t>
            </a:r>
          </a:p>
          <a:p>
            <a:pPr algn="l" marL="442596" indent="-221298" lvl="1">
              <a:lnSpc>
                <a:spcPts val="2870"/>
              </a:lnSpc>
              <a:buFont typeface="Arial"/>
              <a:buChar char="•"/>
            </a:pPr>
            <a:r>
              <a:rPr lang="en-US" b="true" sz="2050" spc="-114">
                <a:solidFill>
                  <a:srgbClr val="000000"/>
                </a:solidFill>
                <a:latin typeface="Poppins Bold"/>
                <a:ea typeface="Poppins Bold"/>
                <a:cs typeface="Poppins Bold"/>
                <a:sym typeface="Poppins Bold"/>
              </a:rPr>
              <a:t>Advantages:</a:t>
            </a:r>
            <a:r>
              <a:rPr lang="en-US" sz="2050" spc="-114">
                <a:solidFill>
                  <a:srgbClr val="000000"/>
                </a:solidFill>
                <a:latin typeface="Poppins"/>
                <a:ea typeface="Poppins"/>
                <a:cs typeface="Poppins"/>
                <a:sym typeface="Poppins"/>
              </a:rPr>
              <a:t> Lightweight yet powerful (only ~80MB), optimized for sentence similarity tasks</a:t>
            </a:r>
          </a:p>
        </p:txBody>
      </p:sp>
      <p:sp>
        <p:nvSpPr>
          <p:cNvPr name="TextBox 24" id="24"/>
          <p:cNvSpPr txBox="true"/>
          <p:nvPr/>
        </p:nvSpPr>
        <p:spPr>
          <a:xfrm rot="0">
            <a:off x="12579643" y="2966078"/>
            <a:ext cx="4833033" cy="6374765"/>
          </a:xfrm>
          <a:prstGeom prst="rect">
            <a:avLst/>
          </a:prstGeom>
        </p:spPr>
        <p:txBody>
          <a:bodyPr anchor="t" rtlCol="false" tIns="0" lIns="0" bIns="0" rIns="0">
            <a:spAutoFit/>
          </a:bodyPr>
          <a:lstStyle/>
          <a:p>
            <a:pPr algn="ctr">
              <a:lnSpc>
                <a:spcPts val="4269"/>
              </a:lnSpc>
            </a:pPr>
            <a:r>
              <a:rPr lang="en-US" b="true" sz="3049" spc="-170">
                <a:solidFill>
                  <a:srgbClr val="000000"/>
                </a:solidFill>
                <a:latin typeface="Poppins Bold"/>
                <a:ea typeface="Poppins Bold"/>
                <a:cs typeface="Poppins Bold"/>
                <a:sym typeface="Poppins Bold"/>
              </a:rPr>
              <a:t>ChatGPT AI Assistant</a:t>
            </a:r>
          </a:p>
          <a:p>
            <a:pPr algn="l" marL="593722" indent="-296861" lvl="1">
              <a:lnSpc>
                <a:spcPts val="3849"/>
              </a:lnSpc>
              <a:buFont typeface="Arial"/>
              <a:buChar char="•"/>
            </a:pPr>
            <a:r>
              <a:rPr lang="en-US" b="true" sz="2749" spc="-153">
                <a:solidFill>
                  <a:srgbClr val="000000"/>
                </a:solidFill>
                <a:latin typeface="Poppins Bold"/>
                <a:ea typeface="Poppins Bold"/>
                <a:cs typeface="Poppins Bold"/>
                <a:sym typeface="Poppins Bold"/>
              </a:rPr>
              <a:t>Model</a:t>
            </a:r>
            <a:r>
              <a:rPr lang="en-US" sz="2749" spc="-153">
                <a:solidFill>
                  <a:srgbClr val="000000"/>
                </a:solidFill>
                <a:latin typeface="Poppins"/>
                <a:ea typeface="Poppins"/>
                <a:cs typeface="Poppins"/>
                <a:sym typeface="Poppins"/>
              </a:rPr>
              <a:t>: gpt-4o-mini (OpenAI)</a:t>
            </a:r>
          </a:p>
          <a:p>
            <a:pPr algn="l" marL="593722" indent="-296861" lvl="1">
              <a:lnSpc>
                <a:spcPts val="3849"/>
              </a:lnSpc>
              <a:buFont typeface="Arial"/>
              <a:buChar char="•"/>
            </a:pPr>
            <a:r>
              <a:rPr lang="en-US" b="true" sz="2749" spc="-153">
                <a:solidFill>
                  <a:srgbClr val="000000"/>
                </a:solidFill>
                <a:latin typeface="Poppins Bold"/>
                <a:ea typeface="Poppins Bold"/>
                <a:cs typeface="Poppins Bold"/>
                <a:sym typeface="Poppins Bold"/>
              </a:rPr>
              <a:t>P</a:t>
            </a:r>
            <a:r>
              <a:rPr lang="en-US" b="true" sz="2749" spc="-153">
                <a:solidFill>
                  <a:srgbClr val="000000"/>
                </a:solidFill>
                <a:latin typeface="Poppins Bold"/>
                <a:ea typeface="Poppins Bold"/>
                <a:cs typeface="Poppins Bold"/>
                <a:sym typeface="Poppins Bold"/>
              </a:rPr>
              <a:t>urpose</a:t>
            </a:r>
            <a:r>
              <a:rPr lang="en-US" sz="2749" spc="-153">
                <a:solidFill>
                  <a:srgbClr val="000000"/>
                </a:solidFill>
                <a:latin typeface="Poppins"/>
                <a:ea typeface="Poppins"/>
                <a:cs typeface="Poppins"/>
                <a:sym typeface="Poppins"/>
              </a:rPr>
              <a:t>: User support and Q&amp;A chatbot</a:t>
            </a:r>
          </a:p>
          <a:p>
            <a:pPr algn="l" marL="593722" indent="-296861" lvl="1">
              <a:lnSpc>
                <a:spcPts val="3849"/>
              </a:lnSpc>
              <a:buFont typeface="Arial"/>
              <a:buChar char="•"/>
            </a:pPr>
            <a:r>
              <a:rPr lang="en-US" b="true" sz="2749" spc="-153">
                <a:solidFill>
                  <a:srgbClr val="000000"/>
                </a:solidFill>
                <a:latin typeface="Poppins Bold"/>
                <a:ea typeface="Poppins Bold"/>
                <a:cs typeface="Poppins Bold"/>
                <a:sym typeface="Poppins Bold"/>
              </a:rPr>
              <a:t>Pre-trained</a:t>
            </a:r>
            <a:r>
              <a:rPr lang="en-US" sz="2749" spc="-153">
                <a:solidFill>
                  <a:srgbClr val="000000"/>
                </a:solidFill>
                <a:latin typeface="Poppins"/>
                <a:ea typeface="Poppins"/>
                <a:cs typeface="Poppins"/>
                <a:sym typeface="Poppins"/>
              </a:rPr>
              <a:t>: Fully trained by OpenAI on diverse conversation data</a:t>
            </a:r>
          </a:p>
          <a:p>
            <a:pPr algn="l" marL="593722" indent="-296861" lvl="1">
              <a:lnSpc>
                <a:spcPts val="3849"/>
              </a:lnSpc>
              <a:buFont typeface="Arial"/>
              <a:buChar char="•"/>
            </a:pPr>
            <a:r>
              <a:rPr lang="en-US" b="true" sz="2749" spc="-153">
                <a:solidFill>
                  <a:srgbClr val="000000"/>
                </a:solidFill>
                <a:latin typeface="Poppins Bold"/>
                <a:ea typeface="Poppins Bold"/>
                <a:cs typeface="Poppins Bold"/>
                <a:sym typeface="Poppins Bold"/>
              </a:rPr>
              <a:t>Source</a:t>
            </a:r>
            <a:r>
              <a:rPr lang="en-US" sz="2749" spc="-153">
                <a:solidFill>
                  <a:srgbClr val="000000"/>
                </a:solidFill>
                <a:latin typeface="Poppins"/>
                <a:ea typeface="Poppins"/>
                <a:cs typeface="Poppins"/>
                <a:sym typeface="Poppins"/>
              </a:rPr>
              <a:t>: OpenAI API</a:t>
            </a:r>
          </a:p>
          <a:p>
            <a:pPr algn="l" marL="593722" indent="-296861" lvl="1">
              <a:lnSpc>
                <a:spcPts val="3849"/>
              </a:lnSpc>
              <a:buFont typeface="Arial"/>
              <a:buChar char="•"/>
            </a:pPr>
            <a:r>
              <a:rPr lang="en-US" b="true" sz="2749" spc="-153">
                <a:solidFill>
                  <a:srgbClr val="000000"/>
                </a:solidFill>
                <a:latin typeface="Poppins Bold"/>
                <a:ea typeface="Poppins Bold"/>
                <a:cs typeface="Poppins Bold"/>
                <a:sym typeface="Poppins Bold"/>
              </a:rPr>
              <a:t>Why Chosen</a:t>
            </a:r>
            <a:r>
              <a:rPr lang="en-US" sz="2749" spc="-153">
                <a:solidFill>
                  <a:srgbClr val="000000"/>
                </a:solidFill>
                <a:latin typeface="Poppins"/>
                <a:ea typeface="Poppins"/>
                <a:cs typeface="Poppins"/>
                <a:sym typeface="Poppins"/>
              </a:rPr>
              <a:t>: Cost-effective, fast responses, excellent for conversational assistance</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788604" y="192393"/>
            <a:ext cx="16435399" cy="836307"/>
            <a:chOff x="0" y="0"/>
            <a:chExt cx="21913865" cy="1115076"/>
          </a:xfrm>
        </p:grpSpPr>
        <p:grpSp>
          <p:nvGrpSpPr>
            <p:cNvPr name="Group 6" id="6"/>
            <p:cNvGrpSpPr/>
            <p:nvPr/>
          </p:nvGrpSpPr>
          <p:grpSpPr>
            <a:xfrm rot="0">
              <a:off x="0" y="0"/>
              <a:ext cx="326716" cy="1115076"/>
              <a:chOff x="0" y="0"/>
              <a:chExt cx="64536" cy="220262"/>
            </a:xfrm>
          </p:grpSpPr>
          <p:sp>
            <p:nvSpPr>
              <p:cNvPr name="Freeform 7" id="7"/>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8" id="8"/>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9" id="9"/>
            <p:cNvSpPr txBox="true"/>
            <p:nvPr/>
          </p:nvSpPr>
          <p:spPr>
            <a:xfrm rot="0">
              <a:off x="1082680" y="28575"/>
              <a:ext cx="20831185"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PART 2: DEVELOPMENT </a:t>
              </a:r>
              <a:r>
                <a:rPr lang="en-US" b="true" sz="5499" spc="-318" strike="noStrike" u="none">
                  <a:solidFill>
                    <a:srgbClr val="000000"/>
                  </a:solidFill>
                  <a:latin typeface="Poppins Bold"/>
                  <a:ea typeface="Poppins Bold"/>
                  <a:cs typeface="Poppins Bold"/>
                  <a:sym typeface="Poppins Bold"/>
                </a:rPr>
                <a:t>PROCESS</a:t>
              </a:r>
            </a:p>
          </p:txBody>
        </p:sp>
      </p:grpSp>
      <p:grpSp>
        <p:nvGrpSpPr>
          <p:cNvPr name="Group 10" id="10"/>
          <p:cNvGrpSpPr/>
          <p:nvPr/>
        </p:nvGrpSpPr>
        <p:grpSpPr>
          <a:xfrm rot="0">
            <a:off x="588721" y="1201490"/>
            <a:ext cx="17110558" cy="2186524"/>
            <a:chOff x="0" y="0"/>
            <a:chExt cx="22814077" cy="2915365"/>
          </a:xfrm>
        </p:grpSpPr>
        <p:grpSp>
          <p:nvGrpSpPr>
            <p:cNvPr name="Group 11" id="11"/>
            <p:cNvGrpSpPr/>
            <p:nvPr/>
          </p:nvGrpSpPr>
          <p:grpSpPr>
            <a:xfrm rot="0">
              <a:off x="0" y="0"/>
              <a:ext cx="22814077" cy="2915365"/>
              <a:chOff x="0" y="0"/>
              <a:chExt cx="3829155" cy="489320"/>
            </a:xfrm>
          </p:grpSpPr>
          <p:sp>
            <p:nvSpPr>
              <p:cNvPr name="Freeform 12" id="12"/>
              <p:cNvSpPr/>
              <p:nvPr/>
            </p:nvSpPr>
            <p:spPr>
              <a:xfrm flipH="false" flipV="false" rot="0">
                <a:off x="0" y="0"/>
                <a:ext cx="3829155" cy="489320"/>
              </a:xfrm>
              <a:custGeom>
                <a:avLst/>
                <a:gdLst/>
                <a:ahLst/>
                <a:cxnLst/>
                <a:rect r="r" b="b" t="t" l="l"/>
                <a:pathLst>
                  <a:path h="489320" w="3829155">
                    <a:moveTo>
                      <a:pt x="23076" y="0"/>
                    </a:moveTo>
                    <a:lnTo>
                      <a:pt x="3806079" y="0"/>
                    </a:lnTo>
                    <a:cubicBezTo>
                      <a:pt x="3818824" y="0"/>
                      <a:pt x="3829155" y="10331"/>
                      <a:pt x="3829155" y="23076"/>
                    </a:cubicBezTo>
                    <a:lnTo>
                      <a:pt x="3829155" y="466244"/>
                    </a:lnTo>
                    <a:cubicBezTo>
                      <a:pt x="3829155" y="472364"/>
                      <a:pt x="3826724" y="478234"/>
                      <a:pt x="3822396" y="482561"/>
                    </a:cubicBezTo>
                    <a:cubicBezTo>
                      <a:pt x="3818069" y="486889"/>
                      <a:pt x="3812199" y="489320"/>
                      <a:pt x="3806079" y="489320"/>
                    </a:cubicBezTo>
                    <a:lnTo>
                      <a:pt x="23076" y="489320"/>
                    </a:lnTo>
                    <a:cubicBezTo>
                      <a:pt x="10331" y="489320"/>
                      <a:pt x="0" y="478989"/>
                      <a:pt x="0" y="466244"/>
                    </a:cubicBezTo>
                    <a:lnTo>
                      <a:pt x="0" y="23076"/>
                    </a:lnTo>
                    <a:cubicBezTo>
                      <a:pt x="0" y="10331"/>
                      <a:pt x="10331" y="0"/>
                      <a:pt x="23076" y="0"/>
                    </a:cubicBezTo>
                    <a:close/>
                  </a:path>
                </a:pathLst>
              </a:custGeom>
              <a:solidFill>
                <a:srgbClr val="7281FE"/>
              </a:solidFill>
            </p:spPr>
          </p:sp>
          <p:sp>
            <p:nvSpPr>
              <p:cNvPr name="TextBox 13" id="13"/>
              <p:cNvSpPr txBox="true"/>
              <p:nvPr/>
            </p:nvSpPr>
            <p:spPr>
              <a:xfrm>
                <a:off x="0" y="-28575"/>
                <a:ext cx="3829155" cy="517895"/>
              </a:xfrm>
              <a:prstGeom prst="rect">
                <a:avLst/>
              </a:prstGeom>
            </p:spPr>
            <p:txBody>
              <a:bodyPr anchor="ctr" rtlCol="false" tIns="50800" lIns="50800" bIns="50800" rIns="50800"/>
              <a:lstStyle/>
              <a:p>
                <a:pPr algn="ctr">
                  <a:lnSpc>
                    <a:spcPts val="1680"/>
                  </a:lnSpc>
                </a:pPr>
              </a:p>
            </p:txBody>
          </p:sp>
        </p:grpSp>
        <p:sp>
          <p:nvSpPr>
            <p:cNvPr name="TextBox 14" id="14"/>
            <p:cNvSpPr txBox="true"/>
            <p:nvPr/>
          </p:nvSpPr>
          <p:spPr>
            <a:xfrm rot="0">
              <a:off x="391396" y="158027"/>
              <a:ext cx="21664093" cy="2532636"/>
            </a:xfrm>
            <a:prstGeom prst="rect">
              <a:avLst/>
            </a:prstGeom>
          </p:spPr>
          <p:txBody>
            <a:bodyPr anchor="t" rtlCol="false" tIns="0" lIns="0" bIns="0" rIns="0">
              <a:spAutoFit/>
            </a:bodyPr>
            <a:lstStyle/>
            <a:p>
              <a:pPr algn="l">
                <a:lnSpc>
                  <a:spcPts val="3060"/>
                </a:lnSpc>
              </a:pPr>
              <a:r>
                <a:rPr lang="en-US" sz="2186" spc="-122" b="true">
                  <a:solidFill>
                    <a:srgbClr val="000000"/>
                  </a:solidFill>
                  <a:latin typeface="Poppins Bold"/>
                  <a:ea typeface="Poppins Bold"/>
                  <a:cs typeface="Poppins Bold"/>
                  <a:sym typeface="Poppins Bold"/>
                </a:rPr>
                <a:t>Phase 1: TF-IDF Implementation</a:t>
              </a:r>
            </a:p>
            <a:p>
              <a:pPr algn="l">
                <a:lnSpc>
                  <a:spcPts val="3060"/>
                </a:lnSpc>
              </a:pPr>
              <a:r>
                <a:rPr lang="en-US" sz="2186" spc="-122" b="true">
                  <a:solidFill>
                    <a:srgbClr val="000000"/>
                  </a:solidFill>
                  <a:latin typeface="Poppins Bold"/>
                  <a:ea typeface="Poppins Bold"/>
                  <a:cs typeface="Poppins Bold"/>
                  <a:sym typeface="Poppins Bold"/>
                </a:rPr>
                <a:t>Approach:</a:t>
              </a:r>
            </a:p>
            <a:p>
              <a:pPr algn="just" marL="471998" indent="-235999" lvl="1">
                <a:lnSpc>
                  <a:spcPts val="3060"/>
                </a:lnSpc>
                <a:buFont typeface="Arial"/>
                <a:buChar char="•"/>
              </a:pPr>
              <a:r>
                <a:rPr lang="en-US" sz="2186" spc="-122">
                  <a:solidFill>
                    <a:srgbClr val="000000"/>
                  </a:solidFill>
                  <a:latin typeface="Poppins"/>
                  <a:ea typeface="Poppins"/>
                  <a:cs typeface="Poppins"/>
                  <a:sym typeface="Poppins"/>
                </a:rPr>
                <a:t>Started with traditional TF-IDF approach</a:t>
              </a:r>
            </a:p>
            <a:p>
              <a:pPr algn="just" marL="471998" indent="-235999" lvl="1">
                <a:lnSpc>
                  <a:spcPts val="3060"/>
                </a:lnSpc>
                <a:buFont typeface="Arial"/>
                <a:buChar char="•"/>
              </a:pPr>
              <a:r>
                <a:rPr lang="en-US" sz="2186" spc="-122">
                  <a:solidFill>
                    <a:srgbClr val="000000"/>
                  </a:solidFill>
                  <a:latin typeface="Poppins"/>
                  <a:ea typeface="Poppins"/>
                  <a:cs typeface="Poppins"/>
                  <a:sym typeface="Poppins"/>
                </a:rPr>
                <a:t>Impleme</a:t>
              </a:r>
              <a:r>
                <a:rPr lang="en-US" sz="2186" spc="-122">
                  <a:solidFill>
                    <a:srgbClr val="000000"/>
                  </a:solidFill>
                  <a:latin typeface="Poppins"/>
                  <a:ea typeface="Poppins"/>
                  <a:cs typeface="Poppins"/>
                  <a:sym typeface="Poppins"/>
                </a:rPr>
                <a:t>nt</a:t>
              </a:r>
              <a:r>
                <a:rPr lang="en-US" sz="2186" spc="-122">
                  <a:solidFill>
                    <a:srgbClr val="000000"/>
                  </a:solidFill>
                  <a:latin typeface="Poppins"/>
                  <a:ea typeface="Poppins"/>
                  <a:cs typeface="Poppins"/>
                  <a:sym typeface="Poppins"/>
                </a:rPr>
                <a:t>ed using scikit-learn library</a:t>
              </a:r>
            </a:p>
            <a:p>
              <a:pPr algn="just" marL="471998" indent="-235999" lvl="1">
                <a:lnSpc>
                  <a:spcPts val="3060"/>
                </a:lnSpc>
                <a:buFont typeface="Arial"/>
                <a:buChar char="•"/>
              </a:pPr>
              <a:r>
                <a:rPr lang="en-US" sz="2186" spc="-122">
                  <a:solidFill>
                    <a:srgbClr val="000000"/>
                  </a:solidFill>
                  <a:latin typeface="Poppins"/>
                  <a:ea typeface="Poppins"/>
                  <a:cs typeface="Poppins"/>
                  <a:sym typeface="Poppins"/>
                </a:rPr>
                <a:t>Tested on simple plagiarism cases</a:t>
              </a:r>
            </a:p>
          </p:txBody>
        </p:sp>
      </p:grpSp>
      <p:grpSp>
        <p:nvGrpSpPr>
          <p:cNvPr name="Group 15" id="15"/>
          <p:cNvGrpSpPr/>
          <p:nvPr/>
        </p:nvGrpSpPr>
        <p:grpSpPr>
          <a:xfrm rot="0">
            <a:off x="588721" y="3464214"/>
            <a:ext cx="17110558" cy="2113597"/>
            <a:chOff x="0" y="0"/>
            <a:chExt cx="22814077" cy="2818130"/>
          </a:xfrm>
        </p:grpSpPr>
        <p:grpSp>
          <p:nvGrpSpPr>
            <p:cNvPr name="Group 16" id="16"/>
            <p:cNvGrpSpPr/>
            <p:nvPr/>
          </p:nvGrpSpPr>
          <p:grpSpPr>
            <a:xfrm rot="0">
              <a:off x="0" y="0"/>
              <a:ext cx="22814077" cy="2818130"/>
              <a:chOff x="0" y="0"/>
              <a:chExt cx="3829155" cy="473000"/>
            </a:xfrm>
          </p:grpSpPr>
          <p:sp>
            <p:nvSpPr>
              <p:cNvPr name="Freeform 17" id="17"/>
              <p:cNvSpPr/>
              <p:nvPr/>
            </p:nvSpPr>
            <p:spPr>
              <a:xfrm flipH="false" flipV="false" rot="0">
                <a:off x="0" y="0"/>
                <a:ext cx="3829155" cy="473000"/>
              </a:xfrm>
              <a:custGeom>
                <a:avLst/>
                <a:gdLst/>
                <a:ahLst/>
                <a:cxnLst/>
                <a:rect r="r" b="b" t="t" l="l"/>
                <a:pathLst>
                  <a:path h="473000" w="3829155">
                    <a:moveTo>
                      <a:pt x="23076" y="0"/>
                    </a:moveTo>
                    <a:lnTo>
                      <a:pt x="3806079" y="0"/>
                    </a:lnTo>
                    <a:cubicBezTo>
                      <a:pt x="3818824" y="0"/>
                      <a:pt x="3829155" y="10331"/>
                      <a:pt x="3829155" y="23076"/>
                    </a:cubicBezTo>
                    <a:lnTo>
                      <a:pt x="3829155" y="449924"/>
                    </a:lnTo>
                    <a:cubicBezTo>
                      <a:pt x="3829155" y="456044"/>
                      <a:pt x="3826724" y="461914"/>
                      <a:pt x="3822396" y="466241"/>
                    </a:cubicBezTo>
                    <a:cubicBezTo>
                      <a:pt x="3818069" y="470569"/>
                      <a:pt x="3812199" y="473000"/>
                      <a:pt x="3806079" y="473000"/>
                    </a:cubicBezTo>
                    <a:lnTo>
                      <a:pt x="23076" y="473000"/>
                    </a:lnTo>
                    <a:cubicBezTo>
                      <a:pt x="10331" y="473000"/>
                      <a:pt x="0" y="462669"/>
                      <a:pt x="0" y="449924"/>
                    </a:cubicBezTo>
                    <a:lnTo>
                      <a:pt x="0" y="23076"/>
                    </a:lnTo>
                    <a:cubicBezTo>
                      <a:pt x="0" y="10331"/>
                      <a:pt x="10331" y="0"/>
                      <a:pt x="23076" y="0"/>
                    </a:cubicBezTo>
                    <a:close/>
                  </a:path>
                </a:pathLst>
              </a:custGeom>
              <a:solidFill>
                <a:srgbClr val="FEB389"/>
              </a:solidFill>
            </p:spPr>
          </p:sp>
          <p:sp>
            <p:nvSpPr>
              <p:cNvPr name="TextBox 18" id="18"/>
              <p:cNvSpPr txBox="true"/>
              <p:nvPr/>
            </p:nvSpPr>
            <p:spPr>
              <a:xfrm>
                <a:off x="0" y="-38100"/>
                <a:ext cx="3829155" cy="511100"/>
              </a:xfrm>
              <a:prstGeom prst="rect">
                <a:avLst/>
              </a:prstGeom>
            </p:spPr>
            <p:txBody>
              <a:bodyPr anchor="ctr" rtlCol="false" tIns="50800" lIns="50800" bIns="50800" rIns="50800"/>
              <a:lstStyle/>
              <a:p>
                <a:pPr algn="ctr">
                  <a:lnSpc>
                    <a:spcPts val="1540"/>
                  </a:lnSpc>
                </a:pPr>
              </a:p>
            </p:txBody>
          </p:sp>
        </p:grpSp>
        <p:sp>
          <p:nvSpPr>
            <p:cNvPr name="TextBox 19" id="19"/>
            <p:cNvSpPr txBox="true"/>
            <p:nvPr/>
          </p:nvSpPr>
          <p:spPr>
            <a:xfrm rot="0">
              <a:off x="391396" y="109409"/>
              <a:ext cx="21664093" cy="2532636"/>
            </a:xfrm>
            <a:prstGeom prst="rect">
              <a:avLst/>
            </a:prstGeom>
          </p:spPr>
          <p:txBody>
            <a:bodyPr anchor="t" rtlCol="false" tIns="0" lIns="0" bIns="0" rIns="0">
              <a:spAutoFit/>
            </a:bodyPr>
            <a:lstStyle/>
            <a:p>
              <a:pPr algn="just">
                <a:lnSpc>
                  <a:spcPts val="3060"/>
                </a:lnSpc>
              </a:pPr>
              <a:r>
                <a:rPr lang="en-US" b="true" sz="2186" spc="-122">
                  <a:solidFill>
                    <a:srgbClr val="000000"/>
                  </a:solidFill>
                  <a:latin typeface="Poppins Bold"/>
                  <a:ea typeface="Poppins Bold"/>
                  <a:cs typeface="Poppins Bold"/>
                  <a:sym typeface="Poppins Bold"/>
                </a:rPr>
                <a:t>Phase 2: BERT Integration</a:t>
              </a:r>
            </a:p>
            <a:p>
              <a:pPr algn="just">
                <a:lnSpc>
                  <a:spcPts val="3060"/>
                </a:lnSpc>
              </a:pPr>
              <a:r>
                <a:rPr lang="en-US" b="true" sz="2186" spc="-122">
                  <a:solidFill>
                    <a:srgbClr val="000000"/>
                  </a:solidFill>
                  <a:latin typeface="Poppins Bold"/>
                  <a:ea typeface="Poppins Bold"/>
                  <a:cs typeface="Poppins Bold"/>
                  <a:sym typeface="Poppins Bold"/>
                </a:rPr>
                <a:t>Ap</a:t>
              </a:r>
              <a:r>
                <a:rPr lang="en-US" b="true" sz="2186" spc="-122">
                  <a:solidFill>
                    <a:srgbClr val="000000"/>
                  </a:solidFill>
                  <a:latin typeface="Poppins Bold"/>
                  <a:ea typeface="Poppins Bold"/>
                  <a:cs typeface="Poppins Bold"/>
                  <a:sym typeface="Poppins Bold"/>
                </a:rPr>
                <a:t>proach</a:t>
              </a:r>
              <a:r>
                <a:rPr lang="en-US" sz="2186" spc="-122">
                  <a:solidFill>
                    <a:srgbClr val="000000"/>
                  </a:solidFill>
                  <a:latin typeface="Poppins"/>
                  <a:ea typeface="Poppins"/>
                  <a:cs typeface="Poppins"/>
                  <a:sym typeface="Poppins"/>
                </a:rPr>
                <a:t>:</a:t>
              </a:r>
            </a:p>
            <a:p>
              <a:pPr algn="just" marL="471998" indent="-235999" lvl="1">
                <a:lnSpc>
                  <a:spcPts val="3060"/>
                </a:lnSpc>
                <a:buFont typeface="Arial"/>
                <a:buChar char="•"/>
              </a:pPr>
              <a:r>
                <a:rPr lang="en-US" sz="2186" spc="-122">
                  <a:solidFill>
                    <a:srgbClr val="000000"/>
                  </a:solidFill>
                  <a:latin typeface="Poppins"/>
                  <a:ea typeface="Poppins"/>
                  <a:cs typeface="Poppins"/>
                  <a:sym typeface="Poppins"/>
                </a:rPr>
                <a:t>Added Sentence-BERT model (all-MiniLM-L6-v2)</a:t>
              </a:r>
            </a:p>
            <a:p>
              <a:pPr algn="just" marL="471998" indent="-235999" lvl="1">
                <a:lnSpc>
                  <a:spcPts val="3060"/>
                </a:lnSpc>
                <a:buFont typeface="Arial"/>
                <a:buChar char="•"/>
              </a:pPr>
              <a:r>
                <a:rPr lang="en-US" sz="2186" spc="-122">
                  <a:solidFill>
                    <a:srgbClr val="000000"/>
                  </a:solidFill>
                  <a:latin typeface="Poppins"/>
                  <a:ea typeface="Poppins"/>
                  <a:cs typeface="Poppins"/>
                  <a:sym typeface="Poppins"/>
                </a:rPr>
                <a:t>Tested semantic similarity separately</a:t>
              </a:r>
            </a:p>
            <a:p>
              <a:pPr algn="just" marL="471998" indent="-235999" lvl="1">
                <a:lnSpc>
                  <a:spcPts val="3060"/>
                </a:lnSpc>
                <a:buFont typeface="Arial"/>
                <a:buChar char="•"/>
              </a:pPr>
              <a:r>
                <a:rPr lang="en-US" sz="2186" spc="-122">
                  <a:solidFill>
                    <a:srgbClr val="000000"/>
                  </a:solidFill>
                  <a:latin typeface="Poppins"/>
                  <a:ea typeface="Poppins"/>
                  <a:cs typeface="Poppins"/>
                  <a:sym typeface="Poppins"/>
                </a:rPr>
                <a:t>Compar</a:t>
              </a:r>
              <a:r>
                <a:rPr lang="en-US" sz="2186" spc="-122">
                  <a:solidFill>
                    <a:srgbClr val="000000"/>
                  </a:solidFill>
                  <a:latin typeface="Poppins"/>
                  <a:ea typeface="Poppins"/>
                  <a:cs typeface="Poppins"/>
                  <a:sym typeface="Poppins"/>
                </a:rPr>
                <a:t>ed BERT results with TF-IDF</a:t>
              </a:r>
            </a:p>
          </p:txBody>
        </p:sp>
      </p:grpSp>
      <p:grpSp>
        <p:nvGrpSpPr>
          <p:cNvPr name="Group 20" id="20"/>
          <p:cNvGrpSpPr/>
          <p:nvPr/>
        </p:nvGrpSpPr>
        <p:grpSpPr>
          <a:xfrm rot="0">
            <a:off x="588721" y="5654011"/>
            <a:ext cx="17110558" cy="4464554"/>
            <a:chOff x="0" y="0"/>
            <a:chExt cx="22814077" cy="5952739"/>
          </a:xfrm>
        </p:grpSpPr>
        <p:grpSp>
          <p:nvGrpSpPr>
            <p:cNvPr name="Group 21" id="21"/>
            <p:cNvGrpSpPr/>
            <p:nvPr/>
          </p:nvGrpSpPr>
          <p:grpSpPr>
            <a:xfrm rot="0">
              <a:off x="0" y="0"/>
              <a:ext cx="22814077" cy="5952739"/>
              <a:chOff x="0" y="0"/>
              <a:chExt cx="3829155" cy="999118"/>
            </a:xfrm>
          </p:grpSpPr>
          <p:sp>
            <p:nvSpPr>
              <p:cNvPr name="Freeform 22" id="22"/>
              <p:cNvSpPr/>
              <p:nvPr/>
            </p:nvSpPr>
            <p:spPr>
              <a:xfrm flipH="false" flipV="false" rot="0">
                <a:off x="0" y="0"/>
                <a:ext cx="3829155" cy="999118"/>
              </a:xfrm>
              <a:custGeom>
                <a:avLst/>
                <a:gdLst/>
                <a:ahLst/>
                <a:cxnLst/>
                <a:rect r="r" b="b" t="t" l="l"/>
                <a:pathLst>
                  <a:path h="999118" w="3829155">
                    <a:moveTo>
                      <a:pt x="23076" y="0"/>
                    </a:moveTo>
                    <a:lnTo>
                      <a:pt x="3806079" y="0"/>
                    </a:lnTo>
                    <a:cubicBezTo>
                      <a:pt x="3818824" y="0"/>
                      <a:pt x="3829155" y="10331"/>
                      <a:pt x="3829155" y="23076"/>
                    </a:cubicBezTo>
                    <a:lnTo>
                      <a:pt x="3829155" y="976043"/>
                    </a:lnTo>
                    <a:cubicBezTo>
                      <a:pt x="3829155" y="982163"/>
                      <a:pt x="3826724" y="988032"/>
                      <a:pt x="3822396" y="992360"/>
                    </a:cubicBezTo>
                    <a:cubicBezTo>
                      <a:pt x="3818069" y="996687"/>
                      <a:pt x="3812199" y="999118"/>
                      <a:pt x="3806079" y="999118"/>
                    </a:cubicBezTo>
                    <a:lnTo>
                      <a:pt x="23076" y="999118"/>
                    </a:lnTo>
                    <a:cubicBezTo>
                      <a:pt x="10331" y="999118"/>
                      <a:pt x="0" y="988787"/>
                      <a:pt x="0" y="976043"/>
                    </a:cubicBezTo>
                    <a:lnTo>
                      <a:pt x="0" y="23076"/>
                    </a:lnTo>
                    <a:cubicBezTo>
                      <a:pt x="0" y="10331"/>
                      <a:pt x="10331" y="0"/>
                      <a:pt x="23076" y="0"/>
                    </a:cubicBezTo>
                    <a:close/>
                  </a:path>
                </a:pathLst>
              </a:custGeom>
              <a:solidFill>
                <a:srgbClr val="FFA9DC"/>
              </a:solidFill>
            </p:spPr>
          </p:sp>
          <p:sp>
            <p:nvSpPr>
              <p:cNvPr name="TextBox 23" id="23"/>
              <p:cNvSpPr txBox="true"/>
              <p:nvPr/>
            </p:nvSpPr>
            <p:spPr>
              <a:xfrm>
                <a:off x="0" y="-66675"/>
                <a:ext cx="3829155" cy="1065793"/>
              </a:xfrm>
              <a:prstGeom prst="rect">
                <a:avLst/>
              </a:prstGeom>
            </p:spPr>
            <p:txBody>
              <a:bodyPr anchor="ctr" rtlCol="false" tIns="50800" lIns="50800" bIns="50800" rIns="50800"/>
              <a:lstStyle/>
              <a:p>
                <a:pPr algn="ctr">
                  <a:lnSpc>
                    <a:spcPts val="2800"/>
                  </a:lnSpc>
                </a:pPr>
              </a:p>
            </p:txBody>
          </p:sp>
        </p:grpSp>
        <p:sp>
          <p:nvSpPr>
            <p:cNvPr name="TextBox 24" id="24"/>
            <p:cNvSpPr txBox="true"/>
            <p:nvPr/>
          </p:nvSpPr>
          <p:spPr>
            <a:xfrm rot="0">
              <a:off x="391396" y="152714"/>
              <a:ext cx="21664093" cy="5580636"/>
            </a:xfrm>
            <a:prstGeom prst="rect">
              <a:avLst/>
            </a:prstGeom>
          </p:spPr>
          <p:txBody>
            <a:bodyPr anchor="t" rtlCol="false" tIns="0" lIns="0" bIns="0" rIns="0">
              <a:spAutoFit/>
            </a:bodyPr>
            <a:lstStyle/>
            <a:p>
              <a:pPr algn="just">
                <a:lnSpc>
                  <a:spcPts val="3060"/>
                </a:lnSpc>
              </a:pPr>
              <a:r>
                <a:rPr lang="en-US" b="true" sz="2186" spc="-122">
                  <a:solidFill>
                    <a:srgbClr val="000000"/>
                  </a:solidFill>
                  <a:latin typeface="Poppins Bold"/>
                  <a:ea typeface="Poppins Bold"/>
                  <a:cs typeface="Poppins Bold"/>
                  <a:sym typeface="Poppins Bold"/>
                </a:rPr>
                <a:t>Phase 3: Hybrid Model Development </a:t>
              </a:r>
            </a:p>
            <a:p>
              <a:pPr algn="just">
                <a:lnSpc>
                  <a:spcPts val="3060"/>
                </a:lnSpc>
              </a:pPr>
              <a:r>
                <a:rPr lang="en-US" b="true" sz="2186" spc="-122">
                  <a:solidFill>
                    <a:srgbClr val="000000"/>
                  </a:solidFill>
                  <a:latin typeface="Poppins Bold"/>
                  <a:ea typeface="Poppins Bold"/>
                  <a:cs typeface="Poppins Bold"/>
                  <a:sym typeface="Poppins Bold"/>
                </a:rPr>
                <a:t>Decision Point</a:t>
              </a:r>
              <a:r>
                <a:rPr lang="en-US" sz="2186" spc="-122">
                  <a:solidFill>
                    <a:srgbClr val="000000"/>
                  </a:solidFill>
                  <a:latin typeface="Poppins"/>
                  <a:ea typeface="Poppins"/>
                  <a:cs typeface="Poppins"/>
                  <a:sym typeface="Poppins"/>
                </a:rPr>
                <a:t>: Combine both algorithms for comprehensive detection</a:t>
              </a:r>
            </a:p>
            <a:p>
              <a:pPr algn="just">
                <a:lnSpc>
                  <a:spcPts val="3060"/>
                </a:lnSpc>
              </a:pPr>
              <a:r>
                <a:rPr lang="en-US" b="true" sz="2186" spc="-122">
                  <a:solidFill>
                    <a:srgbClr val="000000"/>
                  </a:solidFill>
                  <a:latin typeface="Poppins Bold"/>
                  <a:ea typeface="Poppins Bold"/>
                  <a:cs typeface="Poppins Bold"/>
                  <a:sym typeface="Poppins Bold"/>
                </a:rPr>
                <a:t>Weighting Experimentation:</a:t>
              </a:r>
            </a:p>
            <a:p>
              <a:pPr algn="just" marL="471998" indent="-235999" lvl="1">
                <a:lnSpc>
                  <a:spcPts val="3060"/>
                </a:lnSpc>
                <a:buAutoNum type="arabicPeriod" startAt="1"/>
              </a:pPr>
              <a:r>
                <a:rPr lang="en-US" b="true" sz="2186" spc="-122">
                  <a:solidFill>
                    <a:srgbClr val="000000"/>
                  </a:solidFill>
                  <a:latin typeface="Poppins Bold"/>
                  <a:ea typeface="Poppins Bold"/>
                  <a:cs typeface="Poppins Bold"/>
                  <a:sym typeface="Poppins Bold"/>
                </a:rPr>
                <a:t>Started with 50/50 split: </a:t>
              </a:r>
              <a:r>
                <a:rPr lang="en-US" sz="2186" spc="-122">
                  <a:solidFill>
                    <a:srgbClr val="000000"/>
                  </a:solidFill>
                  <a:latin typeface="Poppins"/>
                  <a:ea typeface="Poppins"/>
                  <a:cs typeface="Poppins"/>
                  <a:sym typeface="Poppins"/>
                </a:rPr>
                <a:t>Equal weight to both methods</a:t>
              </a:r>
            </a:p>
            <a:p>
              <a:pPr algn="just" marL="471998" indent="-235999" lvl="1">
                <a:lnSpc>
                  <a:spcPts val="3060"/>
                </a:lnSpc>
                <a:buAutoNum type="arabicPeriod" startAt="1"/>
              </a:pPr>
              <a:r>
                <a:rPr lang="en-US" b="true" sz="2186" spc="-122">
                  <a:solidFill>
                    <a:srgbClr val="000000"/>
                  </a:solidFill>
                  <a:latin typeface="Poppins Bold"/>
                  <a:ea typeface="Poppins Bold"/>
                  <a:cs typeface="Poppins Bold"/>
                  <a:sym typeface="Poppins Bold"/>
                </a:rPr>
                <a:t>Tested with various test cases:</a:t>
              </a:r>
              <a:r>
                <a:rPr lang="en-US" sz="2186" spc="-122">
                  <a:solidFill>
                    <a:srgbClr val="000000"/>
                  </a:solidFill>
                  <a:latin typeface="Poppins"/>
                  <a:ea typeface="Poppins"/>
                  <a:cs typeface="Poppins"/>
                  <a:sym typeface="Poppins"/>
                </a:rPr>
                <a:t> Evaluated accuracy on PAN-PC-11 dataset</a:t>
              </a:r>
            </a:p>
            <a:p>
              <a:pPr algn="just" marL="471998" indent="-235999" lvl="1">
                <a:lnSpc>
                  <a:spcPts val="3060"/>
                </a:lnSpc>
                <a:buAutoNum type="arabicPeriod" startAt="1"/>
              </a:pPr>
              <a:r>
                <a:rPr lang="en-US" b="true" sz="2186" spc="-122">
                  <a:solidFill>
                    <a:srgbClr val="000000"/>
                  </a:solidFill>
                  <a:latin typeface="Poppins Bold"/>
                  <a:ea typeface="Poppins Bold"/>
                  <a:cs typeface="Poppins Bold"/>
                  <a:sym typeface="Poppins Bold"/>
                </a:rPr>
                <a:t>Compared individual performance:</a:t>
              </a:r>
              <a:r>
                <a:rPr lang="en-US" sz="2186" spc="-122">
                  <a:solidFill>
                    <a:srgbClr val="000000"/>
                  </a:solidFill>
                  <a:latin typeface="Poppins"/>
                  <a:ea typeface="Poppins"/>
                  <a:cs typeface="Poppins"/>
                  <a:sym typeface="Poppins"/>
                </a:rPr>
                <a:t> Analyzed which algorithm performed better on different plagiarism types</a:t>
              </a:r>
            </a:p>
            <a:p>
              <a:pPr algn="just" marL="471998" indent="-235999" lvl="1">
                <a:lnSpc>
                  <a:spcPts val="3060"/>
                </a:lnSpc>
                <a:buAutoNum type="arabicPeriod" startAt="1"/>
              </a:pPr>
              <a:r>
                <a:rPr lang="en-US" b="true" sz="2186" spc="-122">
                  <a:solidFill>
                    <a:srgbClr val="000000"/>
                  </a:solidFill>
                  <a:latin typeface="Poppins Bold"/>
                  <a:ea typeface="Poppins Bold"/>
                  <a:cs typeface="Poppins Bold"/>
                  <a:sym typeface="Poppins Bold"/>
                </a:rPr>
                <a:t>Optimized to 40/60 ratio:</a:t>
              </a:r>
              <a:r>
                <a:rPr lang="en-US" sz="2186" spc="-122">
                  <a:solidFill>
                    <a:srgbClr val="000000"/>
                  </a:solidFill>
                  <a:latin typeface="Poppins"/>
                  <a:ea typeface="Poppins"/>
                  <a:cs typeface="Poppins"/>
                  <a:sym typeface="Poppins"/>
                </a:rPr>
                <a:t> Bas</a:t>
              </a:r>
              <a:r>
                <a:rPr lang="en-US" sz="2186" spc="-122">
                  <a:solidFill>
                    <a:srgbClr val="000000"/>
                  </a:solidFill>
                  <a:latin typeface="Poppins"/>
                  <a:ea typeface="Poppins"/>
                  <a:cs typeface="Poppins"/>
                  <a:sym typeface="Poppins"/>
                </a:rPr>
                <a:t>ed on testing results, gave more weight to BERT</a:t>
              </a:r>
            </a:p>
            <a:p>
              <a:pPr algn="just">
                <a:lnSpc>
                  <a:spcPts val="3060"/>
                </a:lnSpc>
              </a:pPr>
              <a:r>
                <a:rPr lang="en-US" sz="2186" spc="-122">
                  <a:solidFill>
                    <a:srgbClr val="000000"/>
                  </a:solidFill>
                  <a:latin typeface="Poppins"/>
                  <a:ea typeface="Poppins"/>
                  <a:cs typeface="Poppins"/>
                  <a:sym typeface="Poppins"/>
                </a:rPr>
                <a:t>Weighting Decision Rationale:</a:t>
              </a:r>
            </a:p>
            <a:p>
              <a:pPr algn="just" marL="471998" indent="-235999" lvl="1">
                <a:lnSpc>
                  <a:spcPts val="3060"/>
                </a:lnSpc>
                <a:buFont typeface="Arial"/>
                <a:buChar char="•"/>
              </a:pPr>
              <a:r>
                <a:rPr lang="en-US" b="true" sz="2186" spc="-122">
                  <a:solidFill>
                    <a:srgbClr val="000000"/>
                  </a:solidFill>
                  <a:latin typeface="Poppins Bold"/>
                  <a:ea typeface="Poppins Bold"/>
                  <a:cs typeface="Poppins Bold"/>
                  <a:sym typeface="Poppins Bold"/>
                </a:rPr>
                <a:t>40% TF-IDF:</a:t>
              </a:r>
              <a:r>
                <a:rPr lang="en-US" sz="2186" spc="-122">
                  <a:solidFill>
                    <a:srgbClr val="000000"/>
                  </a:solidFill>
                  <a:latin typeface="Poppins"/>
                  <a:ea typeface="Poppins"/>
                  <a:cs typeface="Poppins"/>
                  <a:sym typeface="Poppins"/>
                </a:rPr>
                <a:t> Catches direct copying with high precision</a:t>
              </a:r>
            </a:p>
            <a:p>
              <a:pPr algn="just" marL="471998" indent="-235999" lvl="1">
                <a:lnSpc>
                  <a:spcPts val="3060"/>
                </a:lnSpc>
                <a:buFont typeface="Arial"/>
                <a:buChar char="•"/>
              </a:pPr>
              <a:r>
                <a:rPr lang="en-US" b="true" sz="2186" spc="-122">
                  <a:solidFill>
                    <a:srgbClr val="000000"/>
                  </a:solidFill>
                  <a:latin typeface="Poppins Bold"/>
                  <a:ea typeface="Poppins Bold"/>
                  <a:cs typeface="Poppins Bold"/>
                  <a:sym typeface="Poppins Bold"/>
                </a:rPr>
                <a:t>60% BERT</a:t>
              </a:r>
              <a:r>
                <a:rPr lang="en-US" sz="2186" spc="-122">
                  <a:solidFill>
                    <a:srgbClr val="000000"/>
                  </a:solidFill>
                  <a:latin typeface="Poppins"/>
                  <a:ea typeface="Poppins"/>
                  <a:cs typeface="Poppins"/>
                  <a:sym typeface="Poppins"/>
                </a:rPr>
                <a:t>: Better handles modern plagiarism (paraphrasing) which is more common and sophisticated</a:t>
              </a:r>
            </a:p>
            <a:p>
              <a:pPr algn="just" marL="471998" indent="-235999" lvl="1">
                <a:lnSpc>
                  <a:spcPts val="3060"/>
                </a:lnSpc>
                <a:buFont typeface="Arial"/>
                <a:buChar char="•"/>
              </a:pPr>
              <a:r>
                <a:rPr lang="en-US" b="true" sz="2186" spc="-122">
                  <a:solidFill>
                    <a:srgbClr val="000000"/>
                  </a:solidFill>
                  <a:latin typeface="Poppins Bold"/>
                  <a:ea typeface="Poppins Bold"/>
                  <a:cs typeface="Poppins Bold"/>
                  <a:sym typeface="Poppins Bold"/>
                </a:rPr>
                <a:t>Iterative testing:</a:t>
              </a:r>
              <a:r>
                <a:rPr lang="en-US" sz="2186" spc="-122">
                  <a:solidFill>
                    <a:srgbClr val="000000"/>
                  </a:solidFill>
                  <a:latin typeface="Poppins"/>
                  <a:ea typeface="Poppins"/>
                  <a:cs typeface="Poppins"/>
                  <a:sym typeface="Poppins"/>
                </a:rPr>
                <a:t> Determined optimal ratio through validation on multiple document pairs</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788604" y="192393"/>
            <a:ext cx="16435399" cy="836307"/>
            <a:chOff x="0" y="0"/>
            <a:chExt cx="21913865" cy="1115076"/>
          </a:xfrm>
        </p:grpSpPr>
        <p:grpSp>
          <p:nvGrpSpPr>
            <p:cNvPr name="Group 6" id="6"/>
            <p:cNvGrpSpPr/>
            <p:nvPr/>
          </p:nvGrpSpPr>
          <p:grpSpPr>
            <a:xfrm rot="0">
              <a:off x="0" y="0"/>
              <a:ext cx="326716" cy="1115076"/>
              <a:chOff x="0" y="0"/>
              <a:chExt cx="64536" cy="220262"/>
            </a:xfrm>
          </p:grpSpPr>
          <p:sp>
            <p:nvSpPr>
              <p:cNvPr name="Freeform 7" id="7"/>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8" id="8"/>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9" id="9"/>
            <p:cNvSpPr txBox="true"/>
            <p:nvPr/>
          </p:nvSpPr>
          <p:spPr>
            <a:xfrm rot="0">
              <a:off x="1082680" y="28575"/>
              <a:ext cx="20831185" cy="1085638"/>
            </a:xfrm>
            <a:prstGeom prst="rect">
              <a:avLst/>
            </a:prstGeom>
          </p:spPr>
          <p:txBody>
            <a:bodyPr anchor="t" rtlCol="false" tIns="0" lIns="0" bIns="0" rIns="0">
              <a:spAutoFit/>
            </a:bodyPr>
            <a:lstStyle/>
            <a:p>
              <a:pPr algn="l" marL="0" indent="0" lvl="0">
                <a:lnSpc>
                  <a:spcPts val="5719"/>
                </a:lnSpc>
                <a:spcBef>
                  <a:spcPct val="0"/>
                </a:spcBef>
              </a:pPr>
              <a:r>
                <a:rPr lang="en-US" b="true" sz="5499" spc="-318">
                  <a:solidFill>
                    <a:srgbClr val="000000"/>
                  </a:solidFill>
                  <a:latin typeface="Poppins Bold"/>
                  <a:ea typeface="Poppins Bold"/>
                  <a:cs typeface="Poppins Bold"/>
                  <a:sym typeface="Poppins Bold"/>
                </a:rPr>
                <a:t>PART 3: TESTING DATASET</a:t>
              </a:r>
              <a:r>
                <a:rPr lang="en-US" b="true" sz="5499" spc="-318" strike="noStrike" u="none">
                  <a:solidFill>
                    <a:srgbClr val="000000"/>
                  </a:solidFill>
                  <a:latin typeface="Poppins Bold"/>
                  <a:ea typeface="Poppins Bold"/>
                  <a:cs typeface="Poppins Bold"/>
                  <a:sym typeface="Poppins Bold"/>
                </a:rPr>
                <a:t> &amp; VALIDATIO</a:t>
              </a:r>
              <a:r>
                <a:rPr lang="en-US" b="true" sz="5499" spc="-318" strike="noStrike" u="none">
                  <a:solidFill>
                    <a:srgbClr val="000000"/>
                  </a:solidFill>
                  <a:latin typeface="Poppins Bold"/>
                  <a:ea typeface="Poppins Bold"/>
                  <a:cs typeface="Poppins Bold"/>
                  <a:sym typeface="Poppins Bold"/>
                </a:rPr>
                <a:t>N</a:t>
              </a:r>
            </a:p>
          </p:txBody>
        </p:sp>
      </p:grpSp>
      <p:grpSp>
        <p:nvGrpSpPr>
          <p:cNvPr name="Group 10" id="10"/>
          <p:cNvGrpSpPr/>
          <p:nvPr/>
        </p:nvGrpSpPr>
        <p:grpSpPr>
          <a:xfrm rot="0">
            <a:off x="588721" y="1205993"/>
            <a:ext cx="10681871" cy="829999"/>
            <a:chOff x="0" y="0"/>
            <a:chExt cx="2390485" cy="185745"/>
          </a:xfrm>
        </p:grpSpPr>
        <p:sp>
          <p:nvSpPr>
            <p:cNvPr name="Freeform 11" id="11"/>
            <p:cNvSpPr/>
            <p:nvPr/>
          </p:nvSpPr>
          <p:spPr>
            <a:xfrm flipH="false" flipV="false" rot="0">
              <a:off x="0" y="0"/>
              <a:ext cx="2390485" cy="185745"/>
            </a:xfrm>
            <a:custGeom>
              <a:avLst/>
              <a:gdLst/>
              <a:ahLst/>
              <a:cxnLst/>
              <a:rect r="r" b="b" t="t" l="l"/>
              <a:pathLst>
                <a:path h="185745" w="2390485">
                  <a:moveTo>
                    <a:pt x="36963" y="0"/>
                  </a:moveTo>
                  <a:lnTo>
                    <a:pt x="2353522" y="0"/>
                  </a:lnTo>
                  <a:cubicBezTo>
                    <a:pt x="2363325" y="0"/>
                    <a:pt x="2372727" y="3894"/>
                    <a:pt x="2379659" y="10826"/>
                  </a:cubicBezTo>
                  <a:cubicBezTo>
                    <a:pt x="2386591" y="17758"/>
                    <a:pt x="2390485" y="27160"/>
                    <a:pt x="2390485" y="36963"/>
                  </a:cubicBezTo>
                  <a:lnTo>
                    <a:pt x="2390485" y="148781"/>
                  </a:lnTo>
                  <a:cubicBezTo>
                    <a:pt x="2390485" y="158585"/>
                    <a:pt x="2386591" y="167986"/>
                    <a:pt x="2379659" y="174918"/>
                  </a:cubicBezTo>
                  <a:cubicBezTo>
                    <a:pt x="2372727" y="181850"/>
                    <a:pt x="2363325" y="185745"/>
                    <a:pt x="2353522" y="185745"/>
                  </a:cubicBezTo>
                  <a:lnTo>
                    <a:pt x="36963" y="185745"/>
                  </a:lnTo>
                  <a:cubicBezTo>
                    <a:pt x="27160" y="185745"/>
                    <a:pt x="17758" y="181850"/>
                    <a:pt x="10826" y="174918"/>
                  </a:cubicBezTo>
                  <a:cubicBezTo>
                    <a:pt x="3894" y="167986"/>
                    <a:pt x="0" y="158585"/>
                    <a:pt x="0" y="148781"/>
                  </a:cubicBezTo>
                  <a:lnTo>
                    <a:pt x="0" y="36963"/>
                  </a:lnTo>
                  <a:cubicBezTo>
                    <a:pt x="0" y="27160"/>
                    <a:pt x="3894" y="17758"/>
                    <a:pt x="10826" y="10826"/>
                  </a:cubicBezTo>
                  <a:cubicBezTo>
                    <a:pt x="17758" y="3894"/>
                    <a:pt x="27160" y="0"/>
                    <a:pt x="36963" y="0"/>
                  </a:cubicBezTo>
                  <a:close/>
                </a:path>
              </a:pathLst>
            </a:custGeom>
            <a:solidFill>
              <a:srgbClr val="7281FE"/>
            </a:solidFill>
          </p:spPr>
        </p:sp>
        <p:sp>
          <p:nvSpPr>
            <p:cNvPr name="TextBox 12" id="12"/>
            <p:cNvSpPr txBox="true"/>
            <p:nvPr/>
          </p:nvSpPr>
          <p:spPr>
            <a:xfrm>
              <a:off x="0" y="-66675"/>
              <a:ext cx="2390485" cy="252420"/>
            </a:xfrm>
            <a:prstGeom prst="rect">
              <a:avLst/>
            </a:prstGeom>
          </p:spPr>
          <p:txBody>
            <a:bodyPr anchor="ctr" rtlCol="false" tIns="50800" lIns="50800" bIns="50800" rIns="50800"/>
            <a:lstStyle/>
            <a:p>
              <a:pPr algn="ctr">
                <a:lnSpc>
                  <a:spcPts val="2800"/>
                </a:lnSpc>
              </a:pPr>
            </a:p>
          </p:txBody>
        </p:sp>
      </p:grpSp>
      <p:sp>
        <p:nvSpPr>
          <p:cNvPr name="TextBox 13" id="13"/>
          <p:cNvSpPr txBox="true"/>
          <p:nvPr/>
        </p:nvSpPr>
        <p:spPr>
          <a:xfrm rot="0">
            <a:off x="978810" y="1294744"/>
            <a:ext cx="9866240" cy="510256"/>
          </a:xfrm>
          <a:prstGeom prst="rect">
            <a:avLst/>
          </a:prstGeom>
        </p:spPr>
        <p:txBody>
          <a:bodyPr anchor="t" rtlCol="false" tIns="0" lIns="0" bIns="0" rIns="0">
            <a:spAutoFit/>
          </a:bodyPr>
          <a:lstStyle/>
          <a:p>
            <a:pPr algn="just">
              <a:lnSpc>
                <a:spcPts val="3900"/>
              </a:lnSpc>
            </a:pPr>
            <a:r>
              <a:rPr lang="en-US" sz="2786" spc="-156">
                <a:solidFill>
                  <a:srgbClr val="000000"/>
                </a:solidFill>
                <a:latin typeface="Poppins"/>
                <a:ea typeface="Poppins"/>
                <a:cs typeface="Poppins"/>
                <a:sym typeface="Poppins"/>
              </a:rPr>
              <a:t>Primary Dataset: PAN Plagiarism Corpus 2011 (PAN-PC-11)</a:t>
            </a:r>
          </a:p>
        </p:txBody>
      </p:sp>
      <p:grpSp>
        <p:nvGrpSpPr>
          <p:cNvPr name="Group 14" id="14"/>
          <p:cNvGrpSpPr/>
          <p:nvPr/>
        </p:nvGrpSpPr>
        <p:grpSpPr>
          <a:xfrm rot="0">
            <a:off x="11449973" y="1205993"/>
            <a:ext cx="6249306" cy="829999"/>
            <a:chOff x="0" y="0"/>
            <a:chExt cx="1398526" cy="185745"/>
          </a:xfrm>
        </p:grpSpPr>
        <p:sp>
          <p:nvSpPr>
            <p:cNvPr name="Freeform 15" id="15"/>
            <p:cNvSpPr/>
            <p:nvPr/>
          </p:nvSpPr>
          <p:spPr>
            <a:xfrm flipH="false" flipV="false" rot="0">
              <a:off x="0" y="0"/>
              <a:ext cx="1398526" cy="185745"/>
            </a:xfrm>
            <a:custGeom>
              <a:avLst/>
              <a:gdLst/>
              <a:ahLst/>
              <a:cxnLst/>
              <a:rect r="r" b="b" t="t" l="l"/>
              <a:pathLst>
                <a:path h="185745" w="1398526">
                  <a:moveTo>
                    <a:pt x="63181" y="0"/>
                  </a:moveTo>
                  <a:lnTo>
                    <a:pt x="1335345" y="0"/>
                  </a:lnTo>
                  <a:cubicBezTo>
                    <a:pt x="1370239" y="0"/>
                    <a:pt x="1398526" y="28287"/>
                    <a:pt x="1398526" y="63181"/>
                  </a:cubicBezTo>
                  <a:lnTo>
                    <a:pt x="1398526" y="122564"/>
                  </a:lnTo>
                  <a:cubicBezTo>
                    <a:pt x="1398526" y="157458"/>
                    <a:pt x="1370239" y="185745"/>
                    <a:pt x="1335345" y="185745"/>
                  </a:cubicBezTo>
                  <a:lnTo>
                    <a:pt x="63181" y="185745"/>
                  </a:lnTo>
                  <a:cubicBezTo>
                    <a:pt x="46424" y="185745"/>
                    <a:pt x="30354" y="179088"/>
                    <a:pt x="18505" y="167239"/>
                  </a:cubicBezTo>
                  <a:cubicBezTo>
                    <a:pt x="6657" y="155391"/>
                    <a:pt x="0" y="139320"/>
                    <a:pt x="0" y="122564"/>
                  </a:cubicBezTo>
                  <a:lnTo>
                    <a:pt x="0" y="63181"/>
                  </a:lnTo>
                  <a:cubicBezTo>
                    <a:pt x="0" y="28287"/>
                    <a:pt x="28287" y="0"/>
                    <a:pt x="63181" y="0"/>
                  </a:cubicBezTo>
                  <a:close/>
                </a:path>
              </a:pathLst>
            </a:custGeom>
            <a:solidFill>
              <a:srgbClr val="FEB389"/>
            </a:solidFill>
          </p:spPr>
        </p:sp>
        <p:sp>
          <p:nvSpPr>
            <p:cNvPr name="TextBox 16" id="16"/>
            <p:cNvSpPr txBox="true"/>
            <p:nvPr/>
          </p:nvSpPr>
          <p:spPr>
            <a:xfrm>
              <a:off x="0" y="-66675"/>
              <a:ext cx="1398526" cy="252420"/>
            </a:xfrm>
            <a:prstGeom prst="rect">
              <a:avLst/>
            </a:prstGeom>
          </p:spPr>
          <p:txBody>
            <a:bodyPr anchor="ctr" rtlCol="false" tIns="50800" lIns="50800" bIns="50800" rIns="50800"/>
            <a:lstStyle/>
            <a:p>
              <a:pPr algn="ctr">
                <a:lnSpc>
                  <a:spcPts val="2800"/>
                </a:lnSpc>
              </a:pPr>
            </a:p>
          </p:txBody>
        </p:sp>
      </p:grpSp>
      <p:sp>
        <p:nvSpPr>
          <p:cNvPr name="TextBox 17" id="17"/>
          <p:cNvSpPr txBox="true"/>
          <p:nvPr/>
        </p:nvSpPr>
        <p:spPr>
          <a:xfrm rot="0">
            <a:off x="11886384" y="1330611"/>
            <a:ext cx="5508823" cy="510256"/>
          </a:xfrm>
          <a:prstGeom prst="rect">
            <a:avLst/>
          </a:prstGeom>
        </p:spPr>
        <p:txBody>
          <a:bodyPr anchor="t" rtlCol="false" tIns="0" lIns="0" bIns="0" rIns="0">
            <a:spAutoFit/>
          </a:bodyPr>
          <a:lstStyle/>
          <a:p>
            <a:pPr algn="just">
              <a:lnSpc>
                <a:spcPts val="3900"/>
              </a:lnSpc>
            </a:pPr>
            <a:r>
              <a:rPr lang="en-US" b="true" sz="2786" spc="-156">
                <a:solidFill>
                  <a:srgbClr val="000000"/>
                </a:solidFill>
                <a:latin typeface="Poppins Medium"/>
                <a:ea typeface="Poppins Medium"/>
                <a:cs typeface="Poppins Medium"/>
                <a:sym typeface="Poppins Medium"/>
              </a:rPr>
              <a:t>Source:</a:t>
            </a:r>
            <a:r>
              <a:rPr lang="en-US" sz="2786" spc="-156">
                <a:solidFill>
                  <a:srgbClr val="000000"/>
                </a:solidFill>
                <a:latin typeface="Poppins"/>
                <a:ea typeface="Poppins"/>
                <a:cs typeface="Poppins"/>
                <a:sym typeface="Poppins"/>
              </a:rPr>
              <a:t> </a:t>
            </a:r>
            <a:r>
              <a:rPr lang="en-US" b="true" sz="2786" spc="-156" u="sng">
                <a:solidFill>
                  <a:srgbClr val="000000"/>
                </a:solidFill>
                <a:latin typeface="Poppins Semi-Bold"/>
                <a:ea typeface="Poppins Semi-Bold"/>
                <a:cs typeface="Poppins Semi-Bold"/>
                <a:sym typeface="Poppins Semi-Bold"/>
                <a:hlinkClick r:id="rId2" tooltip="https://zenodo.org/records/3250095"/>
              </a:rPr>
              <a:t>PAN-PC-11 on Zenodo</a:t>
            </a:r>
          </a:p>
        </p:txBody>
      </p:sp>
      <p:grpSp>
        <p:nvGrpSpPr>
          <p:cNvPr name="Group 18" id="18"/>
          <p:cNvGrpSpPr/>
          <p:nvPr/>
        </p:nvGrpSpPr>
        <p:grpSpPr>
          <a:xfrm rot="0">
            <a:off x="588721" y="2150292"/>
            <a:ext cx="17110558" cy="4871275"/>
            <a:chOff x="0" y="0"/>
            <a:chExt cx="3829155" cy="1090138"/>
          </a:xfrm>
        </p:grpSpPr>
        <p:sp>
          <p:nvSpPr>
            <p:cNvPr name="Freeform 19" id="19"/>
            <p:cNvSpPr/>
            <p:nvPr/>
          </p:nvSpPr>
          <p:spPr>
            <a:xfrm flipH="false" flipV="false" rot="0">
              <a:off x="0" y="0"/>
              <a:ext cx="3829155" cy="1090138"/>
            </a:xfrm>
            <a:custGeom>
              <a:avLst/>
              <a:gdLst/>
              <a:ahLst/>
              <a:cxnLst/>
              <a:rect r="r" b="b" t="t" l="l"/>
              <a:pathLst>
                <a:path h="1090138" w="3829155">
                  <a:moveTo>
                    <a:pt x="23076" y="0"/>
                  </a:moveTo>
                  <a:lnTo>
                    <a:pt x="3806079" y="0"/>
                  </a:lnTo>
                  <a:cubicBezTo>
                    <a:pt x="3818824" y="0"/>
                    <a:pt x="3829155" y="10331"/>
                    <a:pt x="3829155" y="23076"/>
                  </a:cubicBezTo>
                  <a:lnTo>
                    <a:pt x="3829155" y="1067062"/>
                  </a:lnTo>
                  <a:cubicBezTo>
                    <a:pt x="3829155" y="1073182"/>
                    <a:pt x="3826724" y="1079051"/>
                    <a:pt x="3822396" y="1083379"/>
                  </a:cubicBezTo>
                  <a:cubicBezTo>
                    <a:pt x="3818069" y="1087707"/>
                    <a:pt x="3812199" y="1090138"/>
                    <a:pt x="3806079" y="1090138"/>
                  </a:cubicBezTo>
                  <a:lnTo>
                    <a:pt x="23076" y="1090138"/>
                  </a:lnTo>
                  <a:cubicBezTo>
                    <a:pt x="10331" y="1090138"/>
                    <a:pt x="0" y="1079806"/>
                    <a:pt x="0" y="1067062"/>
                  </a:cubicBezTo>
                  <a:lnTo>
                    <a:pt x="0" y="23076"/>
                  </a:lnTo>
                  <a:cubicBezTo>
                    <a:pt x="0" y="10331"/>
                    <a:pt x="10331" y="0"/>
                    <a:pt x="23076" y="0"/>
                  </a:cubicBezTo>
                  <a:close/>
                </a:path>
              </a:pathLst>
            </a:custGeom>
            <a:solidFill>
              <a:srgbClr val="FFA9DC"/>
            </a:solidFill>
          </p:spPr>
        </p:sp>
        <p:sp>
          <p:nvSpPr>
            <p:cNvPr name="TextBox 20" id="20"/>
            <p:cNvSpPr txBox="true"/>
            <p:nvPr/>
          </p:nvSpPr>
          <p:spPr>
            <a:xfrm>
              <a:off x="0" y="-66675"/>
              <a:ext cx="3829155" cy="1156813"/>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0">
            <a:off x="975933" y="2306739"/>
            <a:ext cx="16248070" cy="4472656"/>
          </a:xfrm>
          <a:prstGeom prst="rect">
            <a:avLst/>
          </a:prstGeom>
        </p:spPr>
        <p:txBody>
          <a:bodyPr anchor="t" rtlCol="false" tIns="0" lIns="0" bIns="0" rIns="0">
            <a:spAutoFit/>
          </a:bodyPr>
          <a:lstStyle/>
          <a:p>
            <a:pPr algn="just">
              <a:lnSpc>
                <a:spcPts val="3900"/>
              </a:lnSpc>
            </a:pPr>
            <a:r>
              <a:rPr lang="en-US" b="true" sz="2786" spc="-156">
                <a:solidFill>
                  <a:srgbClr val="000000"/>
                </a:solidFill>
                <a:latin typeface="Poppins Bold"/>
                <a:ea typeface="Poppins Bold"/>
                <a:cs typeface="Poppins Bold"/>
                <a:sym typeface="Poppins Bold"/>
              </a:rPr>
              <a:t>Dataset Characteristics</a:t>
            </a:r>
            <a:r>
              <a:rPr lang="en-US" sz="2786" spc="-156">
                <a:solidFill>
                  <a:srgbClr val="000000"/>
                </a:solidFill>
                <a:latin typeface="Poppins"/>
                <a:ea typeface="Poppins"/>
                <a:cs typeface="Poppins"/>
                <a:sym typeface="Poppins"/>
              </a:rPr>
              <a:t>:</a:t>
            </a:r>
          </a:p>
          <a:p>
            <a:pPr algn="just" marL="601535" indent="-300768" lvl="1">
              <a:lnSpc>
                <a:spcPts val="3900"/>
              </a:lnSpc>
              <a:buFont typeface="Arial"/>
              <a:buChar char="•"/>
            </a:pPr>
            <a:r>
              <a:rPr lang="en-US" b="true" sz="2786" spc="-156">
                <a:solidFill>
                  <a:srgbClr val="000000"/>
                </a:solidFill>
                <a:latin typeface="Poppins Bold"/>
                <a:ea typeface="Poppins Bold"/>
                <a:cs typeface="Poppins Bold"/>
                <a:sym typeface="Poppins Bold"/>
              </a:rPr>
              <a:t>Size</a:t>
            </a:r>
            <a:r>
              <a:rPr lang="en-US" sz="2786" spc="-156">
                <a:solidFill>
                  <a:srgbClr val="000000"/>
                </a:solidFill>
                <a:latin typeface="Poppins"/>
                <a:ea typeface="Poppins"/>
                <a:cs typeface="Poppins"/>
                <a:sym typeface="Poppins"/>
              </a:rPr>
              <a:t>: 1.7 GB of plagiarism test cases</a:t>
            </a:r>
          </a:p>
          <a:p>
            <a:pPr algn="just" marL="601535" indent="-300768" lvl="1">
              <a:lnSpc>
                <a:spcPts val="3900"/>
              </a:lnSpc>
              <a:buFont typeface="Arial"/>
              <a:buChar char="•"/>
            </a:pPr>
            <a:r>
              <a:rPr lang="en-US" b="true" sz="2786" spc="-156">
                <a:solidFill>
                  <a:srgbClr val="000000"/>
                </a:solidFill>
                <a:latin typeface="Poppins Bold"/>
                <a:ea typeface="Poppins Bold"/>
                <a:cs typeface="Poppins Bold"/>
                <a:sym typeface="Poppins Bold"/>
              </a:rPr>
              <a:t>Institution</a:t>
            </a:r>
            <a:r>
              <a:rPr lang="en-US" sz="2786" spc="-156">
                <a:solidFill>
                  <a:srgbClr val="000000"/>
                </a:solidFill>
                <a:latin typeface="Poppins"/>
                <a:ea typeface="Poppins"/>
                <a:cs typeface="Poppins"/>
                <a:sym typeface="Poppins"/>
              </a:rPr>
              <a:t>: Created by Bauhaus-Universität Weimar and Universidad Polytécnica de Valencia</a:t>
            </a:r>
          </a:p>
          <a:p>
            <a:pPr algn="just" marL="601535" indent="-300768" lvl="1">
              <a:lnSpc>
                <a:spcPts val="3900"/>
              </a:lnSpc>
              <a:buFont typeface="Arial"/>
              <a:buChar char="•"/>
            </a:pPr>
            <a:r>
              <a:rPr lang="en-US" b="true" sz="2786" spc="-156">
                <a:solidFill>
                  <a:srgbClr val="000000"/>
                </a:solidFill>
                <a:latin typeface="Poppins Bold"/>
                <a:ea typeface="Poppins Bold"/>
                <a:cs typeface="Poppins Bold"/>
                <a:sym typeface="Poppins Bold"/>
              </a:rPr>
              <a:t>Purpose</a:t>
            </a:r>
            <a:r>
              <a:rPr lang="en-US" sz="2786" spc="-156">
                <a:solidFill>
                  <a:srgbClr val="000000"/>
                </a:solidFill>
                <a:latin typeface="Poppins"/>
                <a:ea typeface="Poppins"/>
                <a:cs typeface="Poppins"/>
                <a:sym typeface="Poppins"/>
              </a:rPr>
              <a:t>: Benchmark corpus specifically designed for evaluating automatic plagiarism detection algorithms</a:t>
            </a:r>
          </a:p>
          <a:p>
            <a:pPr algn="just" marL="601535" indent="-300768" lvl="1">
              <a:lnSpc>
                <a:spcPts val="3900"/>
              </a:lnSpc>
              <a:buFont typeface="Arial"/>
              <a:buChar char="•"/>
            </a:pPr>
            <a:r>
              <a:rPr lang="en-US" b="true" sz="2786" spc="-156">
                <a:solidFill>
                  <a:srgbClr val="000000"/>
                </a:solidFill>
                <a:latin typeface="Poppins Bold"/>
                <a:ea typeface="Poppins Bold"/>
                <a:cs typeface="Poppins Bold"/>
                <a:sym typeface="Poppins Bold"/>
              </a:rPr>
              <a:t>Content Types:</a:t>
            </a:r>
          </a:p>
          <a:p>
            <a:pPr algn="just" marL="1203070" indent="-401023" lvl="2">
              <a:lnSpc>
                <a:spcPts val="3900"/>
              </a:lnSpc>
              <a:buFont typeface="Arial"/>
              <a:buChar char="⚬"/>
            </a:pPr>
            <a:r>
              <a:rPr lang="en-US" sz="2786" spc="-156">
                <a:solidFill>
                  <a:srgbClr val="000000"/>
                </a:solidFill>
                <a:latin typeface="Poppins"/>
                <a:ea typeface="Poppins"/>
                <a:cs typeface="Poppins"/>
                <a:sym typeface="Poppins"/>
              </a:rPr>
              <a:t>Automatic plagiarism (ins</a:t>
            </a:r>
            <a:r>
              <a:rPr lang="en-US" sz="2786" spc="-156">
                <a:solidFill>
                  <a:srgbClr val="000000"/>
                </a:solidFill>
                <a:latin typeface="Poppins"/>
                <a:ea typeface="Poppins"/>
                <a:cs typeface="Poppins"/>
                <a:sym typeface="Poppins"/>
              </a:rPr>
              <a:t>erted by algorithms)</a:t>
            </a:r>
          </a:p>
          <a:p>
            <a:pPr algn="just" marL="1203070" indent="-401023" lvl="2">
              <a:lnSpc>
                <a:spcPts val="3900"/>
              </a:lnSpc>
              <a:buFont typeface="Arial"/>
              <a:buChar char="⚬"/>
            </a:pPr>
            <a:r>
              <a:rPr lang="en-US" sz="2786" spc="-156">
                <a:solidFill>
                  <a:srgbClr val="000000"/>
                </a:solidFill>
                <a:latin typeface="Poppins"/>
                <a:ea typeface="Poppins"/>
                <a:cs typeface="Poppins"/>
                <a:sym typeface="Poppins"/>
              </a:rPr>
              <a:t>Manual plagiarism (created via crowdsourcing on </a:t>
            </a:r>
            <a:r>
              <a:rPr lang="en-US" sz="2786" spc="-156">
                <a:solidFill>
                  <a:srgbClr val="000000"/>
                </a:solidFill>
                <a:latin typeface="Poppins"/>
                <a:ea typeface="Poppins"/>
                <a:cs typeface="Poppins"/>
                <a:sym typeface="Poppins"/>
              </a:rPr>
              <a:t>Amazon Me</a:t>
            </a:r>
            <a:r>
              <a:rPr lang="en-US" sz="2786" spc="-156">
                <a:solidFill>
                  <a:srgbClr val="000000"/>
                </a:solidFill>
                <a:latin typeface="Poppins"/>
                <a:ea typeface="Poppins"/>
                <a:cs typeface="Poppins"/>
                <a:sym typeface="Poppins"/>
              </a:rPr>
              <a:t>chanical Turk)</a:t>
            </a:r>
          </a:p>
          <a:p>
            <a:pPr algn="just" marL="601535" indent="-300768" lvl="1">
              <a:lnSpc>
                <a:spcPts val="3900"/>
              </a:lnSpc>
              <a:buFont typeface="Arial"/>
              <a:buChar char="•"/>
            </a:pPr>
            <a:r>
              <a:rPr lang="en-US" b="true" sz="2786" spc="-156">
                <a:solidFill>
                  <a:srgbClr val="000000"/>
                </a:solidFill>
                <a:latin typeface="Poppins Bold"/>
                <a:ea typeface="Poppins Bold"/>
                <a:cs typeface="Poppins Bold"/>
                <a:sym typeface="Poppins Bold"/>
              </a:rPr>
              <a:t>Research Use</a:t>
            </a:r>
            <a:r>
              <a:rPr lang="en-US" sz="2786" spc="-156">
                <a:solidFill>
                  <a:srgbClr val="000000"/>
                </a:solidFill>
                <a:latin typeface="Poppins"/>
                <a:ea typeface="Poppins"/>
                <a:cs typeface="Poppins"/>
                <a:sym typeface="Poppins"/>
              </a:rPr>
              <a:t>: Free for academic and research purposes</a:t>
            </a:r>
          </a:p>
        </p:txBody>
      </p:sp>
      <p:grpSp>
        <p:nvGrpSpPr>
          <p:cNvPr name="Group 22" id="22"/>
          <p:cNvGrpSpPr/>
          <p:nvPr/>
        </p:nvGrpSpPr>
        <p:grpSpPr>
          <a:xfrm rot="0">
            <a:off x="588721" y="7135866"/>
            <a:ext cx="17110558" cy="2972895"/>
            <a:chOff x="0" y="0"/>
            <a:chExt cx="3829155" cy="665301"/>
          </a:xfrm>
        </p:grpSpPr>
        <p:sp>
          <p:nvSpPr>
            <p:cNvPr name="Freeform 23" id="23"/>
            <p:cNvSpPr/>
            <p:nvPr/>
          </p:nvSpPr>
          <p:spPr>
            <a:xfrm flipH="false" flipV="false" rot="0">
              <a:off x="0" y="0"/>
              <a:ext cx="3829155" cy="665301"/>
            </a:xfrm>
            <a:custGeom>
              <a:avLst/>
              <a:gdLst/>
              <a:ahLst/>
              <a:cxnLst/>
              <a:rect r="r" b="b" t="t" l="l"/>
              <a:pathLst>
                <a:path h="665301" w="3829155">
                  <a:moveTo>
                    <a:pt x="23076" y="0"/>
                  </a:moveTo>
                  <a:lnTo>
                    <a:pt x="3806079" y="0"/>
                  </a:lnTo>
                  <a:cubicBezTo>
                    <a:pt x="3818824" y="0"/>
                    <a:pt x="3829155" y="10331"/>
                    <a:pt x="3829155" y="23076"/>
                  </a:cubicBezTo>
                  <a:lnTo>
                    <a:pt x="3829155" y="642226"/>
                  </a:lnTo>
                  <a:cubicBezTo>
                    <a:pt x="3829155" y="648346"/>
                    <a:pt x="3826724" y="654215"/>
                    <a:pt x="3822396" y="658543"/>
                  </a:cubicBezTo>
                  <a:cubicBezTo>
                    <a:pt x="3818069" y="662870"/>
                    <a:pt x="3812199" y="665301"/>
                    <a:pt x="3806079" y="665301"/>
                  </a:cubicBezTo>
                  <a:lnTo>
                    <a:pt x="23076" y="665301"/>
                  </a:lnTo>
                  <a:cubicBezTo>
                    <a:pt x="10331" y="665301"/>
                    <a:pt x="0" y="654970"/>
                    <a:pt x="0" y="642226"/>
                  </a:cubicBezTo>
                  <a:lnTo>
                    <a:pt x="0" y="23076"/>
                  </a:lnTo>
                  <a:cubicBezTo>
                    <a:pt x="0" y="10331"/>
                    <a:pt x="10331" y="0"/>
                    <a:pt x="23076" y="0"/>
                  </a:cubicBezTo>
                  <a:close/>
                </a:path>
              </a:pathLst>
            </a:custGeom>
            <a:solidFill>
              <a:srgbClr val="7281FE"/>
            </a:solidFill>
          </p:spPr>
        </p:sp>
        <p:sp>
          <p:nvSpPr>
            <p:cNvPr name="TextBox 24" id="24"/>
            <p:cNvSpPr txBox="true"/>
            <p:nvPr/>
          </p:nvSpPr>
          <p:spPr>
            <a:xfrm>
              <a:off x="0" y="-66675"/>
              <a:ext cx="3829155" cy="731976"/>
            </a:xfrm>
            <a:prstGeom prst="rect">
              <a:avLst/>
            </a:prstGeom>
          </p:spPr>
          <p:txBody>
            <a:bodyPr anchor="ctr" rtlCol="false" tIns="50800" lIns="50800" bIns="50800" rIns="50800"/>
            <a:lstStyle/>
            <a:p>
              <a:pPr algn="ctr">
                <a:lnSpc>
                  <a:spcPts val="2800"/>
                </a:lnSpc>
              </a:pPr>
            </a:p>
          </p:txBody>
        </p:sp>
      </p:grpSp>
      <p:sp>
        <p:nvSpPr>
          <p:cNvPr name="TextBox 25" id="25"/>
          <p:cNvSpPr txBox="true"/>
          <p:nvPr/>
        </p:nvSpPr>
        <p:spPr>
          <a:xfrm rot="0">
            <a:off x="1011230" y="7307316"/>
            <a:ext cx="16248070" cy="2491456"/>
          </a:xfrm>
          <a:prstGeom prst="rect">
            <a:avLst/>
          </a:prstGeom>
        </p:spPr>
        <p:txBody>
          <a:bodyPr anchor="t" rtlCol="false" tIns="0" lIns="0" bIns="0" rIns="0">
            <a:spAutoFit/>
          </a:bodyPr>
          <a:lstStyle/>
          <a:p>
            <a:pPr algn="just">
              <a:lnSpc>
                <a:spcPts val="3900"/>
              </a:lnSpc>
            </a:pPr>
            <a:r>
              <a:rPr lang="en-US" b="true" sz="2786" spc="-156">
                <a:solidFill>
                  <a:srgbClr val="000000"/>
                </a:solidFill>
                <a:latin typeface="Poppins Bold"/>
                <a:ea typeface="Poppins Bold"/>
                <a:cs typeface="Poppins Bold"/>
                <a:sym typeface="Poppins Bold"/>
              </a:rPr>
              <a:t>Why We Used PAN-PC-11:</a:t>
            </a:r>
          </a:p>
          <a:p>
            <a:pPr algn="just" marL="601535" indent="-300768" lvl="1">
              <a:lnSpc>
                <a:spcPts val="3900"/>
              </a:lnSpc>
              <a:buFont typeface="Arial"/>
              <a:buChar char="•"/>
            </a:pPr>
            <a:r>
              <a:rPr lang="en-US" sz="2786" spc="-156">
                <a:solidFill>
                  <a:srgbClr val="000000"/>
                </a:solidFill>
                <a:latin typeface="Poppins"/>
                <a:ea typeface="Poppins"/>
                <a:cs typeface="Poppins"/>
                <a:sym typeface="Poppins"/>
              </a:rPr>
              <a:t>Industry-standard benchmark for plagiarism detection research</a:t>
            </a:r>
          </a:p>
          <a:p>
            <a:pPr algn="just" marL="601535" indent="-300768" lvl="1">
              <a:lnSpc>
                <a:spcPts val="3900"/>
              </a:lnSpc>
              <a:buFont typeface="Arial"/>
              <a:buChar char="•"/>
            </a:pPr>
            <a:r>
              <a:rPr lang="en-US" sz="2786" spc="-156">
                <a:solidFill>
                  <a:srgbClr val="000000"/>
                </a:solidFill>
                <a:latin typeface="Poppins"/>
                <a:ea typeface="Poppins"/>
                <a:cs typeface="Poppins"/>
                <a:sym typeface="Poppins"/>
              </a:rPr>
              <a:t>Contains realistic plagiarism sc</a:t>
            </a:r>
            <a:r>
              <a:rPr lang="en-US" sz="2786" spc="-156">
                <a:solidFill>
                  <a:srgbClr val="000000"/>
                </a:solidFill>
                <a:latin typeface="Poppins"/>
                <a:ea typeface="Poppins"/>
                <a:cs typeface="Poppins"/>
                <a:sym typeface="Poppins"/>
              </a:rPr>
              <a:t>enarios (both automatic and human-generated)</a:t>
            </a:r>
          </a:p>
          <a:p>
            <a:pPr algn="just" marL="601535" indent="-300768" lvl="1">
              <a:lnSpc>
                <a:spcPts val="3900"/>
              </a:lnSpc>
              <a:buFont typeface="Arial"/>
              <a:buChar char="•"/>
            </a:pPr>
            <a:r>
              <a:rPr lang="en-US" sz="2786" spc="-156">
                <a:solidFill>
                  <a:srgbClr val="000000"/>
                </a:solidFill>
                <a:latin typeface="Poppins"/>
                <a:ea typeface="Poppins"/>
                <a:cs typeface="Poppins"/>
                <a:sym typeface="Poppins"/>
              </a:rPr>
              <a:t>Provides ground truth labels for valid</a:t>
            </a:r>
            <a:r>
              <a:rPr lang="en-US" sz="2786" spc="-156">
                <a:solidFill>
                  <a:srgbClr val="000000"/>
                </a:solidFill>
                <a:latin typeface="Poppins"/>
                <a:ea typeface="Poppins"/>
                <a:cs typeface="Poppins"/>
                <a:sym typeface="Poppins"/>
              </a:rPr>
              <a:t>ation</a:t>
            </a:r>
          </a:p>
          <a:p>
            <a:pPr algn="just" marL="601535" indent="-300768" lvl="1">
              <a:lnSpc>
                <a:spcPts val="3900"/>
              </a:lnSpc>
              <a:buFont typeface="Arial"/>
              <a:buChar char="•"/>
            </a:pPr>
            <a:r>
              <a:rPr lang="en-US" sz="2786" spc="-156">
                <a:solidFill>
                  <a:srgbClr val="000000"/>
                </a:solidFill>
                <a:latin typeface="Poppins"/>
                <a:ea typeface="Poppins"/>
                <a:cs typeface="Poppins"/>
                <a:sym typeface="Poppins"/>
              </a:rPr>
              <a:t>E</a:t>
            </a:r>
            <a:r>
              <a:rPr lang="en-US" sz="2786" spc="-156">
                <a:solidFill>
                  <a:srgbClr val="000000"/>
                </a:solidFill>
                <a:latin typeface="Poppins"/>
                <a:ea typeface="Poppins"/>
                <a:cs typeface="Poppins"/>
                <a:sym typeface="Poppins"/>
              </a:rPr>
              <a:t>nables comparison with other plagiarism detection systems</a:t>
            </a: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689571"/>
            <a:ext cx="15157465" cy="912495"/>
            <a:chOff x="0" y="0"/>
            <a:chExt cx="20209953" cy="1216660"/>
          </a:xfrm>
        </p:grpSpPr>
        <p:grpSp>
          <p:nvGrpSpPr>
            <p:cNvPr name="Group 9" id="9"/>
            <p:cNvGrpSpPr/>
            <p:nvPr/>
          </p:nvGrpSpPr>
          <p:grpSpPr>
            <a:xfrm rot="0">
              <a:off x="0" y="50792"/>
              <a:ext cx="271668" cy="1115076"/>
              <a:chOff x="0" y="0"/>
              <a:chExt cx="53663" cy="220262"/>
            </a:xfrm>
          </p:grpSpPr>
          <p:sp>
            <p:nvSpPr>
              <p:cNvPr name="Freeform 10" id="10"/>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1" id="11"/>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sp>
          <p:nvSpPr>
            <p:cNvPr name="TextBox 12" id="12"/>
            <p:cNvSpPr txBox="true"/>
            <p:nvPr/>
          </p:nvSpPr>
          <p:spPr>
            <a:xfrm rot="0">
              <a:off x="552736" y="28575"/>
              <a:ext cx="19657217" cy="1188085"/>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VERDICT THRESHOLDS &amp; CODE</a:t>
              </a:r>
            </a:p>
          </p:txBody>
        </p:sp>
      </p:grpSp>
      <p:grpSp>
        <p:nvGrpSpPr>
          <p:cNvPr name="Group 13" id="13"/>
          <p:cNvGrpSpPr/>
          <p:nvPr/>
        </p:nvGrpSpPr>
        <p:grpSpPr>
          <a:xfrm rot="0">
            <a:off x="632753" y="1895422"/>
            <a:ext cx="17022494" cy="4022454"/>
            <a:chOff x="0" y="0"/>
            <a:chExt cx="22696658" cy="5363271"/>
          </a:xfrm>
        </p:grpSpPr>
        <p:grpSp>
          <p:nvGrpSpPr>
            <p:cNvPr name="Group 14" id="14"/>
            <p:cNvGrpSpPr/>
            <p:nvPr/>
          </p:nvGrpSpPr>
          <p:grpSpPr>
            <a:xfrm rot="0">
              <a:off x="0" y="0"/>
              <a:ext cx="22696658" cy="5363271"/>
              <a:chOff x="0" y="0"/>
              <a:chExt cx="6631238" cy="1566976"/>
            </a:xfrm>
          </p:grpSpPr>
          <p:sp>
            <p:nvSpPr>
              <p:cNvPr name="Freeform 15" id="15"/>
              <p:cNvSpPr/>
              <p:nvPr/>
            </p:nvSpPr>
            <p:spPr>
              <a:xfrm flipH="false" flipV="false" rot="0">
                <a:off x="0" y="0"/>
                <a:ext cx="6631238" cy="1566976"/>
              </a:xfrm>
              <a:custGeom>
                <a:avLst/>
                <a:gdLst/>
                <a:ahLst/>
                <a:cxnLst/>
                <a:rect r="r" b="b" t="t" l="l"/>
                <a:pathLst>
                  <a:path h="1566976" w="6631238">
                    <a:moveTo>
                      <a:pt x="8641" y="0"/>
                    </a:moveTo>
                    <a:lnTo>
                      <a:pt x="6622597" y="0"/>
                    </a:lnTo>
                    <a:cubicBezTo>
                      <a:pt x="6624889" y="0"/>
                      <a:pt x="6627086" y="910"/>
                      <a:pt x="6628707" y="2531"/>
                    </a:cubicBezTo>
                    <a:cubicBezTo>
                      <a:pt x="6630327" y="4152"/>
                      <a:pt x="6631238" y="6349"/>
                      <a:pt x="6631238" y="8641"/>
                    </a:cubicBezTo>
                    <a:lnTo>
                      <a:pt x="6631238" y="1558335"/>
                    </a:lnTo>
                    <a:cubicBezTo>
                      <a:pt x="6631238" y="1560627"/>
                      <a:pt x="6630327" y="1562825"/>
                      <a:pt x="6628707" y="1564445"/>
                    </a:cubicBezTo>
                    <a:cubicBezTo>
                      <a:pt x="6627086" y="1566066"/>
                      <a:pt x="6624889" y="1566976"/>
                      <a:pt x="6622597" y="1566976"/>
                    </a:cubicBezTo>
                    <a:lnTo>
                      <a:pt x="8641" y="1566976"/>
                    </a:lnTo>
                    <a:cubicBezTo>
                      <a:pt x="3869" y="1566976"/>
                      <a:pt x="0" y="1563107"/>
                      <a:pt x="0" y="1558335"/>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16" id="16"/>
              <p:cNvSpPr txBox="true"/>
              <p:nvPr/>
            </p:nvSpPr>
            <p:spPr>
              <a:xfrm>
                <a:off x="0" y="-57150"/>
                <a:ext cx="6631238" cy="1624126"/>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362657" y="85120"/>
              <a:ext cx="21971344" cy="5088256"/>
            </a:xfrm>
            <a:prstGeom prst="rect">
              <a:avLst/>
            </a:prstGeom>
          </p:spPr>
          <p:txBody>
            <a:bodyPr anchor="t" rtlCol="false" tIns="0" lIns="0" bIns="0" rIns="0">
              <a:spAutoFit/>
            </a:bodyPr>
            <a:lstStyle/>
            <a:p>
              <a:pPr algn="just">
                <a:lnSpc>
                  <a:spcPts val="5039"/>
                </a:lnSpc>
              </a:pPr>
              <a:r>
                <a:rPr lang="en-US" b="true" sz="3599" spc="-201">
                  <a:solidFill>
                    <a:srgbClr val="000000"/>
                  </a:solidFill>
                  <a:latin typeface="Poppins Bold"/>
                  <a:ea typeface="Poppins Bold"/>
                  <a:cs typeface="Poppins Bold"/>
                  <a:sym typeface="Poppins Bold"/>
                </a:rPr>
                <a:t>Why Our Implementation?</a:t>
              </a:r>
            </a:p>
            <a:p>
              <a:pPr algn="l" marL="777234" indent="-388617" lvl="1">
                <a:lnSpc>
                  <a:spcPts val="5039"/>
                </a:lnSpc>
                <a:buFont typeface="Arial"/>
                <a:buChar char="•"/>
              </a:pPr>
              <a:r>
                <a:rPr lang="en-US" b="true" sz="3599" spc="-201">
                  <a:solidFill>
                    <a:srgbClr val="000000"/>
                  </a:solidFill>
                  <a:latin typeface="Poppins Bold"/>
                  <a:ea typeface="Poppins Bold"/>
                  <a:cs typeface="Poppins Bold"/>
                  <a:sym typeface="Poppins Bold"/>
                </a:rPr>
                <a:t>Lightweight BERT</a:t>
              </a:r>
              <a:r>
                <a:rPr lang="en-US" sz="3599" spc="-201">
                  <a:solidFill>
                    <a:srgbClr val="000000"/>
                  </a:solidFill>
                  <a:latin typeface="Poppins"/>
                  <a:ea typeface="Poppins"/>
                  <a:cs typeface="Poppins"/>
                  <a:sym typeface="Poppins"/>
                </a:rPr>
                <a:t> (80MB vs 400MB+)</a:t>
              </a:r>
            </a:p>
            <a:p>
              <a:pPr algn="l" marL="777234" indent="-388617" lvl="1">
                <a:lnSpc>
                  <a:spcPts val="5039"/>
                </a:lnSpc>
                <a:buFont typeface="Arial"/>
                <a:buChar char="•"/>
              </a:pPr>
              <a:r>
                <a:rPr lang="en-US" b="true" sz="3599" spc="-201">
                  <a:solidFill>
                    <a:srgbClr val="000000"/>
                  </a:solidFill>
                  <a:latin typeface="Poppins Bold"/>
                  <a:ea typeface="Poppins Bold"/>
                  <a:cs typeface="Poppins Bold"/>
                  <a:sym typeface="Poppins Bold"/>
                </a:rPr>
                <a:t>Cached models</a:t>
              </a:r>
              <a:r>
                <a:rPr lang="en-US" sz="3599" spc="-201">
                  <a:solidFill>
                    <a:srgbClr val="000000"/>
                  </a:solidFill>
                  <a:latin typeface="Poppins"/>
                  <a:ea typeface="Poppins"/>
                  <a:cs typeface="Poppins"/>
                  <a:sym typeface="Poppins"/>
                </a:rPr>
                <a:t> (@st.cache_resource)</a:t>
              </a:r>
            </a:p>
            <a:p>
              <a:pPr algn="l" marL="777234" indent="-388617" lvl="1">
                <a:lnSpc>
                  <a:spcPts val="5039"/>
                </a:lnSpc>
                <a:buFont typeface="Arial"/>
                <a:buChar char="•"/>
              </a:pPr>
              <a:r>
                <a:rPr lang="en-US" b="true" sz="3599" spc="-201">
                  <a:solidFill>
                    <a:srgbClr val="000000"/>
                  </a:solidFill>
                  <a:latin typeface="Poppins Bold"/>
                  <a:ea typeface="Poppins Bold"/>
                  <a:cs typeface="Poppins Bold"/>
                  <a:sym typeface="Poppins Bold"/>
                </a:rPr>
                <a:t>Secure config</a:t>
              </a:r>
              <a:r>
                <a:rPr lang="en-US" sz="3599" spc="-201">
                  <a:solidFill>
                    <a:srgbClr val="000000"/>
                  </a:solidFill>
                  <a:latin typeface="Poppins"/>
                  <a:ea typeface="Poppins"/>
                  <a:cs typeface="Poppins"/>
                  <a:sym typeface="Poppins"/>
                </a:rPr>
                <a:t> (separate API keys)</a:t>
              </a:r>
            </a:p>
            <a:p>
              <a:pPr algn="l" marL="777234" indent="-388617" lvl="1">
                <a:lnSpc>
                  <a:spcPts val="5039"/>
                </a:lnSpc>
                <a:buFont typeface="Arial"/>
                <a:buChar char="•"/>
              </a:pPr>
              <a:r>
                <a:rPr lang="en-US" b="true" sz="3599" spc="-201">
                  <a:solidFill>
                    <a:srgbClr val="000000"/>
                  </a:solidFill>
                  <a:latin typeface="Poppins Bold"/>
                  <a:ea typeface="Poppins Bold"/>
                  <a:cs typeface="Poppins Bold"/>
                  <a:sym typeface="Poppins Bold"/>
                </a:rPr>
                <a:t>Transparent scores</a:t>
              </a:r>
              <a:r>
                <a:rPr lang="en-US" sz="3599" spc="-201">
                  <a:solidFill>
                    <a:srgbClr val="000000"/>
                  </a:solidFill>
                  <a:latin typeface="Poppins"/>
                  <a:ea typeface="Poppins"/>
                  <a:cs typeface="Poppins"/>
                  <a:sym typeface="Poppins"/>
                </a:rPr>
                <a:t> (show all 3 metrics)</a:t>
              </a:r>
            </a:p>
            <a:p>
              <a:pPr algn="l" marL="777234" indent="-388617" lvl="1">
                <a:lnSpc>
                  <a:spcPts val="5039"/>
                </a:lnSpc>
                <a:spcBef>
                  <a:spcPct val="0"/>
                </a:spcBef>
                <a:buFont typeface="Arial"/>
                <a:buChar char="•"/>
              </a:pPr>
              <a:r>
                <a:rPr lang="en-US" b="true" sz="3599" spc="-201">
                  <a:solidFill>
                    <a:srgbClr val="000000"/>
                  </a:solidFill>
                  <a:latin typeface="Poppins Bold"/>
                  <a:ea typeface="Poppins Bold"/>
                  <a:cs typeface="Poppins Bold"/>
                  <a:sym typeface="Poppins Bold"/>
                </a:rPr>
                <a:t>Optimized weights</a:t>
              </a:r>
              <a:r>
                <a:rPr lang="en-US" sz="3599" spc="-201">
                  <a:solidFill>
                    <a:srgbClr val="000000"/>
                  </a:solidFill>
                  <a:latin typeface="Poppins"/>
                  <a:ea typeface="Poppins"/>
                  <a:cs typeface="Poppins"/>
                  <a:sym typeface="Poppins"/>
                </a:rPr>
                <a:t> (40/60 via testing)</a:t>
              </a:r>
            </a:p>
          </p:txBody>
        </p:sp>
      </p:grpSp>
      <p:grpSp>
        <p:nvGrpSpPr>
          <p:cNvPr name="Group 18" id="18"/>
          <p:cNvGrpSpPr/>
          <p:nvPr/>
        </p:nvGrpSpPr>
        <p:grpSpPr>
          <a:xfrm rot="0">
            <a:off x="632753" y="6213151"/>
            <a:ext cx="17022494" cy="3384279"/>
            <a:chOff x="0" y="0"/>
            <a:chExt cx="22696658" cy="4512371"/>
          </a:xfrm>
        </p:grpSpPr>
        <p:grpSp>
          <p:nvGrpSpPr>
            <p:cNvPr name="Group 19" id="19"/>
            <p:cNvGrpSpPr/>
            <p:nvPr/>
          </p:nvGrpSpPr>
          <p:grpSpPr>
            <a:xfrm rot="0">
              <a:off x="0" y="0"/>
              <a:ext cx="22696658" cy="4512371"/>
              <a:chOff x="0" y="0"/>
              <a:chExt cx="6631238" cy="1318371"/>
            </a:xfrm>
          </p:grpSpPr>
          <p:sp>
            <p:nvSpPr>
              <p:cNvPr name="Freeform 20" id="20"/>
              <p:cNvSpPr/>
              <p:nvPr/>
            </p:nvSpPr>
            <p:spPr>
              <a:xfrm flipH="false" flipV="false" rot="0">
                <a:off x="0" y="0"/>
                <a:ext cx="6631238" cy="1318371"/>
              </a:xfrm>
              <a:custGeom>
                <a:avLst/>
                <a:gdLst/>
                <a:ahLst/>
                <a:cxnLst/>
                <a:rect r="r" b="b" t="t" l="l"/>
                <a:pathLst>
                  <a:path h="1318371" w="6631238">
                    <a:moveTo>
                      <a:pt x="8641" y="0"/>
                    </a:moveTo>
                    <a:lnTo>
                      <a:pt x="6622597" y="0"/>
                    </a:lnTo>
                    <a:cubicBezTo>
                      <a:pt x="6624889" y="0"/>
                      <a:pt x="6627086" y="910"/>
                      <a:pt x="6628707" y="2531"/>
                    </a:cubicBezTo>
                    <a:cubicBezTo>
                      <a:pt x="6630327" y="4152"/>
                      <a:pt x="6631238" y="6349"/>
                      <a:pt x="6631238" y="8641"/>
                    </a:cubicBezTo>
                    <a:lnTo>
                      <a:pt x="6631238" y="1309729"/>
                    </a:lnTo>
                    <a:cubicBezTo>
                      <a:pt x="6631238" y="1312021"/>
                      <a:pt x="6630327" y="1314219"/>
                      <a:pt x="6628707" y="1315840"/>
                    </a:cubicBezTo>
                    <a:cubicBezTo>
                      <a:pt x="6627086" y="1317460"/>
                      <a:pt x="6624889" y="1318371"/>
                      <a:pt x="6622597" y="1318371"/>
                    </a:cubicBezTo>
                    <a:lnTo>
                      <a:pt x="8641" y="1318371"/>
                    </a:lnTo>
                    <a:cubicBezTo>
                      <a:pt x="6349" y="1318371"/>
                      <a:pt x="4152" y="1317460"/>
                      <a:pt x="2531" y="1315840"/>
                    </a:cubicBezTo>
                    <a:cubicBezTo>
                      <a:pt x="910" y="1314219"/>
                      <a:pt x="0" y="1312021"/>
                      <a:pt x="0" y="1309729"/>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21" id="21"/>
              <p:cNvSpPr txBox="true"/>
              <p:nvPr/>
            </p:nvSpPr>
            <p:spPr>
              <a:xfrm>
                <a:off x="0" y="-57150"/>
                <a:ext cx="6631238" cy="1375521"/>
              </a:xfrm>
              <a:prstGeom prst="rect">
                <a:avLst/>
              </a:prstGeom>
            </p:spPr>
            <p:txBody>
              <a:bodyPr anchor="ctr" rtlCol="false" tIns="50800" lIns="50800" bIns="50800" rIns="50800"/>
              <a:lstStyle/>
              <a:p>
                <a:pPr algn="ctr">
                  <a:lnSpc>
                    <a:spcPts val="2940"/>
                  </a:lnSpc>
                </a:pPr>
              </a:p>
            </p:txBody>
          </p:sp>
        </p:grpSp>
        <p:sp>
          <p:nvSpPr>
            <p:cNvPr name="TextBox 22" id="22"/>
            <p:cNvSpPr txBox="true"/>
            <p:nvPr/>
          </p:nvSpPr>
          <p:spPr>
            <a:xfrm rot="0">
              <a:off x="362657" y="85120"/>
              <a:ext cx="21971344" cy="4237356"/>
            </a:xfrm>
            <a:prstGeom prst="rect">
              <a:avLst/>
            </a:prstGeom>
          </p:spPr>
          <p:txBody>
            <a:bodyPr anchor="t" rtlCol="false" tIns="0" lIns="0" bIns="0" rIns="0">
              <a:spAutoFit/>
            </a:bodyPr>
            <a:lstStyle/>
            <a:p>
              <a:pPr algn="l">
                <a:lnSpc>
                  <a:spcPts val="5039"/>
                </a:lnSpc>
              </a:pPr>
              <a:r>
                <a:rPr lang="en-US" sz="3599" spc="-201" b="true">
                  <a:solidFill>
                    <a:srgbClr val="000000"/>
                  </a:solidFill>
                  <a:latin typeface="Poppins Bold"/>
                  <a:ea typeface="Poppins Bold"/>
                  <a:cs typeface="Poppins Bold"/>
                  <a:sym typeface="Poppins Bold"/>
                </a:rPr>
                <a:t>Libraries:</a:t>
              </a:r>
            </a:p>
            <a:p>
              <a:pPr algn="l">
                <a:lnSpc>
                  <a:spcPts val="5039"/>
                </a:lnSpc>
              </a:pPr>
              <a:r>
                <a:rPr lang="en-US" sz="3599" spc="-201">
                  <a:solidFill>
                    <a:srgbClr val="000000"/>
                  </a:solidFill>
                  <a:latin typeface="Poppins"/>
                  <a:ea typeface="Poppins"/>
                  <a:cs typeface="Poppins"/>
                  <a:sym typeface="Poppins"/>
                </a:rPr>
                <a:t>s</a:t>
              </a:r>
              <a:r>
                <a:rPr lang="en-US" sz="3599" spc="-201">
                  <a:solidFill>
                    <a:srgbClr val="000000"/>
                  </a:solidFill>
                  <a:latin typeface="Poppins"/>
                  <a:ea typeface="Poppins"/>
                  <a:cs typeface="Poppins"/>
                  <a:sym typeface="Poppins"/>
                </a:rPr>
                <a:t>treamlit - UI</a:t>
              </a:r>
            </a:p>
            <a:p>
              <a:pPr algn="l">
                <a:lnSpc>
                  <a:spcPts val="5039"/>
                </a:lnSpc>
              </a:pPr>
              <a:r>
                <a:rPr lang="en-US" sz="3599" spc="-201">
                  <a:solidFill>
                    <a:srgbClr val="000000"/>
                  </a:solidFill>
                  <a:latin typeface="Poppins"/>
                  <a:ea typeface="Poppins"/>
                  <a:cs typeface="Poppins"/>
                  <a:sym typeface="Poppins"/>
                </a:rPr>
                <a:t>sentence-transformers - BERT</a:t>
              </a:r>
            </a:p>
            <a:p>
              <a:pPr algn="l">
                <a:lnSpc>
                  <a:spcPts val="5039"/>
                </a:lnSpc>
              </a:pPr>
              <a:r>
                <a:rPr lang="en-US" sz="3599" spc="-201">
                  <a:solidFill>
                    <a:srgbClr val="000000"/>
                  </a:solidFill>
                  <a:latin typeface="Poppins"/>
                  <a:ea typeface="Poppins"/>
                  <a:cs typeface="Poppins"/>
                  <a:sym typeface="Poppins"/>
                </a:rPr>
                <a:t>scikit-learn - TF-IDF</a:t>
              </a:r>
            </a:p>
            <a:p>
              <a:pPr algn="l">
                <a:lnSpc>
                  <a:spcPts val="5039"/>
                </a:lnSpc>
              </a:pPr>
              <a:r>
                <a:rPr lang="en-US" sz="3599" spc="-201">
                  <a:solidFill>
                    <a:srgbClr val="000000"/>
                  </a:solidFill>
                  <a:latin typeface="Poppins"/>
                  <a:ea typeface="Poppins"/>
                  <a:cs typeface="Poppins"/>
                  <a:sym typeface="Poppins"/>
                </a:rPr>
                <a:t>openai - Chatbot [file:43]</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377347"/>
            <a:ext cx="15157465" cy="912495"/>
            <a:chOff x="0" y="0"/>
            <a:chExt cx="20209953" cy="1216660"/>
          </a:xfrm>
        </p:grpSpPr>
        <p:grpSp>
          <p:nvGrpSpPr>
            <p:cNvPr name="Group 9" id="9"/>
            <p:cNvGrpSpPr/>
            <p:nvPr/>
          </p:nvGrpSpPr>
          <p:grpSpPr>
            <a:xfrm rot="0">
              <a:off x="0" y="50792"/>
              <a:ext cx="271668" cy="1115076"/>
              <a:chOff x="0" y="0"/>
              <a:chExt cx="53663" cy="220262"/>
            </a:xfrm>
          </p:grpSpPr>
          <p:sp>
            <p:nvSpPr>
              <p:cNvPr name="Freeform 10" id="10"/>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1" id="11"/>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sp>
          <p:nvSpPr>
            <p:cNvPr name="TextBox 12" id="12"/>
            <p:cNvSpPr txBox="true"/>
            <p:nvPr/>
          </p:nvSpPr>
          <p:spPr>
            <a:xfrm rot="0">
              <a:off x="552736" y="28575"/>
              <a:ext cx="19657217" cy="1188085"/>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KEY TECHNICAL ADVANTAGES</a:t>
              </a:r>
            </a:p>
          </p:txBody>
        </p:sp>
      </p:grpSp>
      <p:grpSp>
        <p:nvGrpSpPr>
          <p:cNvPr name="Group 13" id="13"/>
          <p:cNvGrpSpPr/>
          <p:nvPr/>
        </p:nvGrpSpPr>
        <p:grpSpPr>
          <a:xfrm rot="0">
            <a:off x="632753" y="1583198"/>
            <a:ext cx="17022494" cy="4589033"/>
            <a:chOff x="0" y="0"/>
            <a:chExt cx="22696658" cy="6118710"/>
          </a:xfrm>
        </p:grpSpPr>
        <p:grpSp>
          <p:nvGrpSpPr>
            <p:cNvPr name="Group 14" id="14"/>
            <p:cNvGrpSpPr/>
            <p:nvPr/>
          </p:nvGrpSpPr>
          <p:grpSpPr>
            <a:xfrm rot="0">
              <a:off x="0" y="0"/>
              <a:ext cx="22696658" cy="6118710"/>
              <a:chOff x="0" y="0"/>
              <a:chExt cx="6631238" cy="1787691"/>
            </a:xfrm>
          </p:grpSpPr>
          <p:sp>
            <p:nvSpPr>
              <p:cNvPr name="Freeform 15" id="15"/>
              <p:cNvSpPr/>
              <p:nvPr/>
            </p:nvSpPr>
            <p:spPr>
              <a:xfrm flipH="false" flipV="false" rot="0">
                <a:off x="0" y="0"/>
                <a:ext cx="6631238" cy="1787691"/>
              </a:xfrm>
              <a:custGeom>
                <a:avLst/>
                <a:gdLst/>
                <a:ahLst/>
                <a:cxnLst/>
                <a:rect r="r" b="b" t="t" l="l"/>
                <a:pathLst>
                  <a:path h="1787691" w="6631238">
                    <a:moveTo>
                      <a:pt x="8641" y="0"/>
                    </a:moveTo>
                    <a:lnTo>
                      <a:pt x="6622597" y="0"/>
                    </a:lnTo>
                    <a:cubicBezTo>
                      <a:pt x="6624889" y="0"/>
                      <a:pt x="6627086" y="910"/>
                      <a:pt x="6628707" y="2531"/>
                    </a:cubicBezTo>
                    <a:cubicBezTo>
                      <a:pt x="6630327" y="4152"/>
                      <a:pt x="6631238" y="6349"/>
                      <a:pt x="6631238" y="8641"/>
                    </a:cubicBezTo>
                    <a:lnTo>
                      <a:pt x="6631238" y="1779050"/>
                    </a:lnTo>
                    <a:cubicBezTo>
                      <a:pt x="6631238" y="1781342"/>
                      <a:pt x="6630327" y="1783540"/>
                      <a:pt x="6628707" y="1785160"/>
                    </a:cubicBezTo>
                    <a:cubicBezTo>
                      <a:pt x="6627086" y="1786781"/>
                      <a:pt x="6624889" y="1787691"/>
                      <a:pt x="6622597" y="1787691"/>
                    </a:cubicBezTo>
                    <a:lnTo>
                      <a:pt x="8641" y="1787691"/>
                    </a:lnTo>
                    <a:cubicBezTo>
                      <a:pt x="6349" y="1787691"/>
                      <a:pt x="4152" y="1786781"/>
                      <a:pt x="2531" y="1785160"/>
                    </a:cubicBezTo>
                    <a:cubicBezTo>
                      <a:pt x="910" y="1783540"/>
                      <a:pt x="0" y="1781342"/>
                      <a:pt x="0" y="1779050"/>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16" id="16"/>
              <p:cNvSpPr txBox="true"/>
              <p:nvPr/>
            </p:nvSpPr>
            <p:spPr>
              <a:xfrm>
                <a:off x="0" y="-38100"/>
                <a:ext cx="6631238" cy="1825791"/>
              </a:xfrm>
              <a:prstGeom prst="rect">
                <a:avLst/>
              </a:prstGeom>
            </p:spPr>
            <p:txBody>
              <a:bodyPr anchor="ctr" rtlCol="false" tIns="50800" lIns="50800" bIns="50800" rIns="50800"/>
              <a:lstStyle/>
              <a:p>
                <a:pPr algn="ctr">
                  <a:lnSpc>
                    <a:spcPts val="1820"/>
                  </a:lnSpc>
                </a:pPr>
              </a:p>
            </p:txBody>
          </p:sp>
        </p:grpSp>
        <p:sp>
          <p:nvSpPr>
            <p:cNvPr name="TextBox 17" id="17"/>
            <p:cNvSpPr txBox="true"/>
            <p:nvPr/>
          </p:nvSpPr>
          <p:spPr>
            <a:xfrm rot="0">
              <a:off x="271668" y="313115"/>
              <a:ext cx="21971344" cy="5465022"/>
            </a:xfrm>
            <a:prstGeom prst="rect">
              <a:avLst/>
            </a:prstGeom>
          </p:spPr>
          <p:txBody>
            <a:bodyPr anchor="t" rtlCol="false" tIns="0" lIns="0" bIns="0" rIns="0">
              <a:spAutoFit/>
            </a:bodyPr>
            <a:lstStyle/>
            <a:p>
              <a:pPr algn="just">
                <a:lnSpc>
                  <a:spcPts val="3639"/>
                </a:lnSpc>
              </a:pPr>
              <a:r>
                <a:rPr lang="en-US" b="true" sz="2599" spc="-145">
                  <a:solidFill>
                    <a:srgbClr val="000000"/>
                  </a:solidFill>
                  <a:latin typeface="Poppins Bold"/>
                  <a:ea typeface="Poppins Bold"/>
                  <a:cs typeface="Poppins Bold"/>
                  <a:sym typeface="Poppins Bold"/>
                </a:rPr>
                <a:t>Threshold Logic:</a:t>
              </a:r>
            </a:p>
            <a:p>
              <a:pPr algn="just">
                <a:lnSpc>
                  <a:spcPts val="3639"/>
                </a:lnSpc>
              </a:pPr>
              <a:r>
                <a:rPr lang="en-US" sz="2599" spc="-145">
                  <a:solidFill>
                    <a:srgbClr val="000000"/>
                  </a:solidFill>
                  <a:latin typeface="Poppins"/>
                  <a:ea typeface="Poppins"/>
                  <a:cs typeface="Poppins"/>
                  <a:sym typeface="Poppins"/>
                </a:rPr>
                <a:t>if final_score &gt;= 70:</a:t>
              </a:r>
            </a:p>
            <a:p>
              <a:pPr algn="just">
                <a:lnSpc>
                  <a:spcPts val="3639"/>
                </a:lnSpc>
              </a:pPr>
              <a:r>
                <a:rPr lang="en-US" sz="2599" spc="-145">
                  <a:solidFill>
                    <a:srgbClr val="000000"/>
                  </a:solidFill>
                  <a:latin typeface="Poppins"/>
                  <a:ea typeface="Poppins"/>
                  <a:cs typeface="Poppins"/>
                  <a:sym typeface="Poppins"/>
                </a:rPr>
                <a:t>    verdict = "HIGH SIMILARITY"</a:t>
              </a:r>
            </a:p>
            <a:p>
              <a:pPr algn="just">
                <a:lnSpc>
                  <a:spcPts val="3639"/>
                </a:lnSpc>
              </a:pPr>
              <a:r>
                <a:rPr lang="en-US" sz="2599" spc="-145">
                  <a:solidFill>
                    <a:srgbClr val="000000"/>
                  </a:solidFill>
                  <a:latin typeface="Poppins"/>
                  <a:ea typeface="Poppins"/>
                  <a:cs typeface="Poppins"/>
                  <a:sym typeface="Poppins"/>
                </a:rPr>
                <a:t>elif final_score &gt;= 40:</a:t>
              </a:r>
            </a:p>
            <a:p>
              <a:pPr algn="just">
                <a:lnSpc>
                  <a:spcPts val="3639"/>
                </a:lnSpc>
              </a:pPr>
              <a:r>
                <a:rPr lang="en-US" sz="2599" spc="-145">
                  <a:solidFill>
                    <a:srgbClr val="000000"/>
                  </a:solidFill>
                  <a:latin typeface="Poppins"/>
                  <a:ea typeface="Poppins"/>
                  <a:cs typeface="Poppins"/>
                  <a:sym typeface="Poppins"/>
                </a:rPr>
                <a:t>    verdict = "MODERATE SIMILARITY" </a:t>
              </a:r>
            </a:p>
            <a:p>
              <a:pPr algn="just">
                <a:lnSpc>
                  <a:spcPts val="3639"/>
                </a:lnSpc>
              </a:pPr>
              <a:r>
                <a:rPr lang="en-US" sz="2599" spc="-145">
                  <a:solidFill>
                    <a:srgbClr val="000000"/>
                  </a:solidFill>
                  <a:latin typeface="Poppins"/>
                  <a:ea typeface="Poppins"/>
                  <a:cs typeface="Poppins"/>
                  <a:sym typeface="Poppins"/>
                </a:rPr>
                <a:t>elif final_score &gt;= 25:</a:t>
              </a:r>
            </a:p>
            <a:p>
              <a:pPr algn="just">
                <a:lnSpc>
                  <a:spcPts val="3639"/>
                </a:lnSpc>
              </a:pPr>
              <a:r>
                <a:rPr lang="en-US" sz="2599" spc="-145">
                  <a:solidFill>
                    <a:srgbClr val="000000"/>
                  </a:solidFill>
                  <a:latin typeface="Poppins"/>
                  <a:ea typeface="Poppins"/>
                  <a:cs typeface="Poppins"/>
                  <a:sym typeface="Poppins"/>
                </a:rPr>
                <a:t>    verdict = "LOW SIMILARITY"</a:t>
              </a:r>
            </a:p>
            <a:p>
              <a:pPr algn="just">
                <a:lnSpc>
                  <a:spcPts val="3639"/>
                </a:lnSpc>
              </a:pPr>
              <a:r>
                <a:rPr lang="en-US" sz="2599" spc="-145">
                  <a:solidFill>
                    <a:srgbClr val="000000"/>
                  </a:solidFill>
                  <a:latin typeface="Poppins"/>
                  <a:ea typeface="Poppins"/>
                  <a:cs typeface="Poppins"/>
                  <a:sym typeface="Poppins"/>
                </a:rPr>
                <a:t>else:</a:t>
              </a:r>
            </a:p>
            <a:p>
              <a:pPr algn="just">
                <a:lnSpc>
                  <a:spcPts val="3639"/>
                </a:lnSpc>
                <a:spcBef>
                  <a:spcPct val="0"/>
                </a:spcBef>
              </a:pPr>
              <a:r>
                <a:rPr lang="en-US" sz="2599" spc="-145">
                  <a:solidFill>
                    <a:srgbClr val="000000"/>
                  </a:solidFill>
                  <a:latin typeface="Poppins"/>
                  <a:ea typeface="Poppins"/>
                  <a:cs typeface="Poppins"/>
                  <a:sym typeface="Poppins"/>
                </a:rPr>
                <a:t>    verdict = "ORIGINAL WORK"</a:t>
              </a:r>
            </a:p>
          </p:txBody>
        </p:sp>
      </p:grpSp>
      <p:graphicFrame>
        <p:nvGraphicFramePr>
          <p:cNvPr name="Object 18" id="18"/>
          <p:cNvGraphicFramePr/>
          <p:nvPr/>
        </p:nvGraphicFramePr>
        <p:xfrm>
          <a:off x="632753" y="6467506"/>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32.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788604" y="192393"/>
            <a:ext cx="16460083" cy="836307"/>
            <a:chOff x="0" y="0"/>
            <a:chExt cx="21946778" cy="1115076"/>
          </a:xfrm>
        </p:grpSpPr>
        <p:grpSp>
          <p:nvGrpSpPr>
            <p:cNvPr name="Group 6" id="6"/>
            <p:cNvGrpSpPr/>
            <p:nvPr/>
          </p:nvGrpSpPr>
          <p:grpSpPr>
            <a:xfrm rot="0">
              <a:off x="0" y="0"/>
              <a:ext cx="326716" cy="1115076"/>
              <a:chOff x="0" y="0"/>
              <a:chExt cx="64536" cy="220262"/>
            </a:xfrm>
          </p:grpSpPr>
          <p:sp>
            <p:nvSpPr>
              <p:cNvPr name="Freeform 7" id="7"/>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8" id="8"/>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9" id="9"/>
            <p:cNvSpPr txBox="true"/>
            <p:nvPr/>
          </p:nvSpPr>
          <p:spPr>
            <a:xfrm rot="0">
              <a:off x="1115593" y="103809"/>
              <a:ext cx="20831185" cy="945557"/>
            </a:xfrm>
            <a:prstGeom prst="rect">
              <a:avLst/>
            </a:prstGeom>
          </p:spPr>
          <p:txBody>
            <a:bodyPr anchor="t" rtlCol="false" tIns="0" lIns="0" bIns="0" rIns="0">
              <a:spAutoFit/>
            </a:bodyPr>
            <a:lstStyle/>
            <a:p>
              <a:pPr algn="l" marL="0" indent="0" lvl="0">
                <a:lnSpc>
                  <a:spcPts val="5096"/>
                </a:lnSpc>
                <a:spcBef>
                  <a:spcPct val="0"/>
                </a:spcBef>
              </a:pPr>
              <a:r>
                <a:rPr lang="en-US" b="true" sz="4900" spc="-284">
                  <a:solidFill>
                    <a:srgbClr val="000000"/>
                  </a:solidFill>
                  <a:latin typeface="Poppins Bold"/>
                  <a:ea typeface="Poppins Bold"/>
                  <a:cs typeface="Poppins Bold"/>
                  <a:sym typeface="Poppins Bold"/>
                </a:rPr>
                <a:t>PART 4: PERFORMANCE MET</a:t>
              </a:r>
              <a:r>
                <a:rPr lang="en-US" b="true" sz="4900" spc="-284" strike="noStrike" u="none">
                  <a:solidFill>
                    <a:srgbClr val="000000"/>
                  </a:solidFill>
                  <a:latin typeface="Poppins Bold"/>
                  <a:ea typeface="Poppins Bold"/>
                  <a:cs typeface="Poppins Bold"/>
                  <a:sym typeface="Poppins Bold"/>
                </a:rPr>
                <a:t>RICS &amp; VALIDATION RESULTS</a:t>
              </a:r>
            </a:p>
          </p:txBody>
        </p:sp>
      </p:grpSp>
      <p:grpSp>
        <p:nvGrpSpPr>
          <p:cNvPr name="Group 10" id="10"/>
          <p:cNvGrpSpPr/>
          <p:nvPr/>
        </p:nvGrpSpPr>
        <p:grpSpPr>
          <a:xfrm rot="0">
            <a:off x="517128" y="1247665"/>
            <a:ext cx="5430444" cy="8564220"/>
            <a:chOff x="0" y="0"/>
            <a:chExt cx="1430240" cy="2255597"/>
          </a:xfrm>
        </p:grpSpPr>
        <p:sp>
          <p:nvSpPr>
            <p:cNvPr name="Freeform 11" id="11"/>
            <p:cNvSpPr/>
            <p:nvPr/>
          </p:nvSpPr>
          <p:spPr>
            <a:xfrm flipH="false" flipV="false" rot="0">
              <a:off x="0" y="0"/>
              <a:ext cx="1430240" cy="2255597"/>
            </a:xfrm>
            <a:custGeom>
              <a:avLst/>
              <a:gdLst/>
              <a:ahLst/>
              <a:cxnLst/>
              <a:rect r="r" b="b" t="t" l="l"/>
              <a:pathLst>
                <a:path h="2255597" w="1430240">
                  <a:moveTo>
                    <a:pt x="72708" y="0"/>
                  </a:moveTo>
                  <a:lnTo>
                    <a:pt x="1357532" y="0"/>
                  </a:lnTo>
                  <a:cubicBezTo>
                    <a:pt x="1376816" y="0"/>
                    <a:pt x="1395309" y="7660"/>
                    <a:pt x="1408945" y="21296"/>
                  </a:cubicBezTo>
                  <a:cubicBezTo>
                    <a:pt x="1422580" y="34931"/>
                    <a:pt x="1430240" y="53425"/>
                    <a:pt x="1430240" y="72708"/>
                  </a:cubicBezTo>
                  <a:lnTo>
                    <a:pt x="1430240" y="2182889"/>
                  </a:lnTo>
                  <a:cubicBezTo>
                    <a:pt x="1430240" y="2223044"/>
                    <a:pt x="1397688" y="2255597"/>
                    <a:pt x="1357532" y="2255597"/>
                  </a:cubicBezTo>
                  <a:lnTo>
                    <a:pt x="72708" y="2255597"/>
                  </a:lnTo>
                  <a:cubicBezTo>
                    <a:pt x="53425" y="2255597"/>
                    <a:pt x="34931" y="2247937"/>
                    <a:pt x="21296" y="2234301"/>
                  </a:cubicBezTo>
                  <a:cubicBezTo>
                    <a:pt x="7660" y="2220666"/>
                    <a:pt x="0" y="2202172"/>
                    <a:pt x="0" y="2182889"/>
                  </a:cubicBezTo>
                  <a:lnTo>
                    <a:pt x="0" y="72708"/>
                  </a:lnTo>
                  <a:cubicBezTo>
                    <a:pt x="0" y="32553"/>
                    <a:pt x="32553" y="0"/>
                    <a:pt x="72708" y="0"/>
                  </a:cubicBezTo>
                  <a:close/>
                </a:path>
              </a:pathLst>
            </a:custGeom>
            <a:solidFill>
              <a:srgbClr val="7281FE"/>
            </a:solidFill>
          </p:spPr>
        </p:sp>
        <p:sp>
          <p:nvSpPr>
            <p:cNvPr name="TextBox 12" id="12"/>
            <p:cNvSpPr txBox="true"/>
            <p:nvPr/>
          </p:nvSpPr>
          <p:spPr>
            <a:xfrm>
              <a:off x="0" y="-66675"/>
              <a:ext cx="1430240" cy="2322272"/>
            </a:xfrm>
            <a:prstGeom prst="rect">
              <a:avLst/>
            </a:prstGeom>
          </p:spPr>
          <p:txBody>
            <a:bodyPr anchor="ctr" rtlCol="false" tIns="50800" lIns="50800" bIns="50800" rIns="50800"/>
            <a:lstStyle/>
            <a:p>
              <a:pPr algn="ctr">
                <a:lnSpc>
                  <a:spcPts val="2800"/>
                </a:lnSpc>
              </a:pPr>
            </a:p>
          </p:txBody>
        </p:sp>
      </p:grpSp>
      <p:grpSp>
        <p:nvGrpSpPr>
          <p:cNvPr name="Group 13" id="13"/>
          <p:cNvGrpSpPr/>
          <p:nvPr/>
        </p:nvGrpSpPr>
        <p:grpSpPr>
          <a:xfrm rot="0">
            <a:off x="6414553" y="1247665"/>
            <a:ext cx="5430444" cy="8564220"/>
            <a:chOff x="0" y="0"/>
            <a:chExt cx="1430240" cy="2255597"/>
          </a:xfrm>
        </p:grpSpPr>
        <p:sp>
          <p:nvSpPr>
            <p:cNvPr name="Freeform 14" id="14"/>
            <p:cNvSpPr/>
            <p:nvPr/>
          </p:nvSpPr>
          <p:spPr>
            <a:xfrm flipH="false" flipV="false" rot="0">
              <a:off x="0" y="0"/>
              <a:ext cx="1430240" cy="2255597"/>
            </a:xfrm>
            <a:custGeom>
              <a:avLst/>
              <a:gdLst/>
              <a:ahLst/>
              <a:cxnLst/>
              <a:rect r="r" b="b" t="t" l="l"/>
              <a:pathLst>
                <a:path h="2255597" w="1430240">
                  <a:moveTo>
                    <a:pt x="72708" y="0"/>
                  </a:moveTo>
                  <a:lnTo>
                    <a:pt x="1357532" y="0"/>
                  </a:lnTo>
                  <a:cubicBezTo>
                    <a:pt x="1376816" y="0"/>
                    <a:pt x="1395309" y="7660"/>
                    <a:pt x="1408945" y="21296"/>
                  </a:cubicBezTo>
                  <a:cubicBezTo>
                    <a:pt x="1422580" y="34931"/>
                    <a:pt x="1430240" y="53425"/>
                    <a:pt x="1430240" y="72708"/>
                  </a:cubicBezTo>
                  <a:lnTo>
                    <a:pt x="1430240" y="2182889"/>
                  </a:lnTo>
                  <a:cubicBezTo>
                    <a:pt x="1430240" y="2223044"/>
                    <a:pt x="1397688" y="2255597"/>
                    <a:pt x="1357532" y="2255597"/>
                  </a:cubicBezTo>
                  <a:lnTo>
                    <a:pt x="72708" y="2255597"/>
                  </a:lnTo>
                  <a:cubicBezTo>
                    <a:pt x="53425" y="2255597"/>
                    <a:pt x="34931" y="2247937"/>
                    <a:pt x="21296" y="2234301"/>
                  </a:cubicBezTo>
                  <a:cubicBezTo>
                    <a:pt x="7660" y="2220666"/>
                    <a:pt x="0" y="2202172"/>
                    <a:pt x="0" y="2182889"/>
                  </a:cubicBezTo>
                  <a:lnTo>
                    <a:pt x="0" y="72708"/>
                  </a:lnTo>
                  <a:cubicBezTo>
                    <a:pt x="0" y="32553"/>
                    <a:pt x="32553" y="0"/>
                    <a:pt x="72708" y="0"/>
                  </a:cubicBezTo>
                  <a:close/>
                </a:path>
              </a:pathLst>
            </a:custGeom>
            <a:solidFill>
              <a:srgbClr val="FEB389"/>
            </a:solidFill>
          </p:spPr>
        </p:sp>
        <p:sp>
          <p:nvSpPr>
            <p:cNvPr name="TextBox 15" id="15"/>
            <p:cNvSpPr txBox="true"/>
            <p:nvPr/>
          </p:nvSpPr>
          <p:spPr>
            <a:xfrm>
              <a:off x="0" y="-66675"/>
              <a:ext cx="1430240" cy="2322272"/>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12310024" y="1247665"/>
            <a:ext cx="5430444" cy="8564220"/>
            <a:chOff x="0" y="0"/>
            <a:chExt cx="1430240" cy="2255597"/>
          </a:xfrm>
        </p:grpSpPr>
        <p:sp>
          <p:nvSpPr>
            <p:cNvPr name="Freeform 17" id="17"/>
            <p:cNvSpPr/>
            <p:nvPr/>
          </p:nvSpPr>
          <p:spPr>
            <a:xfrm flipH="false" flipV="false" rot="0">
              <a:off x="0" y="0"/>
              <a:ext cx="1430240" cy="2255597"/>
            </a:xfrm>
            <a:custGeom>
              <a:avLst/>
              <a:gdLst/>
              <a:ahLst/>
              <a:cxnLst/>
              <a:rect r="r" b="b" t="t" l="l"/>
              <a:pathLst>
                <a:path h="2255597" w="1430240">
                  <a:moveTo>
                    <a:pt x="72708" y="0"/>
                  </a:moveTo>
                  <a:lnTo>
                    <a:pt x="1357532" y="0"/>
                  </a:lnTo>
                  <a:cubicBezTo>
                    <a:pt x="1376816" y="0"/>
                    <a:pt x="1395309" y="7660"/>
                    <a:pt x="1408945" y="21296"/>
                  </a:cubicBezTo>
                  <a:cubicBezTo>
                    <a:pt x="1422580" y="34931"/>
                    <a:pt x="1430240" y="53425"/>
                    <a:pt x="1430240" y="72708"/>
                  </a:cubicBezTo>
                  <a:lnTo>
                    <a:pt x="1430240" y="2182889"/>
                  </a:lnTo>
                  <a:cubicBezTo>
                    <a:pt x="1430240" y="2223044"/>
                    <a:pt x="1397688" y="2255597"/>
                    <a:pt x="1357532" y="2255597"/>
                  </a:cubicBezTo>
                  <a:lnTo>
                    <a:pt x="72708" y="2255597"/>
                  </a:lnTo>
                  <a:cubicBezTo>
                    <a:pt x="53425" y="2255597"/>
                    <a:pt x="34931" y="2247937"/>
                    <a:pt x="21296" y="2234301"/>
                  </a:cubicBezTo>
                  <a:cubicBezTo>
                    <a:pt x="7660" y="2220666"/>
                    <a:pt x="0" y="2202172"/>
                    <a:pt x="0" y="2182889"/>
                  </a:cubicBezTo>
                  <a:lnTo>
                    <a:pt x="0" y="72708"/>
                  </a:lnTo>
                  <a:cubicBezTo>
                    <a:pt x="0" y="32553"/>
                    <a:pt x="32553" y="0"/>
                    <a:pt x="72708" y="0"/>
                  </a:cubicBezTo>
                  <a:close/>
                </a:path>
              </a:pathLst>
            </a:custGeom>
            <a:solidFill>
              <a:srgbClr val="FFA9DC"/>
            </a:solidFill>
          </p:spPr>
        </p:sp>
        <p:sp>
          <p:nvSpPr>
            <p:cNvPr name="TextBox 18" id="18"/>
            <p:cNvSpPr txBox="true"/>
            <p:nvPr/>
          </p:nvSpPr>
          <p:spPr>
            <a:xfrm>
              <a:off x="0" y="-66675"/>
              <a:ext cx="1430240" cy="2322272"/>
            </a:xfrm>
            <a:prstGeom prst="rect">
              <a:avLst/>
            </a:prstGeom>
          </p:spPr>
          <p:txBody>
            <a:bodyPr anchor="ctr" rtlCol="false" tIns="50800" lIns="50800" bIns="50800" rIns="50800"/>
            <a:lstStyle/>
            <a:p>
              <a:pPr algn="ctr">
                <a:lnSpc>
                  <a:spcPts val="2800"/>
                </a:lnSpc>
              </a:pPr>
            </a:p>
          </p:txBody>
        </p:sp>
      </p:grpSp>
      <p:sp>
        <p:nvSpPr>
          <p:cNvPr name="TextBox 19" id="19"/>
          <p:cNvSpPr txBox="true"/>
          <p:nvPr/>
        </p:nvSpPr>
        <p:spPr>
          <a:xfrm rot="0">
            <a:off x="788604" y="1448074"/>
            <a:ext cx="4813866" cy="8230586"/>
          </a:xfrm>
          <a:prstGeom prst="rect">
            <a:avLst/>
          </a:prstGeom>
        </p:spPr>
        <p:txBody>
          <a:bodyPr anchor="t" rtlCol="false" tIns="0" lIns="0" bIns="0" rIns="0">
            <a:spAutoFit/>
          </a:bodyPr>
          <a:lstStyle/>
          <a:p>
            <a:pPr algn="ctr">
              <a:lnSpc>
                <a:spcPts val="3620"/>
              </a:lnSpc>
            </a:pPr>
            <a:r>
              <a:rPr lang="en-US" b="true" sz="2586" spc="-144">
                <a:solidFill>
                  <a:srgbClr val="000000"/>
                </a:solidFill>
                <a:latin typeface="Poppins Bold"/>
                <a:ea typeface="Poppins Bold"/>
                <a:cs typeface="Poppins Bold"/>
                <a:sym typeface="Poppins Bold"/>
              </a:rPr>
              <a:t>TF-IDF Component Performance</a:t>
            </a:r>
          </a:p>
          <a:p>
            <a:pPr algn="just">
              <a:lnSpc>
                <a:spcPts val="3620"/>
              </a:lnSpc>
            </a:pPr>
            <a:r>
              <a:rPr lang="en-US" b="true" sz="2586" spc="-144">
                <a:solidFill>
                  <a:srgbClr val="000000"/>
                </a:solidFill>
                <a:latin typeface="Poppins Bold"/>
                <a:ea typeface="Poppins Bold"/>
                <a:cs typeface="Poppins Bold"/>
                <a:sym typeface="Poppins Bold"/>
              </a:rPr>
              <a:t>Accuracy</a:t>
            </a:r>
            <a:r>
              <a:rPr lang="en-US" b="true" sz="2586" spc="-144">
                <a:solidFill>
                  <a:srgbClr val="000000"/>
                </a:solidFill>
                <a:latin typeface="Poppins Medium"/>
                <a:ea typeface="Poppins Medium"/>
                <a:cs typeface="Poppins Medium"/>
                <a:sym typeface="Poppins Medium"/>
              </a:rPr>
              <a:t>:</a:t>
            </a:r>
            <a:r>
              <a:rPr lang="en-US" sz="2586" spc="-144">
                <a:solidFill>
                  <a:srgbClr val="000000"/>
                </a:solidFill>
                <a:latin typeface="Poppins"/>
                <a:ea typeface="Poppins"/>
                <a:cs typeface="Poppins"/>
                <a:sym typeface="Poppins"/>
              </a:rPr>
              <a:t> ~95-98% for exact plagiarism detection</a:t>
            </a:r>
          </a:p>
          <a:p>
            <a:pPr algn="just">
              <a:lnSpc>
                <a:spcPts val="3620"/>
              </a:lnSpc>
            </a:pPr>
            <a:r>
              <a:rPr lang="en-US" b="true" sz="2586" spc="-144">
                <a:solidFill>
                  <a:srgbClr val="000000"/>
                </a:solidFill>
                <a:latin typeface="Poppins Bold"/>
                <a:ea typeface="Poppins Bold"/>
                <a:cs typeface="Poppins Bold"/>
                <a:sym typeface="Poppins Bold"/>
              </a:rPr>
              <a:t>Specialty</a:t>
            </a:r>
            <a:r>
              <a:rPr lang="en-US" b="true" sz="2586" spc="-144">
                <a:solidFill>
                  <a:srgbClr val="000000"/>
                </a:solidFill>
                <a:latin typeface="Poppins Medium"/>
                <a:ea typeface="Poppins Medium"/>
                <a:cs typeface="Poppins Medium"/>
                <a:sym typeface="Poppins Medium"/>
              </a:rPr>
              <a:t>:</a:t>
            </a:r>
            <a:r>
              <a:rPr lang="en-US" sz="2586" spc="-144">
                <a:solidFill>
                  <a:srgbClr val="000000"/>
                </a:solidFill>
                <a:latin typeface="Poppins"/>
                <a:ea typeface="Poppins"/>
                <a:cs typeface="Poppins"/>
                <a:sym typeface="Poppins"/>
              </a:rPr>
              <a:t> Detects word-for-word copying</a:t>
            </a:r>
          </a:p>
          <a:p>
            <a:pPr algn="just">
              <a:lnSpc>
                <a:spcPts val="3620"/>
              </a:lnSpc>
            </a:pPr>
            <a:r>
              <a:rPr lang="en-US" b="true" sz="2586" spc="-144">
                <a:solidFill>
                  <a:srgbClr val="000000"/>
                </a:solidFill>
                <a:latin typeface="Poppins Bold"/>
                <a:ea typeface="Poppins Bold"/>
                <a:cs typeface="Poppins Bold"/>
                <a:sym typeface="Poppins Bold"/>
              </a:rPr>
              <a:t>Speed</a:t>
            </a:r>
            <a:r>
              <a:rPr lang="en-US" b="true" sz="2586" spc="-144">
                <a:solidFill>
                  <a:srgbClr val="000000"/>
                </a:solidFill>
                <a:latin typeface="Poppins Medium"/>
                <a:ea typeface="Poppins Medium"/>
                <a:cs typeface="Poppins Medium"/>
                <a:sym typeface="Poppins Medium"/>
              </a:rPr>
              <a:t>:</a:t>
            </a:r>
            <a:r>
              <a:rPr lang="en-US" sz="2586" spc="-144">
                <a:solidFill>
                  <a:srgbClr val="000000"/>
                </a:solidFill>
                <a:latin typeface="Poppins"/>
                <a:ea typeface="Poppins"/>
                <a:cs typeface="Poppins"/>
                <a:sym typeface="Poppins"/>
              </a:rPr>
              <a:t> 2-3 seconds per comparison</a:t>
            </a:r>
          </a:p>
          <a:p>
            <a:pPr algn="just">
              <a:lnSpc>
                <a:spcPts val="3620"/>
              </a:lnSpc>
            </a:pPr>
            <a:r>
              <a:rPr lang="en-US" b="true" sz="2586" spc="-144">
                <a:solidFill>
                  <a:srgbClr val="000000"/>
                </a:solidFill>
                <a:latin typeface="Poppins Bold"/>
                <a:ea typeface="Poppins Bold"/>
                <a:cs typeface="Poppins Bold"/>
                <a:sym typeface="Poppins Bold"/>
              </a:rPr>
              <a:t>Strengths</a:t>
            </a:r>
            <a:r>
              <a:rPr lang="en-US" b="true" sz="2586" spc="-144">
                <a:solidFill>
                  <a:srgbClr val="000000"/>
                </a:solidFill>
                <a:latin typeface="Poppins Medium"/>
                <a:ea typeface="Poppins Medium"/>
                <a:cs typeface="Poppins Medium"/>
                <a:sym typeface="Poppins Medium"/>
              </a:rPr>
              <a:t>:</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High precision for direct matches</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Fast processing</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Reliable baseline detection</a:t>
            </a:r>
          </a:p>
          <a:p>
            <a:pPr algn="just">
              <a:lnSpc>
                <a:spcPts val="3620"/>
              </a:lnSpc>
            </a:pPr>
            <a:r>
              <a:rPr lang="en-US" b="true" sz="2586" spc="-144">
                <a:solidFill>
                  <a:srgbClr val="000000"/>
                </a:solidFill>
                <a:latin typeface="Poppins Bold"/>
                <a:ea typeface="Poppins Bold"/>
                <a:cs typeface="Poppins Bold"/>
                <a:sym typeface="Poppins Bold"/>
              </a:rPr>
              <a:t>Weaknesses</a:t>
            </a:r>
            <a:r>
              <a:rPr lang="en-US" b="true" sz="2586" spc="-144">
                <a:solidFill>
                  <a:srgbClr val="000000"/>
                </a:solidFill>
                <a:latin typeface="Poppins Medium"/>
                <a:ea typeface="Poppins Medium"/>
                <a:cs typeface="Poppins Medium"/>
                <a:sym typeface="Poppins Medium"/>
              </a:rPr>
              <a:t>:</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Cannot detect sophisticated paraphrasing</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Misses semantic similarity when different words used</a:t>
            </a:r>
          </a:p>
        </p:txBody>
      </p:sp>
      <p:sp>
        <p:nvSpPr>
          <p:cNvPr name="TextBox 20" id="20"/>
          <p:cNvSpPr txBox="true"/>
          <p:nvPr/>
        </p:nvSpPr>
        <p:spPr>
          <a:xfrm rot="0">
            <a:off x="6737067" y="1371619"/>
            <a:ext cx="4813866" cy="8276941"/>
          </a:xfrm>
          <a:prstGeom prst="rect">
            <a:avLst/>
          </a:prstGeom>
        </p:spPr>
        <p:txBody>
          <a:bodyPr anchor="t" rtlCol="false" tIns="0" lIns="0" bIns="0" rIns="0">
            <a:spAutoFit/>
          </a:bodyPr>
          <a:lstStyle/>
          <a:p>
            <a:pPr algn="ctr">
              <a:lnSpc>
                <a:spcPts val="3760"/>
              </a:lnSpc>
            </a:pPr>
            <a:r>
              <a:rPr lang="en-US" b="true" sz="2686" spc="-150">
                <a:solidFill>
                  <a:srgbClr val="000000"/>
                </a:solidFill>
                <a:latin typeface="Poppins Bold"/>
                <a:ea typeface="Poppins Bold"/>
                <a:cs typeface="Poppins Bold"/>
                <a:sym typeface="Poppins Bold"/>
              </a:rPr>
              <a:t>BERT Component Performance</a:t>
            </a:r>
          </a:p>
          <a:p>
            <a:pPr algn="just">
              <a:lnSpc>
                <a:spcPts val="3620"/>
              </a:lnSpc>
            </a:pPr>
            <a:r>
              <a:rPr lang="en-US" b="true" sz="2586" spc="-144">
                <a:solidFill>
                  <a:srgbClr val="000000"/>
                </a:solidFill>
                <a:latin typeface="Poppins Bold"/>
                <a:ea typeface="Poppins Bold"/>
                <a:cs typeface="Poppins Bold"/>
                <a:sym typeface="Poppins Bold"/>
              </a:rPr>
              <a:t>Accuracy</a:t>
            </a:r>
            <a:r>
              <a:rPr lang="en-US" sz="2586" spc="-144">
                <a:solidFill>
                  <a:srgbClr val="000000"/>
                </a:solidFill>
                <a:latin typeface="Poppins"/>
                <a:ea typeface="Poppins"/>
                <a:cs typeface="Poppins"/>
                <a:sym typeface="Poppins"/>
              </a:rPr>
              <a:t>: ~87-92% for semantic similarity</a:t>
            </a:r>
          </a:p>
          <a:p>
            <a:pPr algn="just">
              <a:lnSpc>
                <a:spcPts val="3620"/>
              </a:lnSpc>
            </a:pPr>
            <a:r>
              <a:rPr lang="en-US" b="true" sz="2586" spc="-144">
                <a:solidFill>
                  <a:srgbClr val="000000"/>
                </a:solidFill>
                <a:latin typeface="Poppins Bold"/>
                <a:ea typeface="Poppins Bold"/>
                <a:cs typeface="Poppins Bold"/>
                <a:sym typeface="Poppins Bold"/>
              </a:rPr>
              <a:t>Specialty</a:t>
            </a:r>
            <a:r>
              <a:rPr lang="en-US" sz="2586" spc="-144">
                <a:solidFill>
                  <a:srgbClr val="000000"/>
                </a:solidFill>
                <a:latin typeface="Poppins"/>
                <a:ea typeface="Poppins"/>
                <a:cs typeface="Poppins"/>
                <a:sym typeface="Poppins"/>
              </a:rPr>
              <a:t>: Detects paraphrased and reworded content</a:t>
            </a:r>
          </a:p>
          <a:p>
            <a:pPr algn="just">
              <a:lnSpc>
                <a:spcPts val="3620"/>
              </a:lnSpc>
            </a:pPr>
            <a:r>
              <a:rPr lang="en-US" b="true" sz="2586" spc="-144">
                <a:solidFill>
                  <a:srgbClr val="000000"/>
                </a:solidFill>
                <a:latin typeface="Poppins Bold"/>
                <a:ea typeface="Poppins Bold"/>
                <a:cs typeface="Poppins Bold"/>
                <a:sym typeface="Poppins Bold"/>
              </a:rPr>
              <a:t>Speed</a:t>
            </a:r>
            <a:r>
              <a:rPr lang="en-US" sz="2586" spc="-144">
                <a:solidFill>
                  <a:srgbClr val="000000"/>
                </a:solidFill>
                <a:latin typeface="Poppins"/>
                <a:ea typeface="Poppins"/>
                <a:cs typeface="Poppins"/>
                <a:sym typeface="Poppins"/>
              </a:rPr>
              <a:t>: 5-8 seconds per comparison</a:t>
            </a:r>
          </a:p>
          <a:p>
            <a:pPr algn="just">
              <a:lnSpc>
                <a:spcPts val="3620"/>
              </a:lnSpc>
            </a:pPr>
            <a:r>
              <a:rPr lang="en-US" b="true" sz="2586" spc="-144">
                <a:solidFill>
                  <a:srgbClr val="000000"/>
                </a:solidFill>
                <a:latin typeface="Poppins Bold"/>
                <a:ea typeface="Poppins Bold"/>
                <a:cs typeface="Poppins Bold"/>
                <a:sym typeface="Poppins Bold"/>
              </a:rPr>
              <a:t>Strengths</a:t>
            </a:r>
            <a:r>
              <a:rPr lang="en-US" sz="2586" spc="-144">
                <a:solidFill>
                  <a:srgbClr val="000000"/>
                </a:solidFill>
                <a:latin typeface="Poppins"/>
                <a:ea typeface="Poppins"/>
                <a:cs typeface="Poppins"/>
                <a:sym typeface="Poppins"/>
              </a:rPr>
              <a:t>:</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U</a:t>
            </a:r>
            <a:r>
              <a:rPr lang="en-US" sz="2586" spc="-144">
                <a:solidFill>
                  <a:srgbClr val="000000"/>
                </a:solidFill>
                <a:latin typeface="Poppins"/>
                <a:ea typeface="Poppins"/>
                <a:cs typeface="Poppins"/>
                <a:sym typeface="Poppins"/>
              </a:rPr>
              <a:t>nderstands meaning beyond words</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Catches sophisticated plagiarism attempts</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Context-aware analysis</a:t>
            </a:r>
          </a:p>
          <a:p>
            <a:pPr algn="just">
              <a:lnSpc>
                <a:spcPts val="3620"/>
              </a:lnSpc>
            </a:pPr>
            <a:r>
              <a:rPr lang="en-US" b="true" sz="2586" spc="-144">
                <a:solidFill>
                  <a:srgbClr val="000000"/>
                </a:solidFill>
                <a:latin typeface="Poppins Bold"/>
                <a:ea typeface="Poppins Bold"/>
                <a:cs typeface="Poppins Bold"/>
                <a:sym typeface="Poppins Bold"/>
              </a:rPr>
              <a:t>Weaknesses</a:t>
            </a:r>
            <a:r>
              <a:rPr lang="en-US" sz="2586" spc="-144">
                <a:solidFill>
                  <a:srgbClr val="000000"/>
                </a:solidFill>
                <a:latin typeface="Poppins"/>
                <a:ea typeface="Poppins"/>
                <a:cs typeface="Poppins"/>
                <a:sym typeface="Poppins"/>
              </a:rPr>
              <a:t>:</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More computational overhead</a:t>
            </a:r>
          </a:p>
          <a:p>
            <a:pPr algn="just" marL="558356" indent="-279178" lvl="1">
              <a:lnSpc>
                <a:spcPts val="3620"/>
              </a:lnSpc>
              <a:buFont typeface="Arial"/>
              <a:buChar char="•"/>
            </a:pPr>
            <a:r>
              <a:rPr lang="en-US" sz="2586" spc="-144">
                <a:solidFill>
                  <a:srgbClr val="000000"/>
                </a:solidFill>
                <a:latin typeface="Poppins"/>
                <a:ea typeface="Poppins"/>
                <a:cs typeface="Poppins"/>
                <a:sym typeface="Poppins"/>
              </a:rPr>
              <a:t>Slightly slower processing</a:t>
            </a:r>
          </a:p>
        </p:txBody>
      </p:sp>
      <p:sp>
        <p:nvSpPr>
          <p:cNvPr name="TextBox 21" id="21"/>
          <p:cNvSpPr txBox="true"/>
          <p:nvPr/>
        </p:nvSpPr>
        <p:spPr>
          <a:xfrm rot="0">
            <a:off x="12618313" y="1362729"/>
            <a:ext cx="4813866" cy="8328376"/>
          </a:xfrm>
          <a:prstGeom prst="rect">
            <a:avLst/>
          </a:prstGeom>
        </p:spPr>
        <p:txBody>
          <a:bodyPr anchor="t" rtlCol="false" tIns="0" lIns="0" bIns="0" rIns="0">
            <a:spAutoFit/>
          </a:bodyPr>
          <a:lstStyle/>
          <a:p>
            <a:pPr algn="ctr">
              <a:lnSpc>
                <a:spcPts val="3480"/>
              </a:lnSpc>
            </a:pPr>
            <a:r>
              <a:rPr lang="en-US" b="true" sz="2486" spc="-139">
                <a:solidFill>
                  <a:srgbClr val="000000"/>
                </a:solidFill>
                <a:latin typeface="Poppins Bold"/>
                <a:ea typeface="Poppins Bold"/>
                <a:cs typeface="Poppins Bold"/>
                <a:sym typeface="Poppins Bold"/>
              </a:rPr>
              <a:t>Hybrid Approach (Combined) Performance</a:t>
            </a:r>
          </a:p>
          <a:p>
            <a:pPr algn="just">
              <a:lnSpc>
                <a:spcPts val="3480"/>
              </a:lnSpc>
            </a:pPr>
            <a:r>
              <a:rPr lang="en-US" b="true" sz="2486" spc="-139">
                <a:solidFill>
                  <a:srgbClr val="000000"/>
                </a:solidFill>
                <a:latin typeface="Poppins Bold"/>
                <a:ea typeface="Poppins Bold"/>
                <a:cs typeface="Poppins Bold"/>
                <a:sym typeface="Poppins Bold"/>
              </a:rPr>
              <a:t>Calculation</a:t>
            </a:r>
            <a:r>
              <a:rPr lang="en-US" sz="2486" spc="-139">
                <a:solidFill>
                  <a:srgbClr val="000000"/>
                </a:solidFill>
                <a:latin typeface="Poppins"/>
                <a:ea typeface="Poppins"/>
                <a:cs typeface="Poppins"/>
                <a:sym typeface="Poppins"/>
              </a:rPr>
              <a:t>: 40% TF-IDF + 60% BERT weighting</a:t>
            </a:r>
          </a:p>
          <a:p>
            <a:pPr algn="just">
              <a:lnSpc>
                <a:spcPts val="3480"/>
              </a:lnSpc>
            </a:pPr>
            <a:r>
              <a:rPr lang="en-US" b="true" sz="2486" spc="-139">
                <a:solidFill>
                  <a:srgbClr val="000000"/>
                </a:solidFill>
                <a:latin typeface="Poppins Bold"/>
                <a:ea typeface="Poppins Bold"/>
                <a:cs typeface="Poppins Bold"/>
                <a:sym typeface="Poppins Bold"/>
              </a:rPr>
              <a:t>Overall </a:t>
            </a:r>
            <a:r>
              <a:rPr lang="en-US" b="true" sz="2486" spc="-139">
                <a:solidFill>
                  <a:srgbClr val="000000"/>
                </a:solidFill>
                <a:latin typeface="Poppins Bold"/>
                <a:ea typeface="Poppins Bold"/>
                <a:cs typeface="Poppins Bold"/>
                <a:sym typeface="Poppins Bold"/>
              </a:rPr>
              <a:t>Accuracy</a:t>
            </a:r>
            <a:r>
              <a:rPr lang="en-US" sz="2486" spc="-139">
                <a:solidFill>
                  <a:srgbClr val="000000"/>
                </a:solidFill>
                <a:latin typeface="Poppins"/>
                <a:ea typeface="Poppins"/>
                <a:cs typeface="Poppins"/>
                <a:sym typeface="Poppins"/>
              </a:rPr>
              <a:t>: ~90-95% combined</a:t>
            </a:r>
          </a:p>
          <a:p>
            <a:pPr algn="just">
              <a:lnSpc>
                <a:spcPts val="3480"/>
              </a:lnSpc>
            </a:pPr>
            <a:r>
              <a:rPr lang="en-US" b="true" sz="2486" spc="-139">
                <a:solidFill>
                  <a:srgbClr val="000000"/>
                </a:solidFill>
                <a:latin typeface="Poppins Bold"/>
                <a:ea typeface="Poppins Bold"/>
                <a:cs typeface="Poppins Bold"/>
                <a:sym typeface="Poppins Bold"/>
              </a:rPr>
              <a:t>Advantages</a:t>
            </a:r>
            <a:r>
              <a:rPr lang="en-US" sz="2486" spc="-139">
                <a:solidFill>
                  <a:srgbClr val="000000"/>
                </a:solidFill>
                <a:latin typeface="Poppins"/>
                <a:ea typeface="Poppins"/>
                <a:cs typeface="Poppins"/>
                <a:sym typeface="Poppins"/>
              </a:rPr>
              <a:t>:</a:t>
            </a:r>
          </a:p>
          <a:p>
            <a:pPr algn="just" marL="536767" indent="-268383" lvl="1">
              <a:lnSpc>
                <a:spcPts val="3480"/>
              </a:lnSpc>
              <a:buFont typeface="Arial"/>
              <a:buChar char="•"/>
            </a:pPr>
            <a:r>
              <a:rPr lang="en-US" sz="2486" spc="-139">
                <a:solidFill>
                  <a:srgbClr val="000000"/>
                </a:solidFill>
                <a:latin typeface="Poppins"/>
                <a:ea typeface="Poppins"/>
                <a:cs typeface="Poppins"/>
                <a:sym typeface="Poppins"/>
              </a:rPr>
              <a:t>Best of both worlds</a:t>
            </a:r>
          </a:p>
          <a:p>
            <a:pPr algn="just" marL="536767" indent="-268383" lvl="1">
              <a:lnSpc>
                <a:spcPts val="3480"/>
              </a:lnSpc>
              <a:buFont typeface="Arial"/>
              <a:buChar char="•"/>
            </a:pPr>
            <a:r>
              <a:rPr lang="en-US" sz="2486" spc="-139">
                <a:solidFill>
                  <a:srgbClr val="000000"/>
                </a:solidFill>
                <a:latin typeface="Poppins"/>
                <a:ea typeface="Poppins"/>
                <a:cs typeface="Poppins"/>
                <a:sym typeface="Poppins"/>
              </a:rPr>
              <a:t>Comprehensive detection coverage</a:t>
            </a:r>
          </a:p>
          <a:p>
            <a:pPr algn="just" marL="536767" indent="-268383" lvl="1">
              <a:lnSpc>
                <a:spcPts val="3480"/>
              </a:lnSpc>
              <a:buFont typeface="Arial"/>
              <a:buChar char="•"/>
            </a:pPr>
            <a:r>
              <a:rPr lang="en-US" sz="2486" spc="-139">
                <a:solidFill>
                  <a:srgbClr val="000000"/>
                </a:solidFill>
                <a:latin typeface="Poppins"/>
                <a:ea typeface="Poppins"/>
                <a:cs typeface="Poppins"/>
                <a:sym typeface="Poppins"/>
              </a:rPr>
              <a:t>Balanced precision and recall</a:t>
            </a:r>
          </a:p>
          <a:p>
            <a:pPr algn="just">
              <a:lnSpc>
                <a:spcPts val="3480"/>
              </a:lnSpc>
            </a:pPr>
            <a:r>
              <a:rPr lang="en-US" b="true" sz="2486" spc="-139">
                <a:solidFill>
                  <a:srgbClr val="000000"/>
                </a:solidFill>
                <a:latin typeface="Poppins Bold"/>
                <a:ea typeface="Poppins Bold"/>
                <a:cs typeface="Poppins Bold"/>
                <a:sym typeface="Poppins Bold"/>
              </a:rPr>
              <a:t>Final Score Range</a:t>
            </a:r>
            <a:r>
              <a:rPr lang="en-US" sz="2486" spc="-139">
                <a:solidFill>
                  <a:srgbClr val="000000"/>
                </a:solidFill>
                <a:latin typeface="Poppins"/>
                <a:ea typeface="Poppins"/>
                <a:cs typeface="Poppins"/>
                <a:sym typeface="Poppins"/>
              </a:rPr>
              <a:t>: 0-100% similarity</a:t>
            </a:r>
          </a:p>
          <a:p>
            <a:pPr algn="just">
              <a:lnSpc>
                <a:spcPts val="3480"/>
              </a:lnSpc>
            </a:pPr>
            <a:r>
              <a:rPr lang="en-US" b="true" sz="2486" spc="-139">
                <a:solidFill>
                  <a:srgbClr val="000000"/>
                </a:solidFill>
                <a:latin typeface="Poppins Bold"/>
                <a:ea typeface="Poppins Bold"/>
                <a:cs typeface="Poppins Bold"/>
                <a:sym typeface="Poppins Bold"/>
              </a:rPr>
              <a:t>Proc</a:t>
            </a:r>
            <a:r>
              <a:rPr lang="en-US" b="true" sz="2486" spc="-139">
                <a:solidFill>
                  <a:srgbClr val="000000"/>
                </a:solidFill>
                <a:latin typeface="Poppins Bold"/>
                <a:ea typeface="Poppins Bold"/>
                <a:cs typeface="Poppins Bold"/>
                <a:sym typeface="Poppins Bold"/>
              </a:rPr>
              <a:t>essing Time</a:t>
            </a:r>
            <a:r>
              <a:rPr lang="en-US" sz="2486" spc="-139">
                <a:solidFill>
                  <a:srgbClr val="000000"/>
                </a:solidFill>
                <a:latin typeface="Poppins"/>
                <a:ea typeface="Poppins"/>
                <a:cs typeface="Poppins"/>
                <a:sym typeface="Poppins"/>
              </a:rPr>
              <a:t>: 7-10 seconds average (acceptable for web application)</a:t>
            </a:r>
          </a:p>
          <a:p>
            <a:pPr algn="just">
              <a:lnSpc>
                <a:spcPts val="3480"/>
              </a:lnSpc>
            </a:pPr>
            <a:r>
              <a:rPr lang="en-US" b="true" sz="2486" spc="-139">
                <a:solidFill>
                  <a:srgbClr val="000000"/>
                </a:solidFill>
                <a:latin typeface="Poppins Bold"/>
                <a:ea typeface="Poppins Bold"/>
                <a:cs typeface="Poppins Bold"/>
                <a:sym typeface="Poppins Bold"/>
              </a:rPr>
              <a:t>Decision Threshold</a:t>
            </a:r>
            <a:r>
              <a:rPr lang="en-US" sz="2486" spc="-139">
                <a:solidFill>
                  <a:srgbClr val="000000"/>
                </a:solidFill>
                <a:latin typeface="Poppins"/>
                <a:ea typeface="Poppins"/>
                <a:cs typeface="Poppins"/>
                <a:sym typeface="Poppins"/>
              </a:rPr>
              <a:t>: 70%+ flagged as suspicious, requires manual review</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788604" y="192393"/>
            <a:ext cx="16460083" cy="836307"/>
            <a:chOff x="0" y="0"/>
            <a:chExt cx="21946778" cy="1115076"/>
          </a:xfrm>
        </p:grpSpPr>
        <p:grpSp>
          <p:nvGrpSpPr>
            <p:cNvPr name="Group 6" id="6"/>
            <p:cNvGrpSpPr/>
            <p:nvPr/>
          </p:nvGrpSpPr>
          <p:grpSpPr>
            <a:xfrm rot="0">
              <a:off x="0" y="0"/>
              <a:ext cx="326716" cy="1115076"/>
              <a:chOff x="0" y="0"/>
              <a:chExt cx="64536" cy="220262"/>
            </a:xfrm>
          </p:grpSpPr>
          <p:sp>
            <p:nvSpPr>
              <p:cNvPr name="Freeform 7" id="7"/>
              <p:cNvSpPr/>
              <p:nvPr/>
            </p:nvSpPr>
            <p:spPr>
              <a:xfrm flipH="false" flipV="false" rot="0">
                <a:off x="0" y="0"/>
                <a:ext cx="64536" cy="220262"/>
              </a:xfrm>
              <a:custGeom>
                <a:avLst/>
                <a:gdLst/>
                <a:ahLst/>
                <a:cxnLst/>
                <a:rect r="r" b="b" t="t" l="l"/>
                <a:pathLst>
                  <a:path h="220262" w="64536">
                    <a:moveTo>
                      <a:pt x="0" y="0"/>
                    </a:moveTo>
                    <a:lnTo>
                      <a:pt x="64536" y="0"/>
                    </a:lnTo>
                    <a:lnTo>
                      <a:pt x="64536" y="220262"/>
                    </a:lnTo>
                    <a:lnTo>
                      <a:pt x="0" y="220262"/>
                    </a:lnTo>
                    <a:close/>
                  </a:path>
                </a:pathLst>
              </a:custGeom>
              <a:solidFill>
                <a:srgbClr val="7281FE"/>
              </a:solidFill>
            </p:spPr>
          </p:sp>
          <p:sp>
            <p:nvSpPr>
              <p:cNvPr name="TextBox 8" id="8"/>
              <p:cNvSpPr txBox="true"/>
              <p:nvPr/>
            </p:nvSpPr>
            <p:spPr>
              <a:xfrm>
                <a:off x="0" y="-57150"/>
                <a:ext cx="64536" cy="277412"/>
              </a:xfrm>
              <a:prstGeom prst="rect">
                <a:avLst/>
              </a:prstGeom>
            </p:spPr>
            <p:txBody>
              <a:bodyPr anchor="ctr" rtlCol="false" tIns="50800" lIns="50800" bIns="50800" rIns="50800"/>
              <a:lstStyle/>
              <a:p>
                <a:pPr algn="ctr">
                  <a:lnSpc>
                    <a:spcPts val="3220"/>
                  </a:lnSpc>
                </a:pPr>
              </a:p>
            </p:txBody>
          </p:sp>
        </p:grpSp>
        <p:sp>
          <p:nvSpPr>
            <p:cNvPr name="TextBox 9" id="9"/>
            <p:cNvSpPr txBox="true"/>
            <p:nvPr/>
          </p:nvSpPr>
          <p:spPr>
            <a:xfrm rot="0">
              <a:off x="1115593" y="103809"/>
              <a:ext cx="20831185" cy="945557"/>
            </a:xfrm>
            <a:prstGeom prst="rect">
              <a:avLst/>
            </a:prstGeom>
          </p:spPr>
          <p:txBody>
            <a:bodyPr anchor="t" rtlCol="false" tIns="0" lIns="0" bIns="0" rIns="0">
              <a:spAutoFit/>
            </a:bodyPr>
            <a:lstStyle/>
            <a:p>
              <a:pPr algn="l" marL="0" indent="0" lvl="0">
                <a:lnSpc>
                  <a:spcPts val="5096"/>
                </a:lnSpc>
                <a:spcBef>
                  <a:spcPct val="0"/>
                </a:spcBef>
              </a:pPr>
              <a:r>
                <a:rPr lang="en-US" b="true" sz="4900" spc="-284">
                  <a:solidFill>
                    <a:srgbClr val="000000"/>
                  </a:solidFill>
                  <a:latin typeface="Poppins Bold"/>
                  <a:ea typeface="Poppins Bold"/>
                  <a:cs typeface="Poppins Bold"/>
                  <a:sym typeface="Poppins Bold"/>
                </a:rPr>
                <a:t>PART 5: FINAL MODEL SPECIFICATIONS</a:t>
              </a:r>
            </a:p>
          </p:txBody>
        </p:sp>
      </p:grpSp>
      <p:grpSp>
        <p:nvGrpSpPr>
          <p:cNvPr name="Group 10" id="10"/>
          <p:cNvGrpSpPr/>
          <p:nvPr/>
        </p:nvGrpSpPr>
        <p:grpSpPr>
          <a:xfrm rot="0">
            <a:off x="608840" y="1254316"/>
            <a:ext cx="17200759" cy="829999"/>
            <a:chOff x="0" y="0"/>
            <a:chExt cx="3849341" cy="185745"/>
          </a:xfrm>
        </p:grpSpPr>
        <p:sp>
          <p:nvSpPr>
            <p:cNvPr name="Freeform 11" id="11"/>
            <p:cNvSpPr/>
            <p:nvPr/>
          </p:nvSpPr>
          <p:spPr>
            <a:xfrm flipH="false" flipV="false" rot="0">
              <a:off x="0" y="0"/>
              <a:ext cx="3849341" cy="185745"/>
            </a:xfrm>
            <a:custGeom>
              <a:avLst/>
              <a:gdLst/>
              <a:ahLst/>
              <a:cxnLst/>
              <a:rect r="r" b="b" t="t" l="l"/>
              <a:pathLst>
                <a:path h="185745" w="3849341">
                  <a:moveTo>
                    <a:pt x="22955" y="0"/>
                  </a:moveTo>
                  <a:lnTo>
                    <a:pt x="3826386" y="0"/>
                  </a:lnTo>
                  <a:cubicBezTo>
                    <a:pt x="3832474" y="0"/>
                    <a:pt x="3838313" y="2418"/>
                    <a:pt x="3842618" y="6723"/>
                  </a:cubicBezTo>
                  <a:cubicBezTo>
                    <a:pt x="3846923" y="11028"/>
                    <a:pt x="3849341" y="16867"/>
                    <a:pt x="3849341" y="22955"/>
                  </a:cubicBezTo>
                  <a:lnTo>
                    <a:pt x="3849341" y="162790"/>
                  </a:lnTo>
                  <a:cubicBezTo>
                    <a:pt x="3849341" y="168878"/>
                    <a:pt x="3846923" y="174717"/>
                    <a:pt x="3842618" y="179021"/>
                  </a:cubicBezTo>
                  <a:cubicBezTo>
                    <a:pt x="3838313" y="183326"/>
                    <a:pt x="3832474" y="185745"/>
                    <a:pt x="3826386" y="185745"/>
                  </a:cubicBezTo>
                  <a:lnTo>
                    <a:pt x="22955" y="185745"/>
                  </a:lnTo>
                  <a:cubicBezTo>
                    <a:pt x="16867" y="185745"/>
                    <a:pt x="11028" y="183326"/>
                    <a:pt x="6723" y="179021"/>
                  </a:cubicBezTo>
                  <a:cubicBezTo>
                    <a:pt x="2418" y="174717"/>
                    <a:pt x="0" y="168878"/>
                    <a:pt x="0" y="162790"/>
                  </a:cubicBezTo>
                  <a:lnTo>
                    <a:pt x="0" y="22955"/>
                  </a:lnTo>
                  <a:cubicBezTo>
                    <a:pt x="0" y="16867"/>
                    <a:pt x="2418" y="11028"/>
                    <a:pt x="6723" y="6723"/>
                  </a:cubicBezTo>
                  <a:cubicBezTo>
                    <a:pt x="11028" y="2418"/>
                    <a:pt x="16867" y="0"/>
                    <a:pt x="22955" y="0"/>
                  </a:cubicBezTo>
                  <a:close/>
                </a:path>
              </a:pathLst>
            </a:custGeom>
            <a:solidFill>
              <a:srgbClr val="7281FE"/>
            </a:solidFill>
          </p:spPr>
        </p:sp>
        <p:sp>
          <p:nvSpPr>
            <p:cNvPr name="TextBox 12" id="12"/>
            <p:cNvSpPr txBox="true"/>
            <p:nvPr/>
          </p:nvSpPr>
          <p:spPr>
            <a:xfrm>
              <a:off x="0" y="-66675"/>
              <a:ext cx="3849341" cy="252420"/>
            </a:xfrm>
            <a:prstGeom prst="rect">
              <a:avLst/>
            </a:prstGeom>
          </p:spPr>
          <p:txBody>
            <a:bodyPr anchor="ctr" rtlCol="false" tIns="50800" lIns="50800" bIns="50800" rIns="50800"/>
            <a:lstStyle/>
            <a:p>
              <a:pPr algn="ctr">
                <a:lnSpc>
                  <a:spcPts val="2800"/>
                </a:lnSpc>
              </a:pPr>
            </a:p>
          </p:txBody>
        </p:sp>
      </p:grpSp>
      <p:sp>
        <p:nvSpPr>
          <p:cNvPr name="TextBox 13" id="13"/>
          <p:cNvSpPr txBox="true"/>
          <p:nvPr/>
        </p:nvSpPr>
        <p:spPr>
          <a:xfrm rot="0">
            <a:off x="998929" y="1343068"/>
            <a:ext cx="6020770" cy="510256"/>
          </a:xfrm>
          <a:prstGeom prst="rect">
            <a:avLst/>
          </a:prstGeom>
        </p:spPr>
        <p:txBody>
          <a:bodyPr anchor="t" rtlCol="false" tIns="0" lIns="0" bIns="0" rIns="0">
            <a:spAutoFit/>
          </a:bodyPr>
          <a:lstStyle/>
          <a:p>
            <a:pPr algn="just">
              <a:lnSpc>
                <a:spcPts val="3900"/>
              </a:lnSpc>
            </a:pPr>
            <a:r>
              <a:rPr lang="en-US" b="true" sz="2786" spc="-156">
                <a:solidFill>
                  <a:srgbClr val="000000"/>
                </a:solidFill>
                <a:latin typeface="Poppins Bold"/>
                <a:ea typeface="Poppins Bold"/>
                <a:cs typeface="Poppins Bold"/>
                <a:sym typeface="Poppins Bold"/>
              </a:rPr>
              <a:t>Programming Language</a:t>
            </a:r>
            <a:r>
              <a:rPr lang="en-US" sz="2786" spc="-156">
                <a:solidFill>
                  <a:srgbClr val="000000"/>
                </a:solidFill>
                <a:latin typeface="Poppins"/>
                <a:ea typeface="Poppins"/>
                <a:cs typeface="Poppins"/>
                <a:sym typeface="Poppins"/>
              </a:rPr>
              <a:t>: Python 3.12</a:t>
            </a:r>
          </a:p>
        </p:txBody>
      </p:sp>
      <p:grpSp>
        <p:nvGrpSpPr>
          <p:cNvPr name="Group 14" id="14"/>
          <p:cNvGrpSpPr/>
          <p:nvPr/>
        </p:nvGrpSpPr>
        <p:grpSpPr>
          <a:xfrm rot="0">
            <a:off x="588721" y="5915698"/>
            <a:ext cx="8429924" cy="2965755"/>
            <a:chOff x="0" y="0"/>
            <a:chExt cx="1886524" cy="663703"/>
          </a:xfrm>
        </p:grpSpPr>
        <p:sp>
          <p:nvSpPr>
            <p:cNvPr name="Freeform 15" id="15"/>
            <p:cNvSpPr/>
            <p:nvPr/>
          </p:nvSpPr>
          <p:spPr>
            <a:xfrm flipH="false" flipV="false" rot="0">
              <a:off x="0" y="0"/>
              <a:ext cx="1886524" cy="663703"/>
            </a:xfrm>
            <a:custGeom>
              <a:avLst/>
              <a:gdLst/>
              <a:ahLst/>
              <a:cxnLst/>
              <a:rect r="r" b="b" t="t" l="l"/>
              <a:pathLst>
                <a:path h="663703" w="1886524">
                  <a:moveTo>
                    <a:pt x="46838" y="0"/>
                  </a:moveTo>
                  <a:lnTo>
                    <a:pt x="1839687" y="0"/>
                  </a:lnTo>
                  <a:cubicBezTo>
                    <a:pt x="1865555" y="0"/>
                    <a:pt x="1886524" y="20970"/>
                    <a:pt x="1886524" y="46838"/>
                  </a:cubicBezTo>
                  <a:lnTo>
                    <a:pt x="1886524" y="616866"/>
                  </a:lnTo>
                  <a:cubicBezTo>
                    <a:pt x="1886524" y="629288"/>
                    <a:pt x="1881590" y="641201"/>
                    <a:pt x="1872806" y="649985"/>
                  </a:cubicBezTo>
                  <a:cubicBezTo>
                    <a:pt x="1864022" y="658769"/>
                    <a:pt x="1852109" y="663703"/>
                    <a:pt x="1839687" y="663703"/>
                  </a:cubicBezTo>
                  <a:lnTo>
                    <a:pt x="46838" y="663703"/>
                  </a:lnTo>
                  <a:cubicBezTo>
                    <a:pt x="20970" y="663703"/>
                    <a:pt x="0" y="642734"/>
                    <a:pt x="0" y="616866"/>
                  </a:cubicBezTo>
                  <a:lnTo>
                    <a:pt x="0" y="46838"/>
                  </a:lnTo>
                  <a:cubicBezTo>
                    <a:pt x="0" y="20970"/>
                    <a:pt x="20970" y="0"/>
                    <a:pt x="46838" y="0"/>
                  </a:cubicBezTo>
                  <a:close/>
                </a:path>
              </a:pathLst>
            </a:custGeom>
            <a:solidFill>
              <a:srgbClr val="FEB389"/>
            </a:solidFill>
          </p:spPr>
        </p:sp>
        <p:sp>
          <p:nvSpPr>
            <p:cNvPr name="TextBox 16" id="16"/>
            <p:cNvSpPr txBox="true"/>
            <p:nvPr/>
          </p:nvSpPr>
          <p:spPr>
            <a:xfrm>
              <a:off x="0" y="-66675"/>
              <a:ext cx="1886524" cy="730378"/>
            </a:xfrm>
            <a:prstGeom prst="rect">
              <a:avLst/>
            </a:prstGeom>
          </p:spPr>
          <p:txBody>
            <a:bodyPr anchor="ctr" rtlCol="false" tIns="50800" lIns="50800" bIns="50800" rIns="50800"/>
            <a:lstStyle/>
            <a:p>
              <a:pPr algn="ctr">
                <a:lnSpc>
                  <a:spcPts val="2800"/>
                </a:lnSpc>
              </a:pPr>
            </a:p>
          </p:txBody>
        </p:sp>
      </p:grpSp>
      <p:grpSp>
        <p:nvGrpSpPr>
          <p:cNvPr name="Group 17" id="17"/>
          <p:cNvGrpSpPr/>
          <p:nvPr/>
        </p:nvGrpSpPr>
        <p:grpSpPr>
          <a:xfrm rot="0">
            <a:off x="608840" y="2312915"/>
            <a:ext cx="8429924" cy="3374183"/>
            <a:chOff x="0" y="0"/>
            <a:chExt cx="1886524" cy="755105"/>
          </a:xfrm>
        </p:grpSpPr>
        <p:sp>
          <p:nvSpPr>
            <p:cNvPr name="Freeform 18" id="18"/>
            <p:cNvSpPr/>
            <p:nvPr/>
          </p:nvSpPr>
          <p:spPr>
            <a:xfrm flipH="false" flipV="false" rot="0">
              <a:off x="0" y="0"/>
              <a:ext cx="1886524" cy="755105"/>
            </a:xfrm>
            <a:custGeom>
              <a:avLst/>
              <a:gdLst/>
              <a:ahLst/>
              <a:cxnLst/>
              <a:rect r="r" b="b" t="t" l="l"/>
              <a:pathLst>
                <a:path h="755105" w="1886524">
                  <a:moveTo>
                    <a:pt x="46838" y="0"/>
                  </a:moveTo>
                  <a:lnTo>
                    <a:pt x="1839687" y="0"/>
                  </a:lnTo>
                  <a:cubicBezTo>
                    <a:pt x="1865555" y="0"/>
                    <a:pt x="1886524" y="20970"/>
                    <a:pt x="1886524" y="46838"/>
                  </a:cubicBezTo>
                  <a:lnTo>
                    <a:pt x="1886524" y="708267"/>
                  </a:lnTo>
                  <a:cubicBezTo>
                    <a:pt x="1886524" y="734135"/>
                    <a:pt x="1865555" y="755105"/>
                    <a:pt x="1839687" y="755105"/>
                  </a:cubicBezTo>
                  <a:lnTo>
                    <a:pt x="46838" y="755105"/>
                  </a:lnTo>
                  <a:cubicBezTo>
                    <a:pt x="20970" y="755105"/>
                    <a:pt x="0" y="734135"/>
                    <a:pt x="0" y="708267"/>
                  </a:cubicBezTo>
                  <a:lnTo>
                    <a:pt x="0" y="46838"/>
                  </a:lnTo>
                  <a:cubicBezTo>
                    <a:pt x="0" y="20970"/>
                    <a:pt x="20970" y="0"/>
                    <a:pt x="46838" y="0"/>
                  </a:cubicBezTo>
                  <a:close/>
                </a:path>
              </a:pathLst>
            </a:custGeom>
            <a:solidFill>
              <a:srgbClr val="FFA9DC"/>
            </a:solidFill>
          </p:spPr>
        </p:sp>
        <p:sp>
          <p:nvSpPr>
            <p:cNvPr name="TextBox 19" id="19"/>
            <p:cNvSpPr txBox="true"/>
            <p:nvPr/>
          </p:nvSpPr>
          <p:spPr>
            <a:xfrm>
              <a:off x="0" y="-66675"/>
              <a:ext cx="1886524" cy="821780"/>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0">
            <a:off x="883235" y="2469362"/>
            <a:ext cx="7921374" cy="2986756"/>
          </a:xfrm>
          <a:prstGeom prst="rect">
            <a:avLst/>
          </a:prstGeom>
        </p:spPr>
        <p:txBody>
          <a:bodyPr anchor="t" rtlCol="false" tIns="0" lIns="0" bIns="0" rIns="0">
            <a:spAutoFit/>
          </a:bodyPr>
          <a:lstStyle/>
          <a:p>
            <a:pPr algn="l">
              <a:lnSpc>
                <a:spcPts val="3900"/>
              </a:lnSpc>
            </a:pPr>
            <a:r>
              <a:rPr lang="en-US" sz="2786" spc="-156" b="true">
                <a:solidFill>
                  <a:srgbClr val="000000"/>
                </a:solidFill>
                <a:latin typeface="Poppins Bold"/>
                <a:ea typeface="Poppins Bold"/>
                <a:cs typeface="Poppins Bold"/>
                <a:sym typeface="Poppins Bold"/>
              </a:rPr>
              <a:t>Key Libraries:</a:t>
            </a:r>
          </a:p>
          <a:p>
            <a:pPr algn="l" marL="601535" indent="-300768" lvl="1">
              <a:lnSpc>
                <a:spcPts val="3900"/>
              </a:lnSpc>
              <a:buFont typeface="Arial"/>
              <a:buChar char="•"/>
            </a:pPr>
            <a:r>
              <a:rPr lang="en-US" sz="2786" spc="-156">
                <a:solidFill>
                  <a:srgbClr val="000000"/>
                </a:solidFill>
                <a:latin typeface="Poppins"/>
                <a:ea typeface="Poppins"/>
                <a:cs typeface="Poppins"/>
                <a:sym typeface="Poppins"/>
              </a:rPr>
              <a:t>streamlit - Web interface</a:t>
            </a:r>
          </a:p>
          <a:p>
            <a:pPr algn="l" marL="601535" indent="-300768" lvl="1">
              <a:lnSpc>
                <a:spcPts val="3900"/>
              </a:lnSpc>
              <a:buFont typeface="Arial"/>
              <a:buChar char="•"/>
            </a:pPr>
            <a:r>
              <a:rPr lang="en-US" sz="2786" spc="-156">
                <a:solidFill>
                  <a:srgbClr val="000000"/>
                </a:solidFill>
                <a:latin typeface="Poppins"/>
                <a:ea typeface="Poppins"/>
                <a:cs typeface="Poppins"/>
                <a:sym typeface="Poppins"/>
              </a:rPr>
              <a:t>sentence-transformers - BERT model</a:t>
            </a:r>
          </a:p>
          <a:p>
            <a:pPr algn="l" marL="601535" indent="-300768" lvl="1">
              <a:lnSpc>
                <a:spcPts val="3900"/>
              </a:lnSpc>
              <a:buFont typeface="Arial"/>
              <a:buChar char="•"/>
            </a:pPr>
            <a:r>
              <a:rPr lang="en-US" sz="2786" spc="-156">
                <a:solidFill>
                  <a:srgbClr val="000000"/>
                </a:solidFill>
                <a:latin typeface="Poppins"/>
                <a:ea typeface="Poppins"/>
                <a:cs typeface="Poppins"/>
                <a:sym typeface="Poppins"/>
              </a:rPr>
              <a:t>scikit-learn - TF-IDF implementation</a:t>
            </a:r>
          </a:p>
          <a:p>
            <a:pPr algn="l" marL="601535" indent="-300768" lvl="1">
              <a:lnSpc>
                <a:spcPts val="3900"/>
              </a:lnSpc>
              <a:buFont typeface="Arial"/>
              <a:buChar char="•"/>
            </a:pPr>
            <a:r>
              <a:rPr lang="en-US" sz="2786" spc="-156">
                <a:solidFill>
                  <a:srgbClr val="000000"/>
                </a:solidFill>
                <a:latin typeface="Poppins"/>
                <a:ea typeface="Poppins"/>
                <a:cs typeface="Poppins"/>
                <a:sym typeface="Poppins"/>
              </a:rPr>
              <a:t>openai - ChatGPT integration</a:t>
            </a:r>
          </a:p>
          <a:p>
            <a:pPr algn="l" marL="601535" indent="-300768" lvl="1">
              <a:lnSpc>
                <a:spcPts val="3900"/>
              </a:lnSpc>
              <a:buFont typeface="Arial"/>
              <a:buChar char="•"/>
            </a:pPr>
            <a:r>
              <a:rPr lang="en-US" sz="2786" spc="-156">
                <a:solidFill>
                  <a:srgbClr val="000000"/>
                </a:solidFill>
                <a:latin typeface="Poppins"/>
                <a:ea typeface="Poppins"/>
                <a:cs typeface="Poppins"/>
                <a:sym typeface="Poppins"/>
              </a:rPr>
              <a:t>pyngrok - Public URL deployment</a:t>
            </a:r>
          </a:p>
        </p:txBody>
      </p:sp>
      <p:grpSp>
        <p:nvGrpSpPr>
          <p:cNvPr name="Group 21" id="21"/>
          <p:cNvGrpSpPr/>
          <p:nvPr/>
        </p:nvGrpSpPr>
        <p:grpSpPr>
          <a:xfrm rot="0">
            <a:off x="9379675" y="2312915"/>
            <a:ext cx="8429924" cy="1687092"/>
            <a:chOff x="0" y="0"/>
            <a:chExt cx="1886524" cy="377553"/>
          </a:xfrm>
        </p:grpSpPr>
        <p:sp>
          <p:nvSpPr>
            <p:cNvPr name="Freeform 22" id="22"/>
            <p:cNvSpPr/>
            <p:nvPr/>
          </p:nvSpPr>
          <p:spPr>
            <a:xfrm flipH="false" flipV="false" rot="0">
              <a:off x="0" y="0"/>
              <a:ext cx="1886524" cy="377553"/>
            </a:xfrm>
            <a:custGeom>
              <a:avLst/>
              <a:gdLst/>
              <a:ahLst/>
              <a:cxnLst/>
              <a:rect r="r" b="b" t="t" l="l"/>
              <a:pathLst>
                <a:path h="377553" w="1886524">
                  <a:moveTo>
                    <a:pt x="46838" y="0"/>
                  </a:moveTo>
                  <a:lnTo>
                    <a:pt x="1839687" y="0"/>
                  </a:lnTo>
                  <a:cubicBezTo>
                    <a:pt x="1865555" y="0"/>
                    <a:pt x="1886524" y="20970"/>
                    <a:pt x="1886524" y="46838"/>
                  </a:cubicBezTo>
                  <a:lnTo>
                    <a:pt x="1886524" y="330715"/>
                  </a:lnTo>
                  <a:cubicBezTo>
                    <a:pt x="1886524" y="356583"/>
                    <a:pt x="1865555" y="377553"/>
                    <a:pt x="1839687" y="377553"/>
                  </a:cubicBezTo>
                  <a:lnTo>
                    <a:pt x="46838" y="377553"/>
                  </a:lnTo>
                  <a:cubicBezTo>
                    <a:pt x="20970" y="377553"/>
                    <a:pt x="0" y="356583"/>
                    <a:pt x="0" y="330715"/>
                  </a:cubicBezTo>
                  <a:lnTo>
                    <a:pt x="0" y="46838"/>
                  </a:lnTo>
                  <a:cubicBezTo>
                    <a:pt x="0" y="20970"/>
                    <a:pt x="20970" y="0"/>
                    <a:pt x="46838" y="0"/>
                  </a:cubicBezTo>
                  <a:close/>
                </a:path>
              </a:pathLst>
            </a:custGeom>
            <a:solidFill>
              <a:srgbClr val="7281FE"/>
            </a:solidFill>
          </p:spPr>
        </p:sp>
        <p:sp>
          <p:nvSpPr>
            <p:cNvPr name="TextBox 23" id="23"/>
            <p:cNvSpPr txBox="true"/>
            <p:nvPr/>
          </p:nvSpPr>
          <p:spPr>
            <a:xfrm>
              <a:off x="0" y="-66675"/>
              <a:ext cx="1886524" cy="444228"/>
            </a:xfrm>
            <a:prstGeom prst="rect">
              <a:avLst/>
            </a:prstGeom>
          </p:spPr>
          <p:txBody>
            <a:bodyPr anchor="ctr" rtlCol="false" tIns="50800" lIns="50800" bIns="50800" rIns="50800"/>
            <a:lstStyle/>
            <a:p>
              <a:pPr algn="ctr">
                <a:lnSpc>
                  <a:spcPts val="2800"/>
                </a:lnSpc>
              </a:pPr>
            </a:p>
          </p:txBody>
        </p:sp>
      </p:grpSp>
      <p:sp>
        <p:nvSpPr>
          <p:cNvPr name="TextBox 24" id="24"/>
          <p:cNvSpPr txBox="true"/>
          <p:nvPr/>
        </p:nvSpPr>
        <p:spPr>
          <a:xfrm rot="0">
            <a:off x="779490" y="6111051"/>
            <a:ext cx="8004999" cy="2491456"/>
          </a:xfrm>
          <a:prstGeom prst="rect">
            <a:avLst/>
          </a:prstGeom>
        </p:spPr>
        <p:txBody>
          <a:bodyPr anchor="t" rtlCol="false" tIns="0" lIns="0" bIns="0" rIns="0">
            <a:spAutoFit/>
          </a:bodyPr>
          <a:lstStyle/>
          <a:p>
            <a:pPr algn="l">
              <a:lnSpc>
                <a:spcPts val="3900"/>
              </a:lnSpc>
            </a:pPr>
            <a:r>
              <a:rPr lang="en-US" sz="2786" spc="-156" b="true">
                <a:solidFill>
                  <a:srgbClr val="000000"/>
                </a:solidFill>
                <a:latin typeface="Poppins Bold"/>
                <a:ea typeface="Poppins Bold"/>
                <a:cs typeface="Poppins Bold"/>
                <a:sym typeface="Poppins Bold"/>
              </a:rPr>
              <a:t>Models:</a:t>
            </a:r>
          </a:p>
          <a:p>
            <a:pPr algn="l" marL="601535" indent="-300768" lvl="1">
              <a:lnSpc>
                <a:spcPts val="3900"/>
              </a:lnSpc>
              <a:buFont typeface="Arial"/>
              <a:buChar char="•"/>
            </a:pPr>
            <a:r>
              <a:rPr lang="en-US" sz="2786" spc="-156">
                <a:solidFill>
                  <a:srgbClr val="000000"/>
                </a:solidFill>
                <a:latin typeface="Poppins"/>
                <a:ea typeface="Poppins"/>
                <a:cs typeface="Poppins"/>
                <a:sym typeface="Poppins"/>
              </a:rPr>
              <a:t>TF-IDF: scikit-learn TfidfVectorizer</a:t>
            </a:r>
          </a:p>
          <a:p>
            <a:pPr algn="l" marL="601535" indent="-300768" lvl="1">
              <a:lnSpc>
                <a:spcPts val="3900"/>
              </a:lnSpc>
              <a:buFont typeface="Arial"/>
              <a:buChar char="•"/>
            </a:pPr>
            <a:r>
              <a:rPr lang="en-US" sz="2786" spc="-156">
                <a:solidFill>
                  <a:srgbClr val="000000"/>
                </a:solidFill>
                <a:latin typeface="Poppins"/>
                <a:ea typeface="Poppins"/>
                <a:cs typeface="Poppins"/>
                <a:sym typeface="Poppins"/>
              </a:rPr>
              <a:t>BERT: all-MiniLM-L6-v2 (80MB lightweight model)</a:t>
            </a:r>
          </a:p>
          <a:p>
            <a:pPr algn="l" marL="601535" indent="-300768" lvl="1">
              <a:lnSpc>
                <a:spcPts val="3900"/>
              </a:lnSpc>
              <a:buFont typeface="Arial"/>
              <a:buChar char="•"/>
            </a:pPr>
            <a:r>
              <a:rPr lang="en-US" sz="2786" spc="-156">
                <a:solidFill>
                  <a:srgbClr val="000000"/>
                </a:solidFill>
                <a:latin typeface="Poppins"/>
                <a:ea typeface="Poppins"/>
                <a:cs typeface="Poppins"/>
                <a:sym typeface="Poppins"/>
              </a:rPr>
              <a:t>Chatbot: OpenAI gpt-4o-mini</a:t>
            </a:r>
          </a:p>
        </p:txBody>
      </p:sp>
      <p:grpSp>
        <p:nvGrpSpPr>
          <p:cNvPr name="Group 25" id="25"/>
          <p:cNvGrpSpPr/>
          <p:nvPr/>
        </p:nvGrpSpPr>
        <p:grpSpPr>
          <a:xfrm rot="0">
            <a:off x="9379675" y="4228607"/>
            <a:ext cx="8429924" cy="1968169"/>
            <a:chOff x="0" y="0"/>
            <a:chExt cx="1886524" cy="440455"/>
          </a:xfrm>
        </p:grpSpPr>
        <p:sp>
          <p:nvSpPr>
            <p:cNvPr name="Freeform 26" id="26"/>
            <p:cNvSpPr/>
            <p:nvPr/>
          </p:nvSpPr>
          <p:spPr>
            <a:xfrm flipH="false" flipV="false" rot="0">
              <a:off x="0" y="0"/>
              <a:ext cx="1886524" cy="440455"/>
            </a:xfrm>
            <a:custGeom>
              <a:avLst/>
              <a:gdLst/>
              <a:ahLst/>
              <a:cxnLst/>
              <a:rect r="r" b="b" t="t" l="l"/>
              <a:pathLst>
                <a:path h="440455" w="1886524">
                  <a:moveTo>
                    <a:pt x="46838" y="0"/>
                  </a:moveTo>
                  <a:lnTo>
                    <a:pt x="1839687" y="0"/>
                  </a:lnTo>
                  <a:cubicBezTo>
                    <a:pt x="1865555" y="0"/>
                    <a:pt x="1886524" y="20970"/>
                    <a:pt x="1886524" y="46838"/>
                  </a:cubicBezTo>
                  <a:lnTo>
                    <a:pt x="1886524" y="393617"/>
                  </a:lnTo>
                  <a:cubicBezTo>
                    <a:pt x="1886524" y="419485"/>
                    <a:pt x="1865555" y="440455"/>
                    <a:pt x="1839687" y="440455"/>
                  </a:cubicBezTo>
                  <a:lnTo>
                    <a:pt x="46838" y="440455"/>
                  </a:lnTo>
                  <a:cubicBezTo>
                    <a:pt x="20970" y="440455"/>
                    <a:pt x="0" y="419485"/>
                    <a:pt x="0" y="393617"/>
                  </a:cubicBezTo>
                  <a:lnTo>
                    <a:pt x="0" y="46838"/>
                  </a:lnTo>
                  <a:cubicBezTo>
                    <a:pt x="0" y="20970"/>
                    <a:pt x="20970" y="0"/>
                    <a:pt x="46838" y="0"/>
                  </a:cubicBezTo>
                  <a:close/>
                </a:path>
              </a:pathLst>
            </a:custGeom>
            <a:solidFill>
              <a:srgbClr val="FEB389"/>
            </a:solidFill>
          </p:spPr>
        </p:sp>
        <p:sp>
          <p:nvSpPr>
            <p:cNvPr name="TextBox 27" id="27"/>
            <p:cNvSpPr txBox="true"/>
            <p:nvPr/>
          </p:nvSpPr>
          <p:spPr>
            <a:xfrm>
              <a:off x="0" y="-66675"/>
              <a:ext cx="1886524" cy="507130"/>
            </a:xfrm>
            <a:prstGeom prst="rect">
              <a:avLst/>
            </a:prstGeom>
          </p:spPr>
          <p:txBody>
            <a:bodyPr anchor="ctr" rtlCol="false" tIns="50800" lIns="50800" bIns="50800" rIns="50800"/>
            <a:lstStyle/>
            <a:p>
              <a:pPr algn="ctr">
                <a:lnSpc>
                  <a:spcPts val="2800"/>
                </a:lnSpc>
              </a:pPr>
            </a:p>
          </p:txBody>
        </p:sp>
      </p:grpSp>
      <p:sp>
        <p:nvSpPr>
          <p:cNvPr name="TextBox 28" id="28"/>
          <p:cNvSpPr txBox="true"/>
          <p:nvPr/>
        </p:nvSpPr>
        <p:spPr>
          <a:xfrm rot="0">
            <a:off x="9592137" y="4597859"/>
            <a:ext cx="8004999" cy="1005556"/>
          </a:xfrm>
          <a:prstGeom prst="rect">
            <a:avLst/>
          </a:prstGeom>
        </p:spPr>
        <p:txBody>
          <a:bodyPr anchor="t" rtlCol="false" tIns="0" lIns="0" bIns="0" rIns="0">
            <a:spAutoFit/>
          </a:bodyPr>
          <a:lstStyle/>
          <a:p>
            <a:pPr algn="l">
              <a:lnSpc>
                <a:spcPts val="3900"/>
              </a:lnSpc>
            </a:pPr>
            <a:r>
              <a:rPr lang="en-US" b="true" sz="2786" spc="-156">
                <a:solidFill>
                  <a:srgbClr val="000000"/>
                </a:solidFill>
                <a:latin typeface="Poppins Bold"/>
                <a:ea typeface="Poppins Bold"/>
                <a:cs typeface="Poppins Bold"/>
                <a:sym typeface="Poppins Bold"/>
              </a:rPr>
              <a:t>Processing Capacity</a:t>
            </a:r>
            <a:r>
              <a:rPr lang="en-US" sz="2786" spc="-156">
                <a:solidFill>
                  <a:srgbClr val="000000"/>
                </a:solidFill>
                <a:latin typeface="Poppins"/>
                <a:ea typeface="Poppins"/>
                <a:cs typeface="Poppins"/>
                <a:sym typeface="Poppins"/>
              </a:rPr>
              <a:t>: Handles documents up to 10,000 words efficiently</a:t>
            </a:r>
          </a:p>
        </p:txBody>
      </p:sp>
      <p:sp>
        <p:nvSpPr>
          <p:cNvPr name="TextBox 29" id="29"/>
          <p:cNvSpPr txBox="true"/>
          <p:nvPr/>
        </p:nvSpPr>
        <p:spPr>
          <a:xfrm rot="0">
            <a:off x="9592137" y="2610821"/>
            <a:ext cx="8004999" cy="1005556"/>
          </a:xfrm>
          <a:prstGeom prst="rect">
            <a:avLst/>
          </a:prstGeom>
        </p:spPr>
        <p:txBody>
          <a:bodyPr anchor="t" rtlCol="false" tIns="0" lIns="0" bIns="0" rIns="0">
            <a:spAutoFit/>
          </a:bodyPr>
          <a:lstStyle/>
          <a:p>
            <a:pPr algn="l">
              <a:lnSpc>
                <a:spcPts val="3900"/>
              </a:lnSpc>
            </a:pPr>
            <a:r>
              <a:rPr lang="en-US" b="true" sz="2786" spc="-156">
                <a:solidFill>
                  <a:srgbClr val="000000"/>
                </a:solidFill>
                <a:latin typeface="Poppins Bold"/>
                <a:ea typeface="Poppins Bold"/>
                <a:cs typeface="Poppins Bold"/>
                <a:sym typeface="Poppins Bold"/>
              </a:rPr>
              <a:t>Deployment Platform:</a:t>
            </a:r>
            <a:r>
              <a:rPr lang="en-US" sz="2786" spc="-156">
                <a:solidFill>
                  <a:srgbClr val="000000"/>
                </a:solidFill>
                <a:latin typeface="Poppins"/>
                <a:ea typeface="Poppins"/>
                <a:cs typeface="Poppins"/>
                <a:sym typeface="Poppins"/>
              </a:rPr>
              <a:t> Google Colab with ngrok tunnel</a:t>
            </a:r>
          </a:p>
        </p:txBody>
      </p:sp>
      <p:grpSp>
        <p:nvGrpSpPr>
          <p:cNvPr name="Group 30" id="30"/>
          <p:cNvGrpSpPr/>
          <p:nvPr/>
        </p:nvGrpSpPr>
        <p:grpSpPr>
          <a:xfrm rot="0">
            <a:off x="9379675" y="6425376"/>
            <a:ext cx="8429924" cy="2456078"/>
            <a:chOff x="0" y="0"/>
            <a:chExt cx="1886524" cy="549643"/>
          </a:xfrm>
        </p:grpSpPr>
        <p:sp>
          <p:nvSpPr>
            <p:cNvPr name="Freeform 31" id="31"/>
            <p:cNvSpPr/>
            <p:nvPr/>
          </p:nvSpPr>
          <p:spPr>
            <a:xfrm flipH="false" flipV="false" rot="0">
              <a:off x="0" y="0"/>
              <a:ext cx="1886524" cy="549643"/>
            </a:xfrm>
            <a:custGeom>
              <a:avLst/>
              <a:gdLst/>
              <a:ahLst/>
              <a:cxnLst/>
              <a:rect r="r" b="b" t="t" l="l"/>
              <a:pathLst>
                <a:path h="549643" w="1886524">
                  <a:moveTo>
                    <a:pt x="46838" y="0"/>
                  </a:moveTo>
                  <a:lnTo>
                    <a:pt x="1839687" y="0"/>
                  </a:lnTo>
                  <a:cubicBezTo>
                    <a:pt x="1865555" y="0"/>
                    <a:pt x="1886524" y="20970"/>
                    <a:pt x="1886524" y="46838"/>
                  </a:cubicBezTo>
                  <a:lnTo>
                    <a:pt x="1886524" y="502806"/>
                  </a:lnTo>
                  <a:cubicBezTo>
                    <a:pt x="1886524" y="528673"/>
                    <a:pt x="1865555" y="549643"/>
                    <a:pt x="1839687" y="549643"/>
                  </a:cubicBezTo>
                  <a:lnTo>
                    <a:pt x="46838" y="549643"/>
                  </a:lnTo>
                  <a:cubicBezTo>
                    <a:pt x="20970" y="549643"/>
                    <a:pt x="0" y="528673"/>
                    <a:pt x="0" y="502806"/>
                  </a:cubicBezTo>
                  <a:lnTo>
                    <a:pt x="0" y="46838"/>
                  </a:lnTo>
                  <a:cubicBezTo>
                    <a:pt x="0" y="20970"/>
                    <a:pt x="20970" y="0"/>
                    <a:pt x="46838" y="0"/>
                  </a:cubicBezTo>
                  <a:close/>
                </a:path>
              </a:pathLst>
            </a:custGeom>
            <a:solidFill>
              <a:srgbClr val="FFA9DC"/>
            </a:solidFill>
          </p:spPr>
        </p:sp>
        <p:sp>
          <p:nvSpPr>
            <p:cNvPr name="TextBox 32" id="32"/>
            <p:cNvSpPr txBox="true"/>
            <p:nvPr/>
          </p:nvSpPr>
          <p:spPr>
            <a:xfrm>
              <a:off x="0" y="-66675"/>
              <a:ext cx="1886524" cy="616318"/>
            </a:xfrm>
            <a:prstGeom prst="rect">
              <a:avLst/>
            </a:prstGeom>
          </p:spPr>
          <p:txBody>
            <a:bodyPr anchor="ctr" rtlCol="false" tIns="50800" lIns="50800" bIns="50800" rIns="50800"/>
            <a:lstStyle/>
            <a:p>
              <a:pPr algn="ctr">
                <a:lnSpc>
                  <a:spcPts val="2800"/>
                </a:lnSpc>
              </a:pPr>
            </a:p>
          </p:txBody>
        </p:sp>
      </p:grpSp>
      <p:sp>
        <p:nvSpPr>
          <p:cNvPr name="TextBox 33" id="33"/>
          <p:cNvSpPr txBox="true"/>
          <p:nvPr/>
        </p:nvSpPr>
        <p:spPr>
          <a:xfrm rot="0">
            <a:off x="9675763" y="7144423"/>
            <a:ext cx="7921374" cy="1005556"/>
          </a:xfrm>
          <a:prstGeom prst="rect">
            <a:avLst/>
          </a:prstGeom>
        </p:spPr>
        <p:txBody>
          <a:bodyPr anchor="t" rtlCol="false" tIns="0" lIns="0" bIns="0" rIns="0">
            <a:spAutoFit/>
          </a:bodyPr>
          <a:lstStyle/>
          <a:p>
            <a:pPr algn="l">
              <a:lnSpc>
                <a:spcPts val="3900"/>
              </a:lnSpc>
            </a:pPr>
            <a:r>
              <a:rPr lang="en-US" b="true" sz="2786" spc="-156">
                <a:solidFill>
                  <a:srgbClr val="000000"/>
                </a:solidFill>
                <a:latin typeface="Poppins Bold"/>
                <a:ea typeface="Poppins Bold"/>
                <a:cs typeface="Poppins Bold"/>
                <a:sym typeface="Poppins Bold"/>
              </a:rPr>
              <a:t>Accuracy Target</a:t>
            </a:r>
            <a:r>
              <a:rPr lang="en-US" sz="2786" spc="-156">
                <a:solidFill>
                  <a:srgbClr val="000000"/>
                </a:solidFill>
                <a:latin typeface="Poppins"/>
                <a:ea typeface="Poppins"/>
                <a:cs typeface="Poppins"/>
                <a:sym typeface="Poppins"/>
              </a:rPr>
              <a:t>: 90%+ combined accuracy achieved</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454159" y="3411639"/>
            <a:ext cx="203751" cy="1863440"/>
            <a:chOff x="0" y="0"/>
            <a:chExt cx="53663" cy="490783"/>
          </a:xfrm>
        </p:grpSpPr>
        <p:sp>
          <p:nvSpPr>
            <p:cNvPr name="Freeform 3" id="3"/>
            <p:cNvSpPr/>
            <p:nvPr/>
          </p:nvSpPr>
          <p:spPr>
            <a:xfrm flipH="false" flipV="false" rot="0">
              <a:off x="0" y="0"/>
              <a:ext cx="53663" cy="490783"/>
            </a:xfrm>
            <a:custGeom>
              <a:avLst/>
              <a:gdLst/>
              <a:ahLst/>
              <a:cxnLst/>
              <a:rect r="r" b="b" t="t" l="l"/>
              <a:pathLst>
                <a:path h="490783" w="53663">
                  <a:moveTo>
                    <a:pt x="0" y="0"/>
                  </a:moveTo>
                  <a:lnTo>
                    <a:pt x="53663" y="0"/>
                  </a:lnTo>
                  <a:lnTo>
                    <a:pt x="53663" y="490783"/>
                  </a:lnTo>
                  <a:lnTo>
                    <a:pt x="0" y="490783"/>
                  </a:lnTo>
                  <a:close/>
                </a:path>
              </a:pathLst>
            </a:custGeom>
            <a:solidFill>
              <a:srgbClr val="7281FE"/>
            </a:solidFill>
          </p:spPr>
        </p:sp>
        <p:sp>
          <p:nvSpPr>
            <p:cNvPr name="TextBox 4" id="4"/>
            <p:cNvSpPr txBox="true"/>
            <p:nvPr/>
          </p:nvSpPr>
          <p:spPr>
            <a:xfrm>
              <a:off x="0" y="-66675"/>
              <a:ext cx="53663" cy="557458"/>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5553419" y="6719816"/>
            <a:ext cx="6713220" cy="7505700"/>
            <a:chOff x="0" y="0"/>
            <a:chExt cx="1768091" cy="1976810"/>
          </a:xfrm>
        </p:grpSpPr>
        <p:sp>
          <p:nvSpPr>
            <p:cNvPr name="Freeform 6" id="6"/>
            <p:cNvSpPr/>
            <p:nvPr/>
          </p:nvSpPr>
          <p:spPr>
            <a:xfrm flipH="false" flipV="false" rot="0">
              <a:off x="0" y="0"/>
              <a:ext cx="1768091" cy="1976810"/>
            </a:xfrm>
            <a:custGeom>
              <a:avLst/>
              <a:gdLst/>
              <a:ahLst/>
              <a:cxnLst/>
              <a:rect r="r" b="b" t="t" l="l"/>
              <a:pathLst>
                <a:path h="1976810" w="1768091">
                  <a:moveTo>
                    <a:pt x="115324" y="0"/>
                  </a:moveTo>
                  <a:lnTo>
                    <a:pt x="1652767" y="0"/>
                  </a:lnTo>
                  <a:cubicBezTo>
                    <a:pt x="1716459" y="0"/>
                    <a:pt x="1768091" y="51632"/>
                    <a:pt x="1768091" y="115324"/>
                  </a:cubicBezTo>
                  <a:lnTo>
                    <a:pt x="1768091" y="1861486"/>
                  </a:lnTo>
                  <a:cubicBezTo>
                    <a:pt x="1768091" y="1925178"/>
                    <a:pt x="1716459" y="1976810"/>
                    <a:pt x="1652767" y="1976810"/>
                  </a:cubicBezTo>
                  <a:lnTo>
                    <a:pt x="115324" y="1976810"/>
                  </a:lnTo>
                  <a:cubicBezTo>
                    <a:pt x="51632" y="1976810"/>
                    <a:pt x="0" y="1925178"/>
                    <a:pt x="0" y="1861486"/>
                  </a:cubicBezTo>
                  <a:lnTo>
                    <a:pt x="0" y="115324"/>
                  </a:lnTo>
                  <a:cubicBezTo>
                    <a:pt x="0" y="51632"/>
                    <a:pt x="51632" y="0"/>
                    <a:pt x="115324" y="0"/>
                  </a:cubicBezTo>
                  <a:close/>
                </a:path>
              </a:pathLst>
            </a:custGeom>
            <a:solidFill>
              <a:srgbClr val="FEB389"/>
            </a:solidFill>
          </p:spPr>
        </p:sp>
        <p:sp>
          <p:nvSpPr>
            <p:cNvPr name="TextBox 7" id="7"/>
            <p:cNvSpPr txBox="true"/>
            <p:nvPr/>
          </p:nvSpPr>
          <p:spPr>
            <a:xfrm>
              <a:off x="0" y="-66675"/>
              <a:ext cx="1768091" cy="204348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15190404" y="7275504"/>
            <a:ext cx="6950011" cy="69500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10" id="10"/>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806613" y="7694080"/>
            <a:ext cx="647546" cy="566602"/>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3" id="13"/>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4" id="14"/>
          <p:cNvGrpSpPr/>
          <p:nvPr/>
        </p:nvGrpSpPr>
        <p:grpSpPr>
          <a:xfrm rot="0">
            <a:off x="806613" y="8400859"/>
            <a:ext cx="647546" cy="566602"/>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grpSp>
        <p:nvGrpSpPr>
          <p:cNvPr name="Group 17" id="17"/>
          <p:cNvGrpSpPr/>
          <p:nvPr/>
        </p:nvGrpSpPr>
        <p:grpSpPr>
          <a:xfrm rot="0">
            <a:off x="806613" y="9107638"/>
            <a:ext cx="647546" cy="566602"/>
            <a:chOff x="0" y="0"/>
            <a:chExt cx="812800" cy="711200"/>
          </a:xfrm>
        </p:grpSpPr>
        <p:sp>
          <p:nvSpPr>
            <p:cNvPr name="Freeform 18" id="1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00000"/>
            </a:solidFill>
          </p:spPr>
        </p:sp>
        <p:sp>
          <p:nvSpPr>
            <p:cNvPr name="TextBox 19" id="19"/>
            <p:cNvSpPr txBox="true"/>
            <p:nvPr/>
          </p:nvSpPr>
          <p:spPr>
            <a:xfrm>
              <a:off x="127000" y="263525"/>
              <a:ext cx="558800" cy="396875"/>
            </a:xfrm>
            <a:prstGeom prst="rect">
              <a:avLst/>
            </a:prstGeom>
          </p:spPr>
          <p:txBody>
            <a:bodyPr anchor="ctr" rtlCol="false" tIns="50800" lIns="50800" bIns="50800" rIns="50800"/>
            <a:lstStyle/>
            <a:p>
              <a:pPr algn="ctr">
                <a:lnSpc>
                  <a:spcPts val="3360"/>
                </a:lnSpc>
              </a:pPr>
            </a:p>
          </p:txBody>
        </p:sp>
      </p:grpSp>
      <p:sp>
        <p:nvSpPr>
          <p:cNvPr name="Freeform 20" id="20"/>
          <p:cNvSpPr/>
          <p:nvPr/>
        </p:nvSpPr>
        <p:spPr>
          <a:xfrm flipH="false" flipV="false" rot="0">
            <a:off x="8626978" y="6937611"/>
            <a:ext cx="2433673" cy="2433673"/>
          </a:xfrm>
          <a:custGeom>
            <a:avLst/>
            <a:gdLst/>
            <a:ahLst/>
            <a:cxnLst/>
            <a:rect r="r" b="b" t="t" l="l"/>
            <a:pathLst>
              <a:path h="2433673" w="2433673">
                <a:moveTo>
                  <a:pt x="0" y="0"/>
                </a:moveTo>
                <a:lnTo>
                  <a:pt x="2433673" y="0"/>
                </a:lnTo>
                <a:lnTo>
                  <a:pt x="2433673" y="2433674"/>
                </a:lnTo>
                <a:lnTo>
                  <a:pt x="0" y="24336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1864802" y="3262646"/>
            <a:ext cx="6168721" cy="1096532"/>
          </a:xfrm>
          <a:prstGeom prst="rect">
            <a:avLst/>
          </a:prstGeom>
        </p:spPr>
        <p:txBody>
          <a:bodyPr anchor="t" rtlCol="false" tIns="0" lIns="0" bIns="0" rIns="0">
            <a:spAutoFit/>
          </a:bodyPr>
          <a:lstStyle/>
          <a:p>
            <a:pPr algn="l" marL="0" indent="0" lvl="0">
              <a:lnSpc>
                <a:spcPts val="7859"/>
              </a:lnSpc>
              <a:spcBef>
                <a:spcPct val="0"/>
              </a:spcBef>
            </a:pPr>
            <a:r>
              <a:rPr lang="en-US" b="true" sz="7556" spc="-438">
                <a:solidFill>
                  <a:srgbClr val="000000"/>
                </a:solidFill>
                <a:latin typeface="Poppins Bold"/>
                <a:ea typeface="Poppins Bold"/>
                <a:cs typeface="Poppins Bold"/>
                <a:sym typeface="Poppins Bold"/>
              </a:rPr>
              <a:t>CONCLUSION</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2485898"/>
            <a:ext cx="203751" cy="836307"/>
            <a:chOff x="0" y="0"/>
            <a:chExt cx="53663" cy="220262"/>
          </a:xfrm>
        </p:grpSpPr>
        <p:sp>
          <p:nvSpPr>
            <p:cNvPr name="Freeform 9" id="9"/>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0" id="10"/>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grpSp>
        <p:nvGrpSpPr>
          <p:cNvPr name="Group 11" id="11"/>
          <p:cNvGrpSpPr/>
          <p:nvPr/>
        </p:nvGrpSpPr>
        <p:grpSpPr>
          <a:xfrm rot="0">
            <a:off x="632753" y="3935991"/>
            <a:ext cx="17022494" cy="3903205"/>
            <a:chOff x="0" y="0"/>
            <a:chExt cx="6631238" cy="1520522"/>
          </a:xfrm>
        </p:grpSpPr>
        <p:sp>
          <p:nvSpPr>
            <p:cNvPr name="Freeform 12" id="12"/>
            <p:cNvSpPr/>
            <p:nvPr/>
          </p:nvSpPr>
          <p:spPr>
            <a:xfrm flipH="false" flipV="false" rot="0">
              <a:off x="0" y="0"/>
              <a:ext cx="6631238" cy="1520522"/>
            </a:xfrm>
            <a:custGeom>
              <a:avLst/>
              <a:gdLst/>
              <a:ahLst/>
              <a:cxnLst/>
              <a:rect r="r" b="b" t="t" l="l"/>
              <a:pathLst>
                <a:path h="1520522" w="6631238">
                  <a:moveTo>
                    <a:pt x="8641" y="0"/>
                  </a:moveTo>
                  <a:lnTo>
                    <a:pt x="6622597" y="0"/>
                  </a:lnTo>
                  <a:cubicBezTo>
                    <a:pt x="6624889" y="0"/>
                    <a:pt x="6627086" y="910"/>
                    <a:pt x="6628707" y="2531"/>
                  </a:cubicBezTo>
                  <a:cubicBezTo>
                    <a:pt x="6630327" y="4152"/>
                    <a:pt x="6631238" y="6349"/>
                    <a:pt x="6631238" y="8641"/>
                  </a:cubicBezTo>
                  <a:lnTo>
                    <a:pt x="6631238" y="1511881"/>
                  </a:lnTo>
                  <a:cubicBezTo>
                    <a:pt x="6631238" y="1514173"/>
                    <a:pt x="6630327" y="1516371"/>
                    <a:pt x="6628707" y="1517991"/>
                  </a:cubicBezTo>
                  <a:cubicBezTo>
                    <a:pt x="6627086" y="1519612"/>
                    <a:pt x="6624889" y="1520522"/>
                    <a:pt x="6622597" y="1520522"/>
                  </a:cubicBezTo>
                  <a:lnTo>
                    <a:pt x="8641" y="1520522"/>
                  </a:lnTo>
                  <a:cubicBezTo>
                    <a:pt x="6349" y="1520522"/>
                    <a:pt x="4152" y="1519612"/>
                    <a:pt x="2531" y="1517991"/>
                  </a:cubicBezTo>
                  <a:cubicBezTo>
                    <a:pt x="910" y="1516371"/>
                    <a:pt x="0" y="1514173"/>
                    <a:pt x="0" y="1511881"/>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13" id="13"/>
            <p:cNvSpPr txBox="true"/>
            <p:nvPr/>
          </p:nvSpPr>
          <p:spPr>
            <a:xfrm>
              <a:off x="0" y="-66675"/>
              <a:ext cx="6631238" cy="1587197"/>
            </a:xfrm>
            <a:prstGeom prst="rect">
              <a:avLst/>
            </a:prstGeom>
          </p:spPr>
          <p:txBody>
            <a:bodyPr anchor="ctr" rtlCol="false" tIns="50800" lIns="50800" bIns="50800" rIns="50800"/>
            <a:lstStyle/>
            <a:p>
              <a:pPr algn="ctr">
                <a:lnSpc>
                  <a:spcPts val="3359"/>
                </a:lnSpc>
              </a:pPr>
            </a:p>
          </p:txBody>
        </p:sp>
      </p:grpSp>
      <p:sp>
        <p:nvSpPr>
          <p:cNvPr name="TextBox 14" id="14"/>
          <p:cNvSpPr txBox="true"/>
          <p:nvPr/>
        </p:nvSpPr>
        <p:spPr>
          <a:xfrm rot="0">
            <a:off x="1047305" y="2476379"/>
            <a:ext cx="14742913" cy="883920"/>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PROJECT SUMMARY</a:t>
            </a:r>
          </a:p>
        </p:txBody>
      </p:sp>
      <p:sp>
        <p:nvSpPr>
          <p:cNvPr name="TextBox 15" id="15"/>
          <p:cNvSpPr txBox="true"/>
          <p:nvPr/>
        </p:nvSpPr>
        <p:spPr>
          <a:xfrm rot="0">
            <a:off x="836504" y="4106534"/>
            <a:ext cx="16478508" cy="3536951"/>
          </a:xfrm>
          <a:prstGeom prst="rect">
            <a:avLst/>
          </a:prstGeom>
        </p:spPr>
        <p:txBody>
          <a:bodyPr anchor="t" rtlCol="false" tIns="0" lIns="0" bIns="0" rIns="0">
            <a:spAutoFit/>
          </a:bodyPr>
          <a:lstStyle/>
          <a:p>
            <a:pPr algn="just" marL="0" indent="0" lvl="0">
              <a:lnSpc>
                <a:spcPts val="5599"/>
              </a:lnSpc>
              <a:spcBef>
                <a:spcPct val="0"/>
              </a:spcBef>
            </a:pPr>
            <a:r>
              <a:rPr lang="en-US" sz="3999" spc="-223">
                <a:solidFill>
                  <a:srgbClr val="000000"/>
                </a:solidFill>
                <a:latin typeface="Poppins"/>
                <a:ea typeface="Poppins"/>
                <a:cs typeface="Poppins"/>
                <a:sym typeface="Poppins"/>
              </a:rPr>
              <a:t>4Real represents a successful implemen</a:t>
            </a:r>
            <a:r>
              <a:rPr lang="en-US" sz="3999" spc="-223">
                <a:solidFill>
                  <a:srgbClr val="000000"/>
                </a:solidFill>
                <a:latin typeface="Poppins"/>
                <a:ea typeface="Poppins"/>
                <a:cs typeface="Poppins"/>
                <a:sym typeface="Poppins"/>
              </a:rPr>
              <a:t>t</a:t>
            </a:r>
            <a:r>
              <a:rPr lang="en-US" sz="3999" spc="-223">
                <a:solidFill>
                  <a:srgbClr val="000000"/>
                </a:solidFill>
                <a:latin typeface="Poppins"/>
                <a:ea typeface="Poppins"/>
                <a:cs typeface="Poppins"/>
                <a:sym typeface="Poppins"/>
              </a:rPr>
              <a:t>ation of an </a:t>
            </a:r>
            <a:r>
              <a:rPr lang="en-US" b="true" sz="3999" spc="-223">
                <a:solidFill>
                  <a:srgbClr val="000000"/>
                </a:solidFill>
                <a:latin typeface="Poppins Bold"/>
                <a:ea typeface="Poppins Bold"/>
                <a:cs typeface="Poppins Bold"/>
                <a:sym typeface="Poppins Bold"/>
              </a:rPr>
              <a:t>advanced hybrid AI plagiarism detection system</a:t>
            </a:r>
            <a:r>
              <a:rPr lang="en-US" sz="3999" spc="-223">
                <a:solidFill>
                  <a:srgbClr val="000000"/>
                </a:solidFill>
                <a:latin typeface="Poppins"/>
                <a:ea typeface="Poppins"/>
                <a:cs typeface="Poppins"/>
                <a:sym typeface="Poppins"/>
              </a:rPr>
              <a:t> that combines classical NLP techniques (TF-IDF) with modern deep learning (BERT) to achieve comprehensive document similarity analysis. This section reflects on the project's</a:t>
            </a:r>
            <a:r>
              <a:rPr lang="en-US" sz="3999" spc="-223">
                <a:solidFill>
                  <a:srgbClr val="000000"/>
                </a:solidFill>
                <a:latin typeface="Poppins"/>
                <a:ea typeface="Poppins"/>
                <a:cs typeface="Poppins"/>
                <a:sym typeface="Poppins"/>
              </a:rPr>
              <a:t> achievements, limitat</a:t>
            </a:r>
            <a:r>
              <a:rPr lang="en-US" sz="3999" spc="-223">
                <a:solidFill>
                  <a:srgbClr val="000000"/>
                </a:solidFill>
                <a:latin typeface="Poppins"/>
                <a:ea typeface="Poppins"/>
                <a:cs typeface="Poppins"/>
                <a:sym typeface="Poppins"/>
              </a:rPr>
              <a:t>ions,</a:t>
            </a:r>
            <a:r>
              <a:rPr lang="en-US" sz="3999" spc="-223">
                <a:solidFill>
                  <a:srgbClr val="000000"/>
                </a:solidFill>
                <a:latin typeface="Poppins"/>
                <a:ea typeface="Poppins"/>
                <a:cs typeface="Poppins"/>
                <a:sym typeface="Poppins"/>
              </a:rPr>
              <a:t> and pot</a:t>
            </a:r>
            <a:r>
              <a:rPr lang="en-US" sz="3999" spc="-223">
                <a:solidFill>
                  <a:srgbClr val="000000"/>
                </a:solidFill>
                <a:latin typeface="Poppins"/>
                <a:ea typeface="Poppins"/>
                <a:cs typeface="Poppins"/>
                <a:sym typeface="Poppins"/>
              </a:rPr>
              <a:t>ent</a:t>
            </a:r>
            <a:r>
              <a:rPr lang="en-US" sz="3999" spc="-223">
                <a:solidFill>
                  <a:srgbClr val="000000"/>
                </a:solidFill>
                <a:latin typeface="Poppins"/>
                <a:ea typeface="Poppins"/>
                <a:cs typeface="Poppins"/>
                <a:sym typeface="Poppins"/>
              </a:rPr>
              <a:t>ial future enhancements</a:t>
            </a:r>
            <a:r>
              <a:rPr lang="en-US" sz="3999" spc="-223">
                <a:solidFill>
                  <a:srgbClr val="000000"/>
                </a:solidFill>
                <a:latin typeface="Poppins"/>
                <a:ea typeface="Poppins"/>
                <a:cs typeface="Poppins"/>
                <a:sym typeface="Poppins"/>
              </a:rPr>
              <a:t>.</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2799425"/>
            <a:ext cx="17022494" cy="5928682"/>
            <a:chOff x="0" y="0"/>
            <a:chExt cx="6631238" cy="2309562"/>
          </a:xfrm>
        </p:grpSpPr>
        <p:sp>
          <p:nvSpPr>
            <p:cNvPr name="Freeform 9" id="9"/>
            <p:cNvSpPr/>
            <p:nvPr/>
          </p:nvSpPr>
          <p:spPr>
            <a:xfrm flipH="false" flipV="false" rot="0">
              <a:off x="0" y="0"/>
              <a:ext cx="6631238" cy="2309562"/>
            </a:xfrm>
            <a:custGeom>
              <a:avLst/>
              <a:gdLst/>
              <a:ahLst/>
              <a:cxnLst/>
              <a:rect r="r" b="b" t="t" l="l"/>
              <a:pathLst>
                <a:path h="2309562" w="6631238">
                  <a:moveTo>
                    <a:pt x="8641" y="0"/>
                  </a:moveTo>
                  <a:lnTo>
                    <a:pt x="6622597" y="0"/>
                  </a:lnTo>
                  <a:cubicBezTo>
                    <a:pt x="6624889" y="0"/>
                    <a:pt x="6627086" y="910"/>
                    <a:pt x="6628707" y="2531"/>
                  </a:cubicBezTo>
                  <a:cubicBezTo>
                    <a:pt x="6630327" y="4152"/>
                    <a:pt x="6631238" y="6349"/>
                    <a:pt x="6631238" y="8641"/>
                  </a:cubicBezTo>
                  <a:lnTo>
                    <a:pt x="6631238" y="2300920"/>
                  </a:lnTo>
                  <a:cubicBezTo>
                    <a:pt x="6631238" y="2303212"/>
                    <a:pt x="6630327" y="2305410"/>
                    <a:pt x="6628707" y="2307030"/>
                  </a:cubicBezTo>
                  <a:cubicBezTo>
                    <a:pt x="6627086" y="2308651"/>
                    <a:pt x="6624889" y="2309562"/>
                    <a:pt x="6622597" y="2309562"/>
                  </a:cubicBezTo>
                  <a:lnTo>
                    <a:pt x="8641" y="2309562"/>
                  </a:lnTo>
                  <a:cubicBezTo>
                    <a:pt x="3869" y="2309562"/>
                    <a:pt x="0" y="2305693"/>
                    <a:pt x="0" y="2300920"/>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10" id="10"/>
            <p:cNvSpPr txBox="true"/>
            <p:nvPr/>
          </p:nvSpPr>
          <p:spPr>
            <a:xfrm>
              <a:off x="0" y="-66675"/>
              <a:ext cx="6631238" cy="2376237"/>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1271720" y="1558893"/>
            <a:ext cx="15744560" cy="912495"/>
            <a:chOff x="0" y="0"/>
            <a:chExt cx="20992746" cy="1216660"/>
          </a:xfrm>
        </p:grpSpPr>
        <p:grpSp>
          <p:nvGrpSpPr>
            <p:cNvPr name="Group 12" id="12"/>
            <p:cNvGrpSpPr/>
            <p:nvPr/>
          </p:nvGrpSpPr>
          <p:grpSpPr>
            <a:xfrm rot="0">
              <a:off x="0" y="50792"/>
              <a:ext cx="271668" cy="1115076"/>
              <a:chOff x="0" y="0"/>
              <a:chExt cx="53663" cy="220262"/>
            </a:xfrm>
          </p:grpSpPr>
          <p:sp>
            <p:nvSpPr>
              <p:cNvPr name="Freeform 13" id="13"/>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4" id="14"/>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sp>
          <p:nvSpPr>
            <p:cNvPr name="TextBox 15" id="15"/>
            <p:cNvSpPr txBox="true"/>
            <p:nvPr/>
          </p:nvSpPr>
          <p:spPr>
            <a:xfrm rot="0">
              <a:off x="552736" y="28575"/>
              <a:ext cx="20440010" cy="1188085"/>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FUTURE IMPROVEMENTS &amp; ENHANCEMENTS</a:t>
              </a:r>
            </a:p>
          </p:txBody>
        </p:sp>
      </p:grpSp>
      <p:sp>
        <p:nvSpPr>
          <p:cNvPr name="TextBox 16" id="16"/>
          <p:cNvSpPr txBox="true"/>
          <p:nvPr/>
        </p:nvSpPr>
        <p:spPr>
          <a:xfrm rot="0">
            <a:off x="904746" y="2865851"/>
            <a:ext cx="16478508" cy="5651501"/>
          </a:xfrm>
          <a:prstGeom prst="rect">
            <a:avLst/>
          </a:prstGeom>
        </p:spPr>
        <p:txBody>
          <a:bodyPr anchor="t" rtlCol="false" tIns="0" lIns="0" bIns="0" rIns="0">
            <a:spAutoFit/>
          </a:bodyPr>
          <a:lstStyle/>
          <a:p>
            <a:pPr algn="just" marL="863591" indent="-431796" lvl="1">
              <a:lnSpc>
                <a:spcPts val="5599"/>
              </a:lnSpc>
              <a:buAutoNum type="arabicPeriod" startAt="1"/>
            </a:pPr>
            <a:r>
              <a:rPr lang="en-US" b="true" sz="3999" spc="-223">
                <a:solidFill>
                  <a:srgbClr val="000000"/>
                </a:solidFill>
                <a:latin typeface="Poppins Bold"/>
                <a:ea typeface="Poppins Bold"/>
                <a:cs typeface="Poppins Bold"/>
                <a:sym typeface="Poppins Bold"/>
              </a:rPr>
              <a:t>File Upload Support</a:t>
            </a:r>
          </a:p>
          <a:p>
            <a:pPr algn="just" marL="1727183" indent="-575728" lvl="2">
              <a:lnSpc>
                <a:spcPts val="5599"/>
              </a:lnSpc>
              <a:buFont typeface="Arial"/>
              <a:buChar char="⚬"/>
            </a:pPr>
            <a:r>
              <a:rPr lang="en-US" sz="3999" spc="-223">
                <a:solidFill>
                  <a:srgbClr val="000000"/>
                </a:solidFill>
                <a:latin typeface="Poppins"/>
                <a:ea typeface="Poppins"/>
                <a:cs typeface="Poppins"/>
                <a:sym typeface="Poppins"/>
              </a:rPr>
              <a:t>reduces manual effort</a:t>
            </a:r>
          </a:p>
          <a:p>
            <a:pPr algn="just" marL="863591" indent="-431796" lvl="1">
              <a:lnSpc>
                <a:spcPts val="5599"/>
              </a:lnSpc>
              <a:buAutoNum type="arabicPeriod" startAt="1"/>
            </a:pPr>
            <a:r>
              <a:rPr lang="en-US" b="true" sz="3999" spc="-223">
                <a:solidFill>
                  <a:srgbClr val="000000"/>
                </a:solidFill>
                <a:latin typeface="Poppins Bold"/>
                <a:ea typeface="Poppins Bold"/>
                <a:cs typeface="Poppins Bold"/>
                <a:sym typeface="Poppins Bold"/>
              </a:rPr>
              <a:t>AI  Assistant</a:t>
            </a:r>
          </a:p>
          <a:p>
            <a:pPr algn="just" marL="1727183" indent="-575728" lvl="2">
              <a:lnSpc>
                <a:spcPts val="5599"/>
              </a:lnSpc>
              <a:buFont typeface="Arial"/>
              <a:buChar char="⚬"/>
            </a:pPr>
            <a:r>
              <a:rPr lang="en-US" sz="3999" spc="-223">
                <a:solidFill>
                  <a:srgbClr val="000000"/>
                </a:solidFill>
                <a:latin typeface="Poppins"/>
                <a:ea typeface="Poppins"/>
                <a:cs typeface="Poppins"/>
                <a:sym typeface="Poppins"/>
              </a:rPr>
              <a:t>users can ask AI for an assistant</a:t>
            </a:r>
          </a:p>
          <a:p>
            <a:pPr algn="just" marL="863591" indent="-431796" lvl="1">
              <a:lnSpc>
                <a:spcPts val="5599"/>
              </a:lnSpc>
              <a:buAutoNum type="arabicPeriod" startAt="1"/>
            </a:pPr>
            <a:r>
              <a:rPr lang="en-US" b="true" sz="3999" spc="-223">
                <a:solidFill>
                  <a:srgbClr val="000000"/>
                </a:solidFill>
                <a:latin typeface="Poppins Bold"/>
                <a:ea typeface="Poppins Bold"/>
                <a:cs typeface="Poppins Bold"/>
                <a:sym typeface="Poppins Bold"/>
              </a:rPr>
              <a:t>Humanize Features</a:t>
            </a:r>
          </a:p>
          <a:p>
            <a:pPr algn="just" marL="1727183" indent="-575728" lvl="2">
              <a:lnSpc>
                <a:spcPts val="5599"/>
              </a:lnSpc>
              <a:buFont typeface="Arial"/>
              <a:buChar char="⚬"/>
            </a:pPr>
            <a:r>
              <a:rPr lang="en-US" sz="3999" spc="-223">
                <a:solidFill>
                  <a:srgbClr val="000000"/>
                </a:solidFill>
                <a:latin typeface="Poppins"/>
                <a:ea typeface="Poppins"/>
                <a:cs typeface="Poppins"/>
                <a:sym typeface="Poppins"/>
              </a:rPr>
              <a:t>altering the sentences to be more human made</a:t>
            </a:r>
          </a:p>
          <a:p>
            <a:pPr algn="just" marL="863591" indent="-431796" lvl="1">
              <a:lnSpc>
                <a:spcPts val="5599"/>
              </a:lnSpc>
              <a:buAutoNum type="arabicPeriod" startAt="1"/>
            </a:pPr>
            <a:r>
              <a:rPr lang="en-US" b="true" sz="3999" spc="-223">
                <a:solidFill>
                  <a:srgbClr val="000000"/>
                </a:solidFill>
                <a:latin typeface="Poppins Bold"/>
                <a:ea typeface="Poppins Bold"/>
                <a:cs typeface="Poppins Bold"/>
                <a:sym typeface="Poppins Bold"/>
              </a:rPr>
              <a:t>UI/UX Design</a:t>
            </a:r>
          </a:p>
          <a:p>
            <a:pPr algn="just" marL="1727183" indent="-575728" lvl="2">
              <a:lnSpc>
                <a:spcPts val="5599"/>
              </a:lnSpc>
              <a:buFont typeface="Arial"/>
              <a:buChar char="⚬"/>
            </a:pPr>
            <a:r>
              <a:rPr lang="en-US" sz="3999" spc="-223">
                <a:solidFill>
                  <a:srgbClr val="000000"/>
                </a:solidFill>
                <a:latin typeface="Poppins"/>
                <a:ea typeface="Poppins"/>
                <a:cs typeface="Poppins"/>
                <a:sym typeface="Poppins"/>
              </a:rPr>
              <a:t>More consistent and interactive design</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FFF7F5"/>
        </a:solidFill>
      </p:bgPr>
    </p:bg>
    <p:spTree>
      <p:nvGrpSpPr>
        <p:cNvPr id="1" name=""/>
        <p:cNvGrpSpPr/>
        <p:nvPr/>
      </p:nvGrpSpPr>
      <p:grpSpPr>
        <a:xfrm>
          <a:off x="0" y="0"/>
          <a:ext cx="0" cy="0"/>
          <a:chOff x="0" y="0"/>
          <a:chExt cx="0" cy="0"/>
        </a:xfrm>
      </p:grpSpPr>
      <p:grpSp>
        <p:nvGrpSpPr>
          <p:cNvPr name="Group 2" id="2"/>
          <p:cNvGrpSpPr/>
          <p:nvPr/>
        </p:nvGrpSpPr>
        <p:grpSpPr>
          <a:xfrm rot="0">
            <a:off x="17259300" y="-2919406"/>
            <a:ext cx="4864215" cy="4864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145356" y="9161250"/>
            <a:ext cx="6750094" cy="3086100"/>
            <a:chOff x="0" y="0"/>
            <a:chExt cx="1777802" cy="812800"/>
          </a:xfrm>
        </p:grpSpPr>
        <p:sp>
          <p:nvSpPr>
            <p:cNvPr name="Freeform 6" id="6"/>
            <p:cNvSpPr/>
            <p:nvPr/>
          </p:nvSpPr>
          <p:spPr>
            <a:xfrm flipH="false" flipV="false" rot="0">
              <a:off x="0" y="0"/>
              <a:ext cx="1777803" cy="812800"/>
            </a:xfrm>
            <a:custGeom>
              <a:avLst/>
              <a:gdLst/>
              <a:ahLst/>
              <a:cxnLst/>
              <a:rect r="r" b="b" t="t" l="l"/>
              <a:pathLst>
                <a:path h="812800" w="1777803">
                  <a:moveTo>
                    <a:pt x="114694" y="0"/>
                  </a:moveTo>
                  <a:lnTo>
                    <a:pt x="1663109" y="0"/>
                  </a:lnTo>
                  <a:cubicBezTo>
                    <a:pt x="1726453" y="0"/>
                    <a:pt x="1777803" y="51350"/>
                    <a:pt x="1777803" y="114694"/>
                  </a:cubicBezTo>
                  <a:lnTo>
                    <a:pt x="1777803" y="698106"/>
                  </a:lnTo>
                  <a:cubicBezTo>
                    <a:pt x="1777803" y="761450"/>
                    <a:pt x="1726453" y="812800"/>
                    <a:pt x="1663109" y="812800"/>
                  </a:cubicBezTo>
                  <a:lnTo>
                    <a:pt x="114694" y="812800"/>
                  </a:lnTo>
                  <a:cubicBezTo>
                    <a:pt x="51350" y="812800"/>
                    <a:pt x="0" y="761450"/>
                    <a:pt x="0" y="698106"/>
                  </a:cubicBezTo>
                  <a:lnTo>
                    <a:pt x="0" y="114694"/>
                  </a:lnTo>
                  <a:cubicBezTo>
                    <a:pt x="0" y="51350"/>
                    <a:pt x="51350" y="0"/>
                    <a:pt x="114694" y="0"/>
                  </a:cubicBezTo>
                  <a:close/>
                </a:path>
              </a:pathLst>
            </a:custGeom>
            <a:solidFill>
              <a:srgbClr val="FFA9DC"/>
            </a:solidFill>
          </p:spPr>
        </p:sp>
        <p:sp>
          <p:nvSpPr>
            <p:cNvPr name="TextBox 7" id="7"/>
            <p:cNvSpPr txBox="true"/>
            <p:nvPr/>
          </p:nvSpPr>
          <p:spPr>
            <a:xfrm>
              <a:off x="0" y="-66675"/>
              <a:ext cx="1777802" cy="879475"/>
            </a:xfrm>
            <a:prstGeom prst="rect">
              <a:avLst/>
            </a:prstGeom>
          </p:spPr>
          <p:txBody>
            <a:bodyPr anchor="ctr" rtlCol="false" tIns="50800" lIns="50800" bIns="50800" rIns="50800"/>
            <a:lstStyle/>
            <a:p>
              <a:pPr algn="ctr">
                <a:lnSpc>
                  <a:spcPts val="3360"/>
                </a:lnSpc>
              </a:pPr>
            </a:p>
          </p:txBody>
        </p:sp>
      </p:grpSp>
      <p:grpSp>
        <p:nvGrpSpPr>
          <p:cNvPr name="Group 8" id="8"/>
          <p:cNvGrpSpPr/>
          <p:nvPr/>
        </p:nvGrpSpPr>
        <p:grpSpPr>
          <a:xfrm rot="0">
            <a:off x="632753" y="3503938"/>
            <a:ext cx="17022494" cy="4519654"/>
            <a:chOff x="0" y="0"/>
            <a:chExt cx="6631238" cy="1760665"/>
          </a:xfrm>
        </p:grpSpPr>
        <p:sp>
          <p:nvSpPr>
            <p:cNvPr name="Freeform 9" id="9"/>
            <p:cNvSpPr/>
            <p:nvPr/>
          </p:nvSpPr>
          <p:spPr>
            <a:xfrm flipH="false" flipV="false" rot="0">
              <a:off x="0" y="0"/>
              <a:ext cx="6631238" cy="1760665"/>
            </a:xfrm>
            <a:custGeom>
              <a:avLst/>
              <a:gdLst/>
              <a:ahLst/>
              <a:cxnLst/>
              <a:rect r="r" b="b" t="t" l="l"/>
              <a:pathLst>
                <a:path h="1760665" w="6631238">
                  <a:moveTo>
                    <a:pt x="8641" y="0"/>
                  </a:moveTo>
                  <a:lnTo>
                    <a:pt x="6622597" y="0"/>
                  </a:lnTo>
                  <a:cubicBezTo>
                    <a:pt x="6624889" y="0"/>
                    <a:pt x="6627086" y="910"/>
                    <a:pt x="6628707" y="2531"/>
                  </a:cubicBezTo>
                  <a:cubicBezTo>
                    <a:pt x="6630327" y="4152"/>
                    <a:pt x="6631238" y="6349"/>
                    <a:pt x="6631238" y="8641"/>
                  </a:cubicBezTo>
                  <a:lnTo>
                    <a:pt x="6631238" y="1752023"/>
                  </a:lnTo>
                  <a:cubicBezTo>
                    <a:pt x="6631238" y="1754315"/>
                    <a:pt x="6630327" y="1756513"/>
                    <a:pt x="6628707" y="1758134"/>
                  </a:cubicBezTo>
                  <a:cubicBezTo>
                    <a:pt x="6627086" y="1759754"/>
                    <a:pt x="6624889" y="1760665"/>
                    <a:pt x="6622597" y="1760665"/>
                  </a:cubicBezTo>
                  <a:lnTo>
                    <a:pt x="8641" y="1760665"/>
                  </a:lnTo>
                  <a:cubicBezTo>
                    <a:pt x="6349" y="1760665"/>
                    <a:pt x="4152" y="1759754"/>
                    <a:pt x="2531" y="1758134"/>
                  </a:cubicBezTo>
                  <a:cubicBezTo>
                    <a:pt x="910" y="1756513"/>
                    <a:pt x="0" y="1754315"/>
                    <a:pt x="0" y="1752023"/>
                  </a:cubicBezTo>
                  <a:lnTo>
                    <a:pt x="0" y="8641"/>
                  </a:lnTo>
                  <a:cubicBezTo>
                    <a:pt x="0" y="6349"/>
                    <a:pt x="910" y="4152"/>
                    <a:pt x="2531" y="2531"/>
                  </a:cubicBezTo>
                  <a:cubicBezTo>
                    <a:pt x="4152" y="910"/>
                    <a:pt x="6349" y="0"/>
                    <a:pt x="8641" y="0"/>
                  </a:cubicBezTo>
                  <a:close/>
                </a:path>
              </a:pathLst>
            </a:custGeom>
            <a:solidFill>
              <a:srgbClr val="7281FE"/>
            </a:solidFill>
            <a:ln cap="sq">
              <a:noFill/>
              <a:prstDash val="solid"/>
              <a:miter/>
            </a:ln>
          </p:spPr>
        </p:sp>
        <p:sp>
          <p:nvSpPr>
            <p:cNvPr name="TextBox 10" id="10"/>
            <p:cNvSpPr txBox="true"/>
            <p:nvPr/>
          </p:nvSpPr>
          <p:spPr>
            <a:xfrm>
              <a:off x="0" y="-66675"/>
              <a:ext cx="6631238" cy="1827340"/>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1271720" y="2263407"/>
            <a:ext cx="15744560" cy="912495"/>
            <a:chOff x="0" y="0"/>
            <a:chExt cx="20992746" cy="1216660"/>
          </a:xfrm>
        </p:grpSpPr>
        <p:grpSp>
          <p:nvGrpSpPr>
            <p:cNvPr name="Group 12" id="12"/>
            <p:cNvGrpSpPr/>
            <p:nvPr/>
          </p:nvGrpSpPr>
          <p:grpSpPr>
            <a:xfrm rot="0">
              <a:off x="0" y="50792"/>
              <a:ext cx="271668" cy="1115076"/>
              <a:chOff x="0" y="0"/>
              <a:chExt cx="53663" cy="220262"/>
            </a:xfrm>
          </p:grpSpPr>
          <p:sp>
            <p:nvSpPr>
              <p:cNvPr name="Freeform 13" id="13"/>
              <p:cNvSpPr/>
              <p:nvPr/>
            </p:nvSpPr>
            <p:spPr>
              <a:xfrm flipH="false" flipV="false" rot="0">
                <a:off x="0" y="0"/>
                <a:ext cx="53663" cy="220262"/>
              </a:xfrm>
              <a:custGeom>
                <a:avLst/>
                <a:gdLst/>
                <a:ahLst/>
                <a:cxnLst/>
                <a:rect r="r" b="b" t="t" l="l"/>
                <a:pathLst>
                  <a:path h="220262" w="53663">
                    <a:moveTo>
                      <a:pt x="0" y="0"/>
                    </a:moveTo>
                    <a:lnTo>
                      <a:pt x="53663" y="0"/>
                    </a:lnTo>
                    <a:lnTo>
                      <a:pt x="53663" y="220262"/>
                    </a:lnTo>
                    <a:lnTo>
                      <a:pt x="0" y="220262"/>
                    </a:lnTo>
                    <a:close/>
                  </a:path>
                </a:pathLst>
              </a:custGeom>
              <a:solidFill>
                <a:srgbClr val="7281FE"/>
              </a:solidFill>
            </p:spPr>
          </p:sp>
          <p:sp>
            <p:nvSpPr>
              <p:cNvPr name="TextBox 14" id="14"/>
              <p:cNvSpPr txBox="true"/>
              <p:nvPr/>
            </p:nvSpPr>
            <p:spPr>
              <a:xfrm>
                <a:off x="0" y="-66675"/>
                <a:ext cx="53663" cy="286937"/>
              </a:xfrm>
              <a:prstGeom prst="rect">
                <a:avLst/>
              </a:prstGeom>
            </p:spPr>
            <p:txBody>
              <a:bodyPr anchor="ctr" rtlCol="false" tIns="50800" lIns="50800" bIns="50800" rIns="50800"/>
              <a:lstStyle/>
              <a:p>
                <a:pPr algn="ctr">
                  <a:lnSpc>
                    <a:spcPts val="3360"/>
                  </a:lnSpc>
                </a:pPr>
              </a:p>
            </p:txBody>
          </p:sp>
        </p:grpSp>
        <p:sp>
          <p:nvSpPr>
            <p:cNvPr name="TextBox 15" id="15"/>
            <p:cNvSpPr txBox="true"/>
            <p:nvPr/>
          </p:nvSpPr>
          <p:spPr>
            <a:xfrm rot="0">
              <a:off x="552736" y="28575"/>
              <a:ext cx="20440010" cy="1188085"/>
            </a:xfrm>
            <a:prstGeom prst="rect">
              <a:avLst/>
            </a:prstGeom>
          </p:spPr>
          <p:txBody>
            <a:bodyPr anchor="t" rtlCol="false" tIns="0" lIns="0" bIns="0" rIns="0">
              <a:spAutoFit/>
            </a:bodyPr>
            <a:lstStyle/>
            <a:p>
              <a:pPr algn="l" marL="0" indent="0" lvl="0">
                <a:lnSpc>
                  <a:spcPts val="6240"/>
                </a:lnSpc>
                <a:spcBef>
                  <a:spcPct val="0"/>
                </a:spcBef>
              </a:pPr>
              <a:r>
                <a:rPr lang="en-US" b="true" sz="6000" spc="-348">
                  <a:solidFill>
                    <a:srgbClr val="000000"/>
                  </a:solidFill>
                  <a:latin typeface="Poppins Bold"/>
                  <a:ea typeface="Poppins Bold"/>
                  <a:cs typeface="Poppins Bold"/>
                  <a:sym typeface="Poppins Bold"/>
                </a:rPr>
                <a:t>SELF-REFLECTION</a:t>
              </a:r>
            </a:p>
          </p:txBody>
        </p:sp>
      </p:grpSp>
      <p:sp>
        <p:nvSpPr>
          <p:cNvPr name="TextBox 16" id="16"/>
          <p:cNvSpPr txBox="true"/>
          <p:nvPr/>
        </p:nvSpPr>
        <p:spPr>
          <a:xfrm rot="0">
            <a:off x="904746" y="3669963"/>
            <a:ext cx="16478508" cy="4241801"/>
          </a:xfrm>
          <a:prstGeom prst="rect">
            <a:avLst/>
          </a:prstGeom>
        </p:spPr>
        <p:txBody>
          <a:bodyPr anchor="t" rtlCol="false" tIns="0" lIns="0" bIns="0" rIns="0">
            <a:spAutoFit/>
          </a:bodyPr>
          <a:lstStyle/>
          <a:p>
            <a:pPr algn="just" marL="863591" indent="-431796" lvl="1">
              <a:lnSpc>
                <a:spcPts val="5599"/>
              </a:lnSpc>
              <a:buAutoNum type="arabicPeriod" startAt="1"/>
            </a:pPr>
            <a:r>
              <a:rPr lang="en-US" b="true" sz="3999" spc="-223">
                <a:solidFill>
                  <a:srgbClr val="000000"/>
                </a:solidFill>
                <a:latin typeface="Poppins Bold"/>
                <a:ea typeface="Poppins Bold"/>
                <a:cs typeface="Poppins Bold"/>
                <a:sym typeface="Poppins Bold"/>
              </a:rPr>
              <a:t>Hybrid Approach Decision</a:t>
            </a:r>
          </a:p>
          <a:p>
            <a:pPr algn="just" marL="1727183" indent="-575728" lvl="2">
              <a:lnSpc>
                <a:spcPts val="5599"/>
              </a:lnSpc>
              <a:buFont typeface="Arial"/>
              <a:buChar char="⚬"/>
            </a:pPr>
            <a:r>
              <a:rPr lang="en-US" sz="3999" spc="-223">
                <a:solidFill>
                  <a:srgbClr val="000000"/>
                </a:solidFill>
                <a:latin typeface="Poppins"/>
                <a:ea typeface="Poppins"/>
                <a:cs typeface="Poppins"/>
                <a:sym typeface="Poppins"/>
              </a:rPr>
              <a:t>Choo</a:t>
            </a:r>
            <a:r>
              <a:rPr lang="en-US" sz="3999" spc="-223">
                <a:solidFill>
                  <a:srgbClr val="000000"/>
                </a:solidFill>
                <a:latin typeface="Poppins"/>
                <a:ea typeface="Poppins"/>
                <a:cs typeface="Poppins"/>
                <a:sym typeface="Poppins"/>
              </a:rPr>
              <a:t>sing to combine TF-IDF + BERT was our best decision</a:t>
            </a:r>
          </a:p>
          <a:p>
            <a:pPr algn="just" marL="863591" indent="-431796" lvl="1">
              <a:lnSpc>
                <a:spcPts val="5599"/>
              </a:lnSpc>
              <a:buAutoNum type="arabicPeriod" startAt="1"/>
            </a:pPr>
            <a:r>
              <a:rPr lang="en-US" b="true" sz="3999" spc="-223">
                <a:solidFill>
                  <a:srgbClr val="000000"/>
                </a:solidFill>
                <a:latin typeface="Poppins Bold"/>
                <a:ea typeface="Poppins Bold"/>
                <a:cs typeface="Poppins Bold"/>
                <a:sym typeface="Poppins Bold"/>
              </a:rPr>
              <a:t>Iterative Testing &amp; Optimization</a:t>
            </a:r>
          </a:p>
          <a:p>
            <a:pPr algn="just" marL="1727183" indent="-575728" lvl="2">
              <a:lnSpc>
                <a:spcPts val="5599"/>
              </a:lnSpc>
              <a:buFont typeface="Arial"/>
              <a:buChar char="⚬"/>
            </a:pPr>
            <a:r>
              <a:rPr lang="en-US" sz="3999" spc="-223">
                <a:solidFill>
                  <a:srgbClr val="000000"/>
                </a:solidFill>
                <a:latin typeface="Poppins"/>
                <a:ea typeface="Poppins"/>
                <a:cs typeface="Poppins"/>
                <a:sym typeface="Poppins"/>
              </a:rPr>
              <a:t>Starting with 50/50, then optimizing to 40/60 through testing</a:t>
            </a:r>
          </a:p>
          <a:p>
            <a:pPr algn="just" marL="863591" indent="-431796" lvl="1">
              <a:lnSpc>
                <a:spcPts val="5599"/>
              </a:lnSpc>
              <a:buAutoNum type="arabicPeriod" startAt="1"/>
            </a:pPr>
            <a:r>
              <a:rPr lang="en-US" b="true" sz="3999" spc="-223">
                <a:solidFill>
                  <a:srgbClr val="000000"/>
                </a:solidFill>
                <a:latin typeface="Poppins Bold"/>
                <a:ea typeface="Poppins Bold"/>
                <a:cs typeface="Poppins Bold"/>
                <a:sym typeface="Poppins Bold"/>
              </a:rPr>
              <a:t>Pre-trained Model Strategy</a:t>
            </a:r>
          </a:p>
          <a:p>
            <a:pPr algn="just" marL="1727183" indent="-575728" lvl="2">
              <a:lnSpc>
                <a:spcPts val="5599"/>
              </a:lnSpc>
              <a:buFont typeface="Arial"/>
              <a:buChar char="⚬"/>
            </a:pPr>
            <a:r>
              <a:rPr lang="en-US" sz="3999" spc="-223">
                <a:solidFill>
                  <a:srgbClr val="000000"/>
                </a:solidFill>
                <a:latin typeface="Poppins"/>
                <a:ea typeface="Poppins"/>
                <a:cs typeface="Poppins"/>
                <a:sym typeface="Poppins"/>
              </a:rPr>
              <a:t>Using pre-trained models saved us times of our work</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FF7F5"/>
        </a:solidFill>
      </p:bgPr>
    </p:bg>
    <p:spTree>
      <p:nvGrpSpPr>
        <p:cNvPr id="1" name=""/>
        <p:cNvGrpSpPr/>
        <p:nvPr/>
      </p:nvGrpSpPr>
      <p:grpSpPr>
        <a:xfrm>
          <a:off x="0" y="0"/>
          <a:ext cx="0" cy="0"/>
          <a:chOff x="0" y="0"/>
          <a:chExt cx="0" cy="0"/>
        </a:xfrm>
      </p:grpSpPr>
      <p:sp>
        <p:nvSpPr>
          <p:cNvPr name="Freeform 2" id="2"/>
          <p:cNvSpPr/>
          <p:nvPr/>
        </p:nvSpPr>
        <p:spPr>
          <a:xfrm flipH="false" flipV="true" rot="-5243230">
            <a:off x="-1520319" y="2561419"/>
            <a:ext cx="12137678" cy="12316831"/>
          </a:xfrm>
          <a:custGeom>
            <a:avLst/>
            <a:gdLst/>
            <a:ahLst/>
            <a:cxnLst/>
            <a:rect r="r" b="b" t="t" l="l"/>
            <a:pathLst>
              <a:path h="12316831" w="12137678">
                <a:moveTo>
                  <a:pt x="0" y="12316832"/>
                </a:moveTo>
                <a:lnTo>
                  <a:pt x="12137678" y="12316832"/>
                </a:lnTo>
                <a:lnTo>
                  <a:pt x="12137678" y="0"/>
                </a:lnTo>
                <a:lnTo>
                  <a:pt x="0" y="0"/>
                </a:lnTo>
                <a:lnTo>
                  <a:pt x="0" y="1231683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972245" y="-3342996"/>
            <a:ext cx="4864215" cy="486421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5" id="5"/>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6" id="6"/>
          <p:cNvGrpSpPr/>
          <p:nvPr/>
        </p:nvGrpSpPr>
        <p:grpSpPr>
          <a:xfrm rot="0">
            <a:off x="9910741" y="-71373"/>
            <a:ext cx="8377259" cy="10358373"/>
            <a:chOff x="0" y="0"/>
            <a:chExt cx="2206356" cy="2728131"/>
          </a:xfrm>
        </p:grpSpPr>
        <p:sp>
          <p:nvSpPr>
            <p:cNvPr name="Freeform 7" id="7"/>
            <p:cNvSpPr/>
            <p:nvPr/>
          </p:nvSpPr>
          <p:spPr>
            <a:xfrm flipH="false" flipV="false" rot="0">
              <a:off x="0" y="0"/>
              <a:ext cx="2206356" cy="2728131"/>
            </a:xfrm>
            <a:custGeom>
              <a:avLst/>
              <a:gdLst/>
              <a:ahLst/>
              <a:cxnLst/>
              <a:rect r="r" b="b" t="t" l="l"/>
              <a:pathLst>
                <a:path h="2728131" w="2206356">
                  <a:moveTo>
                    <a:pt x="0" y="0"/>
                  </a:moveTo>
                  <a:lnTo>
                    <a:pt x="2206356" y="0"/>
                  </a:lnTo>
                  <a:lnTo>
                    <a:pt x="2206356" y="2728131"/>
                  </a:lnTo>
                  <a:lnTo>
                    <a:pt x="0" y="2728131"/>
                  </a:lnTo>
                  <a:close/>
                </a:path>
              </a:pathLst>
            </a:custGeom>
            <a:solidFill>
              <a:srgbClr val="7281FE"/>
            </a:solidFill>
          </p:spPr>
        </p:sp>
        <p:sp>
          <p:nvSpPr>
            <p:cNvPr name="TextBox 8" id="8"/>
            <p:cNvSpPr txBox="true"/>
            <p:nvPr/>
          </p:nvSpPr>
          <p:spPr>
            <a:xfrm>
              <a:off x="0" y="-66675"/>
              <a:ext cx="2206356" cy="2794806"/>
            </a:xfrm>
            <a:prstGeom prst="rect">
              <a:avLst/>
            </a:prstGeom>
          </p:spPr>
          <p:txBody>
            <a:bodyPr anchor="ctr" rtlCol="false" tIns="50800" lIns="50800" bIns="50800" rIns="50800"/>
            <a:lstStyle/>
            <a:p>
              <a:pPr algn="ctr">
                <a:lnSpc>
                  <a:spcPts val="3360"/>
                </a:lnSpc>
              </a:pPr>
            </a:p>
          </p:txBody>
        </p:sp>
      </p:grpSp>
      <p:grpSp>
        <p:nvGrpSpPr>
          <p:cNvPr name="Group 9" id="9"/>
          <p:cNvGrpSpPr/>
          <p:nvPr/>
        </p:nvGrpSpPr>
        <p:grpSpPr>
          <a:xfrm rot="0">
            <a:off x="10832568" y="3219172"/>
            <a:ext cx="203751" cy="1846731"/>
            <a:chOff x="0" y="0"/>
            <a:chExt cx="53663" cy="486382"/>
          </a:xfrm>
        </p:grpSpPr>
        <p:sp>
          <p:nvSpPr>
            <p:cNvPr name="Freeform 10" id="10"/>
            <p:cNvSpPr/>
            <p:nvPr/>
          </p:nvSpPr>
          <p:spPr>
            <a:xfrm flipH="false" flipV="false" rot="0">
              <a:off x="0" y="0"/>
              <a:ext cx="53663" cy="486382"/>
            </a:xfrm>
            <a:custGeom>
              <a:avLst/>
              <a:gdLst/>
              <a:ahLst/>
              <a:cxnLst/>
              <a:rect r="r" b="b" t="t" l="l"/>
              <a:pathLst>
                <a:path h="486382" w="53663">
                  <a:moveTo>
                    <a:pt x="0" y="0"/>
                  </a:moveTo>
                  <a:lnTo>
                    <a:pt x="53663" y="0"/>
                  </a:lnTo>
                  <a:lnTo>
                    <a:pt x="53663" y="486382"/>
                  </a:lnTo>
                  <a:lnTo>
                    <a:pt x="0" y="486382"/>
                  </a:lnTo>
                  <a:close/>
                </a:path>
              </a:pathLst>
            </a:custGeom>
            <a:solidFill>
              <a:srgbClr val="FFFFFF"/>
            </a:solidFill>
          </p:spPr>
        </p:sp>
        <p:sp>
          <p:nvSpPr>
            <p:cNvPr name="TextBox 11" id="11"/>
            <p:cNvSpPr txBox="true"/>
            <p:nvPr/>
          </p:nvSpPr>
          <p:spPr>
            <a:xfrm>
              <a:off x="0" y="-66675"/>
              <a:ext cx="53663" cy="553057"/>
            </a:xfrm>
            <a:prstGeom prst="rect">
              <a:avLst/>
            </a:prstGeom>
          </p:spPr>
          <p:txBody>
            <a:bodyPr anchor="ctr" rtlCol="false" tIns="50800" lIns="50800" bIns="50800" rIns="50800"/>
            <a:lstStyle/>
            <a:p>
              <a:pPr algn="ctr">
                <a:lnSpc>
                  <a:spcPts val="3360"/>
                </a:lnSpc>
              </a:pPr>
            </a:p>
          </p:txBody>
        </p:sp>
      </p:grpSp>
      <p:sp>
        <p:nvSpPr>
          <p:cNvPr name="Freeform 12" id="12"/>
          <p:cNvSpPr/>
          <p:nvPr/>
        </p:nvSpPr>
        <p:spPr>
          <a:xfrm flipH="false" flipV="false" rot="0">
            <a:off x="2126453" y="2581702"/>
            <a:ext cx="5845792" cy="6456196"/>
          </a:xfrm>
          <a:custGeom>
            <a:avLst/>
            <a:gdLst/>
            <a:ahLst/>
            <a:cxnLst/>
            <a:rect r="r" b="b" t="t" l="l"/>
            <a:pathLst>
              <a:path h="6456196" w="5845792">
                <a:moveTo>
                  <a:pt x="0" y="0"/>
                </a:moveTo>
                <a:lnTo>
                  <a:pt x="5845792" y="0"/>
                </a:lnTo>
                <a:lnTo>
                  <a:pt x="5845792" y="6456196"/>
                </a:lnTo>
                <a:lnTo>
                  <a:pt x="0" y="64561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1344426" y="3136191"/>
            <a:ext cx="5265184" cy="2087132"/>
          </a:xfrm>
          <a:prstGeom prst="rect">
            <a:avLst/>
          </a:prstGeom>
        </p:spPr>
        <p:txBody>
          <a:bodyPr anchor="t" rtlCol="false" tIns="0" lIns="0" bIns="0" rIns="0">
            <a:spAutoFit/>
          </a:bodyPr>
          <a:lstStyle/>
          <a:p>
            <a:pPr algn="l">
              <a:lnSpc>
                <a:spcPts val="7859"/>
              </a:lnSpc>
            </a:pPr>
            <a:r>
              <a:rPr lang="en-US" sz="7556" spc="-438" b="true">
                <a:solidFill>
                  <a:srgbClr val="FFFFFF"/>
                </a:solidFill>
                <a:latin typeface="Poppins Bold"/>
                <a:ea typeface="Poppins Bold"/>
                <a:cs typeface="Poppins Bold"/>
                <a:sym typeface="Poppins Bold"/>
              </a:rPr>
              <a:t>That’s all...</a:t>
            </a:r>
          </a:p>
          <a:p>
            <a:pPr algn="l" marL="0" indent="0" lvl="0">
              <a:lnSpc>
                <a:spcPts val="7859"/>
              </a:lnSpc>
              <a:spcBef>
                <a:spcPct val="0"/>
              </a:spcBef>
            </a:pPr>
            <a:r>
              <a:rPr lang="en-US" b="true" sz="7556" spc="-438" strike="noStrike" u="none">
                <a:solidFill>
                  <a:srgbClr val="FFFFFF"/>
                </a:solidFill>
                <a:latin typeface="Poppins Bold"/>
                <a:ea typeface="Poppins Bold"/>
                <a:cs typeface="Poppins Bold"/>
                <a:sym typeface="Poppins Bold"/>
              </a:rPr>
              <a:t>Thank you</a:t>
            </a:r>
            <a:r>
              <a:rPr lang="en-US" b="true" sz="7556" spc="-438" strike="noStrike" u="none">
                <a:solidFill>
                  <a:srgbClr val="FFFFFF"/>
                </a:solidFill>
                <a:latin typeface="Poppins Bold"/>
                <a:ea typeface="Poppins Bold"/>
                <a:cs typeface="Poppins Bold"/>
                <a:sym typeface="Poppins Bold"/>
              </a:rPr>
              <a:t> </a:t>
            </a:r>
          </a:p>
        </p:txBody>
      </p:sp>
      <p:sp>
        <p:nvSpPr>
          <p:cNvPr name="TextBox 14" id="14"/>
          <p:cNvSpPr txBox="true"/>
          <p:nvPr/>
        </p:nvSpPr>
        <p:spPr>
          <a:xfrm rot="0">
            <a:off x="11036320" y="5402130"/>
            <a:ext cx="4631593" cy="701041"/>
          </a:xfrm>
          <a:prstGeom prst="rect">
            <a:avLst/>
          </a:prstGeom>
        </p:spPr>
        <p:txBody>
          <a:bodyPr anchor="t" rtlCol="false" tIns="0" lIns="0" bIns="0" rIns="0">
            <a:spAutoFit/>
          </a:bodyPr>
          <a:lstStyle/>
          <a:p>
            <a:pPr algn="ctr" marL="0" indent="0" lvl="1">
              <a:lnSpc>
                <a:spcPts val="5459"/>
              </a:lnSpc>
              <a:spcBef>
                <a:spcPct val="0"/>
              </a:spcBef>
            </a:pPr>
            <a:r>
              <a:rPr lang="en-US" b="true" sz="3899" spc="-70">
                <a:solidFill>
                  <a:srgbClr val="FFFFFF"/>
                </a:solidFill>
                <a:latin typeface="Poppins Medium"/>
                <a:ea typeface="Poppins Medium"/>
                <a:cs typeface="Poppins Medium"/>
                <a:sym typeface="Poppins Medium"/>
              </a:rPr>
              <a:t>ANY QUESTIONS?</a:t>
            </a:r>
          </a:p>
        </p:txBody>
      </p:sp>
      <p:grpSp>
        <p:nvGrpSpPr>
          <p:cNvPr name="Group 15" id="15"/>
          <p:cNvGrpSpPr/>
          <p:nvPr/>
        </p:nvGrpSpPr>
        <p:grpSpPr>
          <a:xfrm rot="0">
            <a:off x="-7082826" y="7090542"/>
            <a:ext cx="9842936" cy="984293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9DC"/>
            </a:solidFill>
          </p:spPr>
        </p:sp>
        <p:sp>
          <p:nvSpPr>
            <p:cNvPr name="TextBox 17" id="17"/>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grpSp>
        <p:nvGrpSpPr>
          <p:cNvPr name="Group 18" id="18"/>
          <p:cNvGrpSpPr/>
          <p:nvPr/>
        </p:nvGrpSpPr>
        <p:grpSpPr>
          <a:xfrm rot="0">
            <a:off x="17259300" y="-2919406"/>
            <a:ext cx="4864215" cy="486421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389"/>
            </a:solidFill>
          </p:spPr>
        </p:sp>
        <p:sp>
          <p:nvSpPr>
            <p:cNvPr name="TextBox 20" id="20"/>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DAG-HaWPO54</dc:identifier>
  <dcterms:modified xsi:type="dcterms:W3CDTF">2011-08-01T06:04:30Z</dcterms:modified>
  <cp:revision>1</cp:revision>
  <dc:title>4Real</dc:title>
</cp:coreProperties>
</file>